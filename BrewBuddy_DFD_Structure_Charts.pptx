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 ·  SOFTWARE DESIGN  ·  FUNCTION-ORIENTED DESIGN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BrewBuddy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231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Analysis &amp; Structured Design of the Roast &amp; Co. mobile ordering app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44281B"/>
          </a:solidFill>
          <a:ln w="12700">
            <a:solidFill>
              <a:srgbClr val="B47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383280"/>
            <a:ext cx="20116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44368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44281B"/>
          </a:solidFill>
          <a:ln w="12700">
            <a:solidFill>
              <a:srgbClr val="B470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44368" y="3383280"/>
            <a:ext cx="20116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primary processes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57216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44281B"/>
          </a:solidFill>
          <a:ln w="12700">
            <a:solidFill>
              <a:srgbClr val="B47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57216" y="3383280"/>
            <a:ext cx="20116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exploded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70064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44281B"/>
          </a:solidFill>
          <a:ln w="12700">
            <a:solidFill>
              <a:srgbClr val="B470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70064" y="3383280"/>
            <a:ext cx="20116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engine + login gate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82912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44281B"/>
          </a:solidFill>
          <a:ln w="12700">
            <a:solidFill>
              <a:srgbClr val="B47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82912" y="3383280"/>
            <a:ext cx="20116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charts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from the BrewBuddy use case (3 epics · 9 stories · 2 bugs)  ·  Notation and rules as per Unit III, Part 1  ·  DeMarco / Yourdon &amp; Constantine SA-SD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first:  every user journey enters the system through process 1.0  ·  browsing is open to guests, ordering is gated by login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deck is built: the SA/SD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F7EFE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+ SRS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Epics, stories,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21992" y="1984248"/>
            <a:ext cx="164592" cy="0"/>
          </a:xfrm>
          <a:prstGeom prst="line">
            <a:avLst/>
          </a:prstGeom>
          <a:noFill/>
          <a:ln w="1778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14016" y="123444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F7EFE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87168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05456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(Level 0)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505456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 one bubble,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external entities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78808" y="1984248"/>
            <a:ext cx="164592" cy="0"/>
          </a:xfrm>
          <a:prstGeom prst="line">
            <a:avLst/>
          </a:prstGeom>
          <a:noFill/>
          <a:ln w="1778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70832" y="123444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F7EFE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43984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Leveled DFDs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(Level 1 → 3)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functional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decomposition, balanced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35624" y="1984248"/>
            <a:ext cx="164592" cy="0"/>
          </a:xfrm>
          <a:prstGeom prst="line">
            <a:avLst/>
          </a:prstGeom>
          <a:noFill/>
          <a:ln w="1778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27648" y="123444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analysis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mapping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per branch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92440" y="1984248"/>
            <a:ext cx="164592" cy="0"/>
          </a:xfrm>
          <a:prstGeom prst="line">
            <a:avLst/>
          </a:prstGeom>
          <a:noFill/>
          <a:ln w="1778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84464" y="123444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57616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charts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hierarchy with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control couples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049256" y="1984248"/>
            <a:ext cx="164592" cy="0"/>
          </a:xfrm>
          <a:prstGeom prst="line">
            <a:avLst/>
          </a:prstGeom>
          <a:noFill/>
          <a:ln w="1778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241280" y="123444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14432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design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review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MSPEC in structured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traceability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3504" y="317296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process 1.0 is the UI layer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03504" y="3465576"/>
            <a:ext cx="52395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a user meets is the interface, so the interface is modelled as a process, not as an assumption.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captures every gesture, validates its format, routes it to a service process and renders the reply.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journey in Level 1 starts at 1.0 — search, cart, order, tracking, history.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199632" y="30632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45936" y="317296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login gate is drawn explicitly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45936" y="3465576"/>
            <a:ext cx="52395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may open the app, browse the menu and build a cart with a guest session.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an order and viewing history require a valid session token, read from D2.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is process 5.1, exploded at Level 3, and shown in red wherever it appears.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57200" y="4663440"/>
            <a:ext cx="11274552" cy="1600200"/>
          </a:xfrm>
          <a:prstGeom prst="roundRect">
            <a:avLst>
              <a:gd name="adj" fmla="val 3429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3504" y="4773168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in this deck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" y="5065776"/>
            <a:ext cx="109819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(Level 0)  ·  Level 1 DFD with 7 processes and 7 data stores  ·  Level 2 explosion of every Level 1 process (1.0 – 7.0)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explosion of the live-price engine (4.2) and of the login gate (5.1)  ·  balancing check table  ·  data dictionary for stores and composite flows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charts (top level + every subtree) with data and control couples  ·  fan-in / fan-out metrics  ·  cohesion &amp; coupling justification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matrix: epic → story → DFD bubble → structure-chart module  ·  MSPEC samples in structured English  ·  design-review checklist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DFD rules this model obeys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11880" cy="2788920"/>
          </a:xfrm>
          <a:prstGeom prst="roundRect">
            <a:avLst>
              <a:gd name="adj" fmla="val 1967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298448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591056"/>
            <a:ext cx="3319272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has at least one input and one output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flow carries a meaningful noun label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numbered for traceability across levels (1.0 → 1.1 → 1.1.1)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kept balanced: parent I/O = child I/O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± 2 bubbles per diagram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defines every store and composite flow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251960" y="1188720"/>
            <a:ext cx="3611880" cy="2788920"/>
          </a:xfrm>
          <a:prstGeom prst="roundRect">
            <a:avLst>
              <a:gd name="adj" fmla="val 1967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98264" y="1298448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98264" y="1591056"/>
            <a:ext cx="3319272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with output but no input (a "miracle")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with input but no output (a "black hole")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directly between two data stores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directly between two external entities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logic, decisions or loops — a DFD is not a flowchart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unlabelled or same-named duplicate flows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8046720" y="1188720"/>
            <a:ext cx="3685032" cy="2788920"/>
          </a:xfrm>
          <a:prstGeom prst="roundRect">
            <a:avLst>
              <a:gd name="adj" fmla="val 1967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93024" y="129844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Case-specific rules added for BrewBuddy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93024" y="1591056"/>
            <a:ext cx="339242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is process 1.0 — the single entry point of every journey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session may reach 3.0 and 4.0 only; 5.0 and 7.0 need a valid token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shown as a data flow (token from D2), never as a control flag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acceptance criterion in the use case maps to a bubble</a:t>
            </a:r>
            <a:endParaRPr lang="en-US" sz="9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known bugs map to bubbles 4.2 and 2.4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1127455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4315968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balancing is kept honest at every level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" y="4608576"/>
            <a:ext cx="1098194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dashed box on a Level 2 / Level 3 diagram is an off-page reference — it names the parent or sibling process that the flow comes from or goes to.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dashed boxes repeat the parent's flow names exactly, the input and output sets of each child diagram can be compared with the parent bubble line by line.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store access is drawn as a single arrow out of the store; read-and-write access is drawn as one double-headed arrow, with both flow names in its label.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carries the completed balancing table for all seven Level 1 processes; nothing appears in a child diagram that is not already promised by its parent.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Symbols used in this deck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symbols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15544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transforms data. Numbered; the number is inherited by its children.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554480" cy="54864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entity — a source or sink outside the system boundary.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554480" cy="411480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00400"/>
            <a:ext cx="365760" cy="41148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00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200400"/>
            <a:ext cx="1188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154680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rest. Only processes may read from or write to it.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3716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58368" y="3858768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3886200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labelled with the noun that moves, never with a verb.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3716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58368" y="4590288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 read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Double-headed arrow = a read-and-write pair on the same store.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137160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58368" y="5276088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2148840" y="5303520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a flow that belongs to the login gate (ordering and history).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03504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457200" y="6035040"/>
            <a:ext cx="1554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1.0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148840" y="5989320"/>
            <a:ext cx="3291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box = off-page reference to the parent or sibling process.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1143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Structure-chart symbols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1554480"/>
            <a:ext cx="1737360" cy="548640"/>
          </a:xfrm>
          <a:prstGeom prst="rect">
            <a:avLst/>
          </a:prstGeom>
          <a:solidFill>
            <a:srgbClr val="F7EFE7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unit of code. The caller sits above the module it calls.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2331720"/>
            <a:ext cx="1737360" cy="548640"/>
          </a:xfrm>
          <a:prstGeom prst="rect">
            <a:avLst/>
          </a:prstGeom>
          <a:solidFill>
            <a:srgbClr val="EFE3D8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Tinted = high fan-in; called by more than one superordinate module.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3246120"/>
            <a:ext cx="13716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492240" y="2990088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credentials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3017520"/>
            <a:ext cx="34747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circle = data couple: the value a module passes or returns.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0" y="3977640"/>
            <a:ext cx="137160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492240" y="3721608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auth status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circle = control couple: a flag that steers the caller's decision.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4572000"/>
            <a:ext cx="5422392" cy="1965960"/>
          </a:xfrm>
          <a:prstGeom prst="roundRect">
            <a:avLst>
              <a:gd name="adj" fmla="val 2791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55664" y="4681728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structure chart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55664" y="4974336"/>
            <a:ext cx="512978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number of levels of control; width = widest level.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= modules a module calls directly; keep it near 7 ± 2.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 = modules that call it; high fan-in means reusable.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do the primitive work; the root only decides and delegates.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Actors, externals and the guest-vs-member rule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103120"/>
                <a:gridCol w="19659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to the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from the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(guest)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gestures, category &amp; search query, drink options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screens, live price, cart total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(member)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credentials, place-order request, reorder request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ID, live status, history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Barista / counter staff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update: preparing, ready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ticket for the queue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service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 (sink only)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password-reset link, 30-min expiry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service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 (sink only)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order-ready notification payload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188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gate in one picture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360" y="1691640"/>
            <a:ext cx="1371600" cy="64008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login)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138160" y="1645920"/>
            <a:ext cx="160020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1645920"/>
            <a:ext cx="1600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/ 4.0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menu,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customise, build cart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680960" y="2011680"/>
            <a:ext cx="4572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987552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with a guest session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138160" y="2743200"/>
            <a:ext cx="1600200" cy="731520"/>
          </a:xfrm>
          <a:prstGeom prst="roundRect">
            <a:avLst>
              <a:gd name="adj" fmla="val 12500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2743200"/>
            <a:ext cx="1600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gate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 token)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995160" y="2331720"/>
            <a:ext cx="0" cy="77724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95160" y="3108960"/>
            <a:ext cx="114300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6400800" y="2697480"/>
            <a:ext cx="12344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/</a:t>
            </a:r>
            <a:endParaRPr lang="en-US" sz="7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138160" y="3840480"/>
            <a:ext cx="160020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(cart preserved)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42832" y="3474720"/>
            <a:ext cx="0" cy="36576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9052560" y="3493008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or</a:t>
            </a:r>
            <a:endParaRPr lang="en-US" sz="7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token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104120" y="2743200"/>
            <a:ext cx="160020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104120" y="2743200"/>
            <a:ext cx="1600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→ 5.6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accepted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confirmed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738360" y="3108960"/>
            <a:ext cx="3657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9555480" y="2487168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token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9738360" y="4206240"/>
            <a:ext cx="114300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10881360" y="3474720"/>
            <a:ext cx="0" cy="73152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9601200" y="422452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issued,</a:t>
            </a:r>
            <a:endParaRPr lang="en-US" sz="7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replayed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57200" y="379476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3504" y="390448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boundary deliberately excludes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03504" y="4197096"/>
            <a:ext cx="519379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the use case ends at "place order" for walk-in pickup, so no payment gateway is modelled. If pay-in-app is added later it becomes process 5.7 with a Payment Gateway entity — the rest of the model is unaffected.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app screens: the counter side is an external entity here, because the use case scopes the app to the customer.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authoring: D3 and D4 are maintained by the shop owner outside this system, so no admin process appears at Level 1.</a:t>
            </a: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6309360" y="4846320"/>
            <a:ext cx="5422392" cy="1417320"/>
          </a:xfrm>
          <a:prstGeom prst="roundRect">
            <a:avLst>
              <a:gd name="adj" fmla="val 3871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55664" y="4956048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drawn as data, not as a flag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455664" y="5248656"/>
            <a:ext cx="51297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DFD may not show control logic, so "must be logged in" is modelled as 5.1 reading a session token from D2.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itself lives in the structure chart, where it becomes the control couple ● auth status.</a:t>
            </a:r>
            <a:endParaRPr lang="en-US" sz="960" dirty="0"/>
          </a:p>
        </p:txBody>
      </p:sp>
      <p:sp>
        <p:nvSpPr>
          <p:cNvPr id="34" name="Text 31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 ·  1 OF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data stores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4206240"/>
                <a:gridCol w="2377440"/>
                <a:gridCol w="24048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Accounts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+ email + password_hash + display_name + created_at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register, 2.5 reset password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authenticate login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&amp; Reset Tokens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+ user_id + type (session | reset) + issued_at + expires_at + remember_me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issue session, 2.4 forgot password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validate session, 5.1 login gate, 7.1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Catalog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 + category (coffee | tea | cold) + name + base_price + image_ref + is_available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maintained outside the app boundary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3.1, 3.2, 3.3, 4.2 base price, 7.5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Customization Options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option_id + item_id + group (size | milk | shots) + label + price_delta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maintained outside the app boundary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load options, 4.2 recompute price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cart_id + session_ref + {cart_line_item} + subtotal + total + updated_at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add, 4.4 update/remove, 4.5 totals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 empty check, 5.3 build order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&amp; Status History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+ user_id + {order_line} + total + current_status + {status_stamp}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 persist order, 6.2 log status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6.1, 6.3, 6.4, 7.2 past orders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Tokens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device_token + user_id + platform + registered_at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on login (device registration)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 compose notification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" y="376732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rules applied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3504" y="4059936"/>
            <a:ext cx="5239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arrow ever joins two stores — every transfer passes through a process.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and D4 have no writer inside the boundary, so they are shown as read-only sources at every level.</a:t>
            </a:r>
            <a:endParaRPr lang="en-US" sz="960" dirty="0"/>
          </a:p>
        </p:txBody>
      </p:sp>
      <p:sp>
        <p:nvSpPr>
          <p:cNvPr id="8" name="Shape 5"/>
          <p:cNvSpPr/>
          <p:nvPr/>
        </p:nvSpPr>
        <p:spPr>
          <a:xfrm>
            <a:off x="6199632" y="365760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45936" y="376732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status history sits inside D6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45936" y="4059936"/>
            <a:ext cx="5239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owns its stamps (received, preparing, ready), so status is a repeating group of the order record, not a separate file.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Level 1 inside the 7 ± 2 guideline without losing the timestamps the story asks for.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457200" y="5074920"/>
            <a:ext cx="11274552" cy="1188720"/>
          </a:xfrm>
          <a:prstGeom prst="roundRect">
            <a:avLst>
              <a:gd name="adj" fmla="val 4615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" y="5184648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used in the contents column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" y="5477256"/>
            <a:ext cx="10981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means AND (a record is made of these fields)   ·   { }  means a repeating group (zero or more occurrences)   ·   |  means exclusive OR (one of these values)   ·   ( )  means optional. This is the same notation used for the composite flow definitions on the next slide.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 ·  2 OF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data flows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325112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signup_details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password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· validated: RFC e-mail format, password length ≥ 8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login_credentials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password + (remember_me)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· remember_me extends the token lifetime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session_token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+ user_id + expires_at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issued by 2.3, read by 2.6 / 5.1 / 7.1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reset_request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· produces reset_link, valid 30 minutes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menu_request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| search_text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/ 3.2 / 3.3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item_card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 + name + base_price + image_ref + is_available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 · one per item shown in the category tab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drink_config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 + size + milk_type + extra_shots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/ 4.2 · every change re-triggers 4.2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live_price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unit_price + delta_breakdown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→ 1.0 · shown while the modal is open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cart_line_item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 + drink_config + qty + unit_price + line_total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/ 4.4 · the unit of the cart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cart_summary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{cart_line_item} + subtotal + total + line_count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/ 4.6 · line_count = 0 disables Place order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order_record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+ user_id + {order_line} + total + placed_at + current_status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 / 5.4 · current_status starts at received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order_ticket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+ {order_line} + placed_at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→ counter queue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status_update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+ new_status + changed_at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 from counter, logged by 6.2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ready_notification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device_token + order_id + title + body + deep_link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 → push service, within 5 s of ready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history_entry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+ placed_at + {order_line} + total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 / 7.3 · newest first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4924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" y="5458968"/>
            <a:ext cx="10981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drawn anywhere in this deck carries one of the names above (or a name defined in the store table). A flow that cannot be named in the dictionary is a sign that the decomposition is wrong, not a sign that the label can be dropped.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DECOMPOSITION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0 → Level 1 → Level 2 → Level 3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0" y="11430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BrewBuddy Mobile Ordering System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6916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88720" y="1920240"/>
            <a:ext cx="4892040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9202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UI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463040" cy="19659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B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2999232"/>
            <a:ext cx="13167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render screen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capture gesture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route request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render response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show errors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2825496" y="1920240"/>
            <a:ext cx="3255264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25496" y="19202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93976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93976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93976" y="2926080"/>
            <a:ext cx="1463040" cy="19659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B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67128" y="2999232"/>
            <a:ext cx="13167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register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authenticate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issue session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forgot password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reset password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validate session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080760" y="16916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4462272" y="1920240"/>
            <a:ext cx="1618488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19202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0752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30752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Menu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30752" y="2926080"/>
            <a:ext cx="1463040" cy="19659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B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03904" y="2999232"/>
            <a:ext cx="13167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category list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items of category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search / filter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assemble cards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080760" y="16916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1920240"/>
            <a:ext cx="18288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9048" y="19202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67528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67528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Drink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 Cart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67528" y="2926080"/>
            <a:ext cx="1463040" cy="19659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B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0680" y="2999232"/>
            <a:ext cx="13167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load options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recompute price *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add to cart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update / remove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compute totals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empty check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080760" y="16916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1920240"/>
            <a:ext cx="1655064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35824" y="19202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04304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04304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04304" y="2926080"/>
            <a:ext cx="1463040" cy="19659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BB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77456" y="2999232"/>
            <a:ext cx="13167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login gate *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prompt login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build order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persist + order ID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send ticket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confirm to UI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080760" y="16916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0760" y="1920240"/>
            <a:ext cx="3291840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72600" y="19202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41080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4108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Notify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641080" y="2926080"/>
            <a:ext cx="1463040" cy="19659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BB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714232" y="2999232"/>
            <a:ext cx="13167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receive update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log with stamp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publish live status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send push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handle tap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6080760" y="16916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0760" y="1920240"/>
            <a:ext cx="4928616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009376" y="192024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77856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277856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Reorder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277856" y="2926080"/>
            <a:ext cx="1463040" cy="19659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CBB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351008" y="2999232"/>
            <a:ext cx="13167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validate session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fetch past orders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assemble list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duplicate to cart</a:t>
            </a:r>
            <a:endParaRPr lang="en-US" sz="780" dirty="0"/>
          </a:p>
          <a:p>
            <a:pPr indent="0" marL="0">
              <a:lnSpc>
                <a:spcPct val="90000"/>
              </a:lnSpc>
              <a:spcAft>
                <a:spcPts val="400"/>
              </a:spcAft>
              <a:buNone/>
            </a:pPr>
            <a:r>
              <a:rPr lang="en-US" sz="7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availability check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480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03504" y="5230368"/>
            <a:ext cx="109819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Two bubbles are carried down to Level 3 because the use case pins them down to the detail of an algorithm: 4.2 recompute live price (Epic 2 Story 2 — "price updates live as options change", and the cause of BUG-1) and 5.1 login gate (the rule that a visitor may browse but not order). Every other bottom bubble is primitive and is described by an MSPEC instead.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diagram — BrewBuddy as one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83480" y="27889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83480" y="2788920"/>
            <a:ext cx="237744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BrewBuddy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Ordering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371600" cy="219456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13716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(guest or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41280" y="2834640"/>
            <a:ext cx="1463040" cy="100584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0" y="2834640"/>
            <a:ext cx="14630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/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staff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188720"/>
            <a:ext cx="1828800" cy="59436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service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188720"/>
            <a:ext cx="2011680" cy="59436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service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2697480"/>
            <a:ext cx="3063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103120" y="2450592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 details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20240" y="3246120"/>
            <a:ext cx="3063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103120" y="2999232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search request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20240" y="3794760"/>
            <a:ext cx="3063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103120" y="3547872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config + place-order request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H="1">
            <a:off x="1920240" y="2971800"/>
            <a:ext cx="3063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103120" y="2724912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auth status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 flipH="1">
            <a:off x="1920240" y="3520440"/>
            <a:ext cx="3063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103120" y="3273552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cards + live price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flipH="1">
            <a:off x="1920240" y="4069080"/>
            <a:ext cx="3063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103120" y="3822192"/>
            <a:ext cx="26517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+ live status + ready alert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60920" y="3154680"/>
            <a:ext cx="2880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589520" y="2907792"/>
            <a:ext cx="23774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ticket for the queue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 flipH="1">
            <a:off x="7360920" y="3703320"/>
            <a:ext cx="2880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589520" y="3456432"/>
            <a:ext cx="23774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update: preparing / ready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 flipV="1">
            <a:off x="5257800" y="1481328"/>
            <a:ext cx="0" cy="1307592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4206240" y="1481328"/>
            <a:ext cx="10515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343400" y="1536192"/>
            <a:ext cx="22860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password-reset link (30-min expiry)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flipV="1">
            <a:off x="6583680" y="1481328"/>
            <a:ext cx="0" cy="1307592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1481328"/>
            <a:ext cx="13716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355080" y="1536192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order-ready notification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89204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4944" y="500176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context diagram fixes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" y="5294376"/>
            <a:ext cx="5193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bubble numbered 0, five external entities, no data stores — stores belong to the inside of the system and first appear at Level 1.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 flows here are the totals that every lower level must add up to; this is the top of the balancing chain.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6245352" y="489204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91656" y="500176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customer flows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391656" y="5294376"/>
            <a:ext cx="5193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inbound flows are the three things a customer does: identify themselves, look for a drink, order it.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outbound flows answer each of them. Guest visitors use only the middle pair; the first and third pairs require an account.</a:t>
            </a:r>
            <a:endParaRPr lang="en-US" sz="960" dirty="0"/>
          </a:p>
        </p:txBody>
      </p:sp>
      <p:sp>
        <p:nvSpPr>
          <p:cNvPr id="42" name="Text 40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processes, seven stores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40280" y="960120"/>
            <a:ext cx="1143000" cy="5577840"/>
          </a:xfrm>
          <a:prstGeom prst="roundRect">
            <a:avLst>
              <a:gd name="adj" fmla="val 80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40280" y="960120"/>
            <a:ext cx="1143000" cy="5577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UI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3246120"/>
            <a:ext cx="1051560" cy="118872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3246120"/>
            <a:ext cx="105156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96012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960120"/>
            <a:ext cx="1691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Account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43400" y="1938528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1938528"/>
            <a:ext cx="1691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2916936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2916936"/>
            <a:ext cx="1691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Drink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3895344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3895344"/>
            <a:ext cx="1691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43400" y="4873752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4873752"/>
            <a:ext cx="1691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585216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43400" y="5852160"/>
            <a:ext cx="1691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40880" y="1225296"/>
            <a:ext cx="1371600" cy="347472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225296"/>
            <a:ext cx="365760" cy="347472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12252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1225296"/>
            <a:ext cx="1005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040880" y="2212848"/>
            <a:ext cx="1371600" cy="347472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2212848"/>
            <a:ext cx="365760" cy="347472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22128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2212848"/>
            <a:ext cx="1005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Catalog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040880" y="2788920"/>
            <a:ext cx="137160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2788920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0" y="27889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788920"/>
            <a:ext cx="1005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040880" y="3474720"/>
            <a:ext cx="1371600" cy="347472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3474720"/>
            <a:ext cx="365760" cy="347472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40880" y="34747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7406640" y="3474720"/>
            <a:ext cx="1005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040880" y="4261104"/>
            <a:ext cx="137160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0" y="4261104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40880" y="426110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406640" y="4261104"/>
            <a:ext cx="10058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Tokens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040880" y="4983480"/>
            <a:ext cx="1371600" cy="347472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0880" y="4983480"/>
            <a:ext cx="365760" cy="347472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40880" y="49834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7406640" y="4983480"/>
            <a:ext cx="1005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Tokens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040880" y="5742432"/>
            <a:ext cx="1371600" cy="438912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40880" y="5742432"/>
            <a:ext cx="365760" cy="438912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040880" y="574243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7406640" y="5742432"/>
            <a:ext cx="10058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Status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9098280" y="868680"/>
            <a:ext cx="1371600" cy="50292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98280" y="868680"/>
            <a:ext cx="1371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service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098280" y="3383280"/>
            <a:ext cx="1371600" cy="73152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098280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/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staff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098280" y="5897880"/>
            <a:ext cx="1371600" cy="64008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098280" y="5897880"/>
            <a:ext cx="13716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service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325880" y="3611880"/>
            <a:ext cx="9144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1344168" y="3346704"/>
            <a:ext cx="87782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/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 flipH="1">
            <a:off x="1325880" y="4069080"/>
            <a:ext cx="9144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1344168" y="4087368"/>
            <a:ext cx="87782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screen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alerts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3383280" y="1188720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3401568" y="923544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/ login /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request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 flipH="1">
            <a:off x="3383280" y="1508760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3401568" y="1527048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status +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3383280" y="2167128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3401568" y="1901952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query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 flipH="1">
            <a:off x="3383280" y="2487168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3401568" y="2505456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cards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prices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3383280" y="3145536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3401568" y="2880360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+ option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 flipH="1">
            <a:off x="3383280" y="3465576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3401568" y="3483864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+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summary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3383280" y="4123944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3401568" y="3858768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place-order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 flipH="1">
            <a:off x="3383280" y="4443984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73" name="Text 71"/>
          <p:cNvSpPr txBox="1"/>
          <p:nvPr/>
        </p:nvSpPr>
        <p:spPr>
          <a:xfrm>
            <a:off x="3401568" y="4462272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+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3383280" y="5102352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3401568" y="4837176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screen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 flipH="1">
            <a:off x="3383280" y="5422392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77" name="Text 75"/>
          <p:cNvSpPr txBox="1"/>
          <p:nvPr/>
        </p:nvSpPr>
        <p:spPr>
          <a:xfrm>
            <a:off x="3401568" y="5440680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+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alert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3383280" y="6080760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3401568" y="5815584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/</a:t>
            </a:r>
            <a:endParaRPr lang="en-US" sz="68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request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 flipH="1">
            <a:off x="3383280" y="6382512"/>
            <a:ext cx="960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3401568" y="6400800"/>
            <a:ext cx="9235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order list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6035040" y="1463040"/>
            <a:ext cx="10058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  <a:tailEnd type="triangle"/>
          </a:ln>
        </p:spPr>
      </p:sp>
      <p:sp>
        <p:nvSpPr>
          <p:cNvPr id="83" name="Text 81"/>
          <p:cNvSpPr txBox="1"/>
          <p:nvPr/>
        </p:nvSpPr>
        <p:spPr>
          <a:xfrm>
            <a:off x="6062472" y="1170432"/>
            <a:ext cx="95097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⇄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record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6035040" y="2386584"/>
            <a:ext cx="10058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  <a:tailEnd type="triangle"/>
          </a:ln>
        </p:spPr>
      </p:sp>
      <p:sp>
        <p:nvSpPr>
          <p:cNvPr id="85" name="Text 83"/>
          <p:cNvSpPr txBox="1"/>
          <p:nvPr/>
        </p:nvSpPr>
        <p:spPr>
          <a:xfrm>
            <a:off x="6062472" y="2093976"/>
            <a:ext cx="95097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⇄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records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 flipH="1">
            <a:off x="6035040" y="3063240"/>
            <a:ext cx="10058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87" name="Text 85"/>
          <p:cNvSpPr txBox="1"/>
          <p:nvPr/>
        </p:nvSpPr>
        <p:spPr>
          <a:xfrm>
            <a:off x="6062472" y="2752344"/>
            <a:ext cx="95097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list +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deltas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6035040" y="3566160"/>
            <a:ext cx="10058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  <a:tailEnd type="triangle"/>
          </a:ln>
        </p:spPr>
      </p:sp>
      <p:sp>
        <p:nvSpPr>
          <p:cNvPr id="89" name="Text 87"/>
          <p:cNvSpPr txBox="1"/>
          <p:nvPr/>
        </p:nvSpPr>
        <p:spPr>
          <a:xfrm>
            <a:off x="6062472" y="3255264"/>
            <a:ext cx="95097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items ⇄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cart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 flipH="1">
            <a:off x="6035040" y="4480560"/>
            <a:ext cx="100584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91" name="Text 89"/>
          <p:cNvSpPr txBox="1"/>
          <p:nvPr/>
        </p:nvSpPr>
        <p:spPr>
          <a:xfrm>
            <a:off x="6062472" y="4078224"/>
            <a:ext cx="658368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LOGIN GATE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6035040" y="4023360"/>
            <a:ext cx="7315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66560" y="4023360"/>
            <a:ext cx="0" cy="182880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766560" y="5852160"/>
            <a:ext cx="2743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95" name="Text 93"/>
          <p:cNvSpPr txBox="1"/>
          <p:nvPr/>
        </p:nvSpPr>
        <p:spPr>
          <a:xfrm>
            <a:off x="6803136" y="5394960"/>
            <a:ext cx="7772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 flipH="1">
            <a:off x="6035040" y="5157216"/>
            <a:ext cx="10058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97" name="Text 95"/>
          <p:cNvSpPr txBox="1"/>
          <p:nvPr/>
        </p:nvSpPr>
        <p:spPr>
          <a:xfrm>
            <a:off x="6062472" y="4882896"/>
            <a:ext cx="95097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push token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6035040" y="5449824"/>
            <a:ext cx="4114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</a:ln>
        </p:spPr>
      </p:sp>
      <p:sp>
        <p:nvSpPr>
          <p:cNvPr id="99" name="Shape 97"/>
          <p:cNvSpPr/>
          <p:nvPr/>
        </p:nvSpPr>
        <p:spPr>
          <a:xfrm>
            <a:off x="6446520" y="5449824"/>
            <a:ext cx="0" cy="448056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446520" y="5897880"/>
            <a:ext cx="594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01" name="Text 99"/>
          <p:cNvSpPr txBox="1"/>
          <p:nvPr/>
        </p:nvSpPr>
        <p:spPr>
          <a:xfrm>
            <a:off x="6062472" y="5193792"/>
            <a:ext cx="95097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stamp ⇄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record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 flipH="1">
            <a:off x="6035040" y="6053328"/>
            <a:ext cx="10058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03" name="Text 101"/>
          <p:cNvSpPr txBox="1"/>
          <p:nvPr/>
        </p:nvSpPr>
        <p:spPr>
          <a:xfrm>
            <a:off x="6062472" y="6089904"/>
            <a:ext cx="95097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orders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(newest first)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6035040" y="1024128"/>
            <a:ext cx="3063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05" name="Text 103"/>
          <p:cNvSpPr txBox="1"/>
          <p:nvPr/>
        </p:nvSpPr>
        <p:spPr>
          <a:xfrm>
            <a:off x="7178040" y="768096"/>
            <a:ext cx="17373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password-reset e-mail</a:t>
            </a:r>
            <a:endParaRPr lang="en-US" sz="680" dirty="0"/>
          </a:p>
        </p:txBody>
      </p:sp>
      <p:sp>
        <p:nvSpPr>
          <p:cNvPr id="106" name="Shape 104"/>
          <p:cNvSpPr/>
          <p:nvPr/>
        </p:nvSpPr>
        <p:spPr>
          <a:xfrm>
            <a:off x="6035040" y="1115568"/>
            <a:ext cx="26974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32520" y="1115568"/>
            <a:ext cx="0" cy="3273552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H="1">
            <a:off x="8412480" y="4389120"/>
            <a:ext cx="3200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09" name="Text 107"/>
          <p:cNvSpPr txBox="1"/>
          <p:nvPr/>
        </p:nvSpPr>
        <p:spPr>
          <a:xfrm>
            <a:off x="8449056" y="1920240"/>
            <a:ext cx="585216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token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4709160" y="3602736"/>
            <a:ext cx="0" cy="292608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11" name="Text 109"/>
          <p:cNvSpPr txBox="1"/>
          <p:nvPr/>
        </p:nvSpPr>
        <p:spPr>
          <a:xfrm>
            <a:off x="4754880" y="3611880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cart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total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 flipH="1">
            <a:off x="3977640" y="6144768"/>
            <a:ext cx="365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 flipV="1">
            <a:off x="3977640" y="3246120"/>
            <a:ext cx="0" cy="2898648"/>
          </a:xfrm>
          <a:prstGeom prst="line">
            <a:avLst/>
          </a:prstGeom>
          <a:noFill/>
          <a:ln w="13970">
            <a:solidFill>
              <a:srgbClr val="6F4E37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3977640" y="3246120"/>
            <a:ext cx="365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dash"/>
            <a:tailEnd type="triangle"/>
          </a:ln>
        </p:spPr>
      </p:sp>
      <p:sp>
        <p:nvSpPr>
          <p:cNvPr id="115" name="Text 113"/>
          <p:cNvSpPr txBox="1"/>
          <p:nvPr/>
        </p:nvSpPr>
        <p:spPr>
          <a:xfrm>
            <a:off x="3438144" y="4151376"/>
            <a:ext cx="84124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6035040" y="3968496"/>
            <a:ext cx="2761488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8796528" y="3749040"/>
            <a:ext cx="0" cy="219456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796528" y="3749040"/>
            <a:ext cx="301752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19" name="Text 117"/>
          <p:cNvSpPr txBox="1"/>
          <p:nvPr/>
        </p:nvSpPr>
        <p:spPr>
          <a:xfrm>
            <a:off x="6062472" y="3712464"/>
            <a:ext cx="95097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ticket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 flipH="1">
            <a:off x="8796528" y="4069080"/>
            <a:ext cx="301752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796528" y="4069080"/>
            <a:ext cx="0" cy="722376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5806440" y="4791456"/>
            <a:ext cx="2990088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806440" y="4791456"/>
            <a:ext cx="0" cy="82296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24" name="Text 122"/>
          <p:cNvSpPr txBox="1"/>
          <p:nvPr/>
        </p:nvSpPr>
        <p:spPr>
          <a:xfrm>
            <a:off x="8961120" y="4224528"/>
            <a:ext cx="10972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(preparing / ready)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6035040" y="4919472"/>
            <a:ext cx="2880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915400" y="4919472"/>
            <a:ext cx="0" cy="1207008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915400" y="6126480"/>
            <a:ext cx="1828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28" name="Text 126"/>
          <p:cNvSpPr txBox="1"/>
          <p:nvPr/>
        </p:nvSpPr>
        <p:spPr>
          <a:xfrm>
            <a:off x="8961120" y="5394960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notification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(≤ 5 s)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5074920" y="4581144"/>
            <a:ext cx="0" cy="292608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30" name="Text 128"/>
          <p:cNvSpPr txBox="1"/>
          <p:nvPr/>
        </p:nvSpPr>
        <p:spPr>
          <a:xfrm>
            <a:off x="5120640" y="4599432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650" dirty="0"/>
          </a:p>
        </p:txBody>
      </p:sp>
      <p:sp>
        <p:nvSpPr>
          <p:cNvPr id="131" name="Text 129"/>
          <p:cNvSpPr txBox="1"/>
          <p:nvPr/>
        </p:nvSpPr>
        <p:spPr>
          <a:xfrm>
            <a:off x="9098280" y="1554480"/>
            <a:ext cx="2743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journey:  1.0 → 3.0 → 4.0 only.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journey:  adds 2.0, then 5.0, 6.0, 7.0 — each of which must first read a valid session token from D2 (red flow).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flow = the reorder path, the only process-to-process flow that skips 1.0, because 7.4 hands its lines straight to the cart.</a:t>
            </a:r>
            <a:endParaRPr lang="en-US" sz="850" dirty="0"/>
          </a:p>
        </p:txBody>
      </p:sp>
      <p:sp>
        <p:nvSpPr>
          <p:cNvPr id="132" name="Text 130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inventory — every arrow, named and traced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532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60120"/>
                <a:gridCol w="2377440"/>
                <a:gridCol w="132588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action / form input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rendered screen + alerts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signup / login / reset request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S1-S3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status + session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S2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⇄ account record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S1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+ reset token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S2-S3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service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password-reset e-mail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search query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cards + prices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⇄ menu records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+ option selection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price + cart summary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S2-S3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list + price deltas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items ⇄ current cart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188720"/>
          <a:ext cx="5532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60120"/>
                <a:gridCol w="2377440"/>
                <a:gridCol w="132588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cart + total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place-order request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token — login gate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rule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 + confirmation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order record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Barista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ticket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accepted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Barista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update (preparing / ready)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stamp ⇄ order record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status + ready alert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S1-S2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push token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service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notification (≤ 5 s)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/ reorder request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orders (newest first)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order list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 line items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480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03504" y="5230368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this table makes possible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03504" y="5522976"/>
            <a:ext cx="109819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appears at least once as a source and once as a destination — no miracles, no black holes.</a:t>
            </a:r>
            <a:endParaRPr lang="en-US" sz="100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= Epic 1 Account &amp; Login · E2 = Epic 2 Menu &amp; Ordering · E3 = Epic 3 Order Tracking &amp; Notifications. Every one of the nine stories is claimed by at least one flow, and no flow is left without a story behind it.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·  PROCESS 1.0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UI &amp; Navigation — the entry point of every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143000" cy="146304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011680"/>
            <a:ext cx="11430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gesture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input format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0" y="13716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request to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635240" y="137160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63524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2.0 · 3.0 · 4.0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· 6.0 · 7.0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635240" y="292608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63524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from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… 7.0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0" y="292608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response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screen state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292608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screen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layout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44805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448056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errors, toasts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login prompt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V="1">
            <a:off x="1600200" y="1737360"/>
            <a:ext cx="1143000" cy="54864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664208" y="1792224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/ typed</a:t>
            </a:r>
            <a:endParaRPr lang="en-US" sz="70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 flipH="1">
            <a:off x="1600200" y="3200400"/>
            <a:ext cx="11430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664208" y="2907792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</a:t>
            </a:r>
            <a:endParaRPr lang="en-US" sz="70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 flipH="1">
            <a:off x="1874520" y="4846320"/>
            <a:ext cx="32461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874520" y="3474720"/>
            <a:ext cx="0" cy="137160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938528" y="4160520"/>
            <a:ext cx="10972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toast /</a:t>
            </a:r>
            <a:endParaRPr lang="en-US" sz="70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prompt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480560" y="1737360"/>
            <a:ext cx="6400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507992" y="1426464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858000" y="1737360"/>
            <a:ext cx="777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858000" y="1426464"/>
            <a:ext cx="7772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service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 flipH="1">
            <a:off x="6858000" y="3291840"/>
            <a:ext cx="777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858000" y="2980944"/>
            <a:ext cx="7772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reply /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 flipH="1">
            <a:off x="4480560" y="3291840"/>
            <a:ext cx="6400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526280" y="2980944"/>
            <a:ext cx="5943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858000" y="1920240"/>
            <a:ext cx="4114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9480" y="1920240"/>
            <a:ext cx="0" cy="29260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6858000" y="4846320"/>
            <a:ext cx="4114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7315200" y="4023360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error /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5669280" y="3657600"/>
            <a:ext cx="0" cy="8229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5715000" y="3886200"/>
            <a:ext cx="8686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reply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9692640" y="1371600"/>
            <a:ext cx="2039112" cy="3840480"/>
          </a:xfrm>
          <a:prstGeom prst="roundRect">
            <a:avLst>
              <a:gd name="adj" fmla="val 2691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38944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routed by 1.3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838944" y="1773936"/>
            <a:ext cx="174650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/ home</a:t>
            </a:r>
            <a:endParaRPr lang="en-US" sz="86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86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86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86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by category (tabs)</a:t>
            </a:r>
            <a:endParaRPr lang="en-US" sz="86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+ customise modal</a:t>
            </a:r>
            <a:endParaRPr lang="en-US" sz="86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86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 / confirmation</a:t>
            </a:r>
            <a:endParaRPr lang="en-US" sz="86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status</a:t>
            </a:r>
            <a:endParaRPr lang="en-US" sz="86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+ reorder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457200" y="544068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" y="5550408"/>
            <a:ext cx="109819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with Level 1 — in: user action / form input (from Customer), service replies from 2.0 … 7.0.  Out: rendered screen + alerts (to Customer), routed service requests to 2.0 … 7.0.  1.0 owns no data store: it holds only transient screen state for the current session, which is why no file appears in this diagram.</a:t>
            </a:r>
            <a:endParaRPr lang="en-US" sz="94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·  PROCESS 2.0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Account &amp; Authentication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5544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/ login /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request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0" y="1234440"/>
            <a:ext cx="178308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234440"/>
            <a:ext cx="17830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account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(e-mail format, pwd ≥ 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2148840"/>
            <a:ext cx="178308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login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remember me)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3063240"/>
            <a:ext cx="178308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3063240"/>
            <a:ext cx="17830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forgot-password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3977640"/>
            <a:ext cx="178308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3977640"/>
            <a:ext cx="17830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 ≤ 30 min)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1691640"/>
            <a:ext cx="1783080" cy="685800"/>
          </a:xfrm>
          <a:prstGeom prst="roundRect">
            <a:avLst>
              <a:gd name="adj" fmla="val 13333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1691640"/>
            <a:ext cx="17830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store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3977640"/>
            <a:ext cx="1783080" cy="685800"/>
          </a:xfrm>
          <a:prstGeom prst="roundRect">
            <a:avLst>
              <a:gd name="adj" fmla="val 13333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3977640"/>
            <a:ext cx="17830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session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1280160"/>
            <a:ext cx="1463040" cy="365760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1280160"/>
            <a:ext cx="365760" cy="36576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406640" y="2286000"/>
            <a:ext cx="1463040" cy="365760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2286000"/>
            <a:ext cx="365760" cy="36576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Tokens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406640" y="3017520"/>
            <a:ext cx="146304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3017520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06640" y="30175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3017520"/>
            <a:ext cx="10972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Tokens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406640" y="3977640"/>
            <a:ext cx="1463040" cy="54864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0" y="3977640"/>
            <a:ext cx="14630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service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601200" y="12801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9601200" y="128016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status + session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601200" y="365760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A8322A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9601200" y="3657600"/>
            <a:ext cx="1737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5.0 / 7.0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check request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601200" y="45262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322A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9601200" y="452628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5.0 / 7.0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status: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guest / expired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11680" y="1572768"/>
            <a:ext cx="2743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011680" y="1737360"/>
            <a:ext cx="1371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48840" y="1737360"/>
            <a:ext cx="0" cy="749808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48840" y="2487168"/>
            <a:ext cx="1371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011680" y="1874520"/>
            <a:ext cx="457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57400" y="1874520"/>
            <a:ext cx="0" cy="1527048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57400" y="3401568"/>
            <a:ext cx="2286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1965960" y="1965960"/>
            <a:ext cx="457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65960" y="1965960"/>
            <a:ext cx="0" cy="2350008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65960" y="4315968"/>
            <a:ext cx="3200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069080" y="1572768"/>
            <a:ext cx="33375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5074920" y="1316736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 record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 flipH="1">
            <a:off x="4069080" y="2395728"/>
            <a:ext cx="33375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5669280" y="2414016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credentials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 flipV="1">
            <a:off x="4069080" y="2057400"/>
            <a:ext cx="868680" cy="1371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4023360" y="1810512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user_id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720840" y="1920240"/>
            <a:ext cx="685800" cy="118872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6748272" y="2487168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 flipV="1">
            <a:off x="6720840" y="1627632"/>
            <a:ext cx="2880360" cy="1828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7223760" y="1389888"/>
            <a:ext cx="14630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status + session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 flipV="1">
            <a:off x="4069080" y="3246120"/>
            <a:ext cx="3337560" cy="155448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5029200" y="2944368"/>
            <a:ext cx="14173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token (30 min)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069080" y="3566160"/>
            <a:ext cx="2788920" cy="5943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0" y="4160520"/>
            <a:ext cx="548640" cy="64008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4572000" y="3657600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link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 flipH="1">
            <a:off x="4069080" y="3291840"/>
            <a:ext cx="3337560" cy="932688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4617720" y="3803904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expiry check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069080" y="4480560"/>
            <a:ext cx="5532120" cy="274320"/>
          </a:xfrm>
          <a:prstGeom prst="line">
            <a:avLst/>
          </a:prstGeom>
          <a:noFill/>
          <a:ln w="13970">
            <a:solidFill>
              <a:srgbClr val="6F4E37"/>
            </a:solidFill>
            <a:prstDash val="dash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4846320" y="4553712"/>
            <a:ext cx="17373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updated → login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 flipH="1">
            <a:off x="6720840" y="3977640"/>
            <a:ext cx="2880360" cy="22860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7360920" y="3712464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check request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6720840" y="4434840"/>
            <a:ext cx="2880360" cy="41148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70" name="Text 68"/>
          <p:cNvSpPr txBox="1"/>
          <p:nvPr/>
        </p:nvSpPr>
        <p:spPr>
          <a:xfrm>
            <a:off x="7863840" y="4553712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status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 flipH="1">
            <a:off x="6720840" y="3364992"/>
            <a:ext cx="685800" cy="704088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6748272" y="3547872"/>
            <a:ext cx="5486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457200" y="534924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03504" y="5458968"/>
            <a:ext cx="10981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with Level 1 — in: signup / login / reset request (1.0), token check request (5.0 / 7.0).  Out: auth status + session (1.0), auth status valid/guest/expired (5.0 / 7.0), password-reset e-mail (E-mail service), writes to D1 and D2.  2.6 is drawn once and used by two callers; in the structure chart it becomes the shared module with the highest fan-in. BUG-2 (reset mail arriving 10+ minutes late) is localised to 2.4, and only 2.4 needs re-testing.</a:t>
            </a:r>
            <a:endParaRPr lang="en-US" sz="940" dirty="0"/>
          </a:p>
        </p:txBody>
      </p:sp>
      <p:sp>
        <p:nvSpPr>
          <p:cNvPr id="75" name="Text 73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·  PROCESS 3.0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Search Menu — open to guests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377440" y="128016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category list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(coffee · tea · cold)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22860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items of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category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329184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329184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 items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22860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item cards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 · price · image)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2377440"/>
            <a:ext cx="1554480" cy="365760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377440"/>
            <a:ext cx="365760" cy="36576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Catalog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326880" y="224028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32688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cards + prices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0" y="2377440"/>
            <a:ext cx="1828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194560" y="1645920"/>
            <a:ext cx="0" cy="73152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1645920"/>
            <a:ext cx="1828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234440" y="1664208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opened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2011680" y="2606040"/>
            <a:ext cx="365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143000" y="2651760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2011680" y="2834640"/>
            <a:ext cx="1828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2834640"/>
            <a:ext cx="0" cy="8229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3657600"/>
            <a:ext cx="1828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143000" y="3611880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search_text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160520" y="1645920"/>
            <a:ext cx="594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645920"/>
            <a:ext cx="0" cy="8229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468880"/>
            <a:ext cx="2743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206240" y="1371600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list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160520" y="2651760"/>
            <a:ext cx="8686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206240" y="2395728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records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160520" y="3657600"/>
            <a:ext cx="594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754880" y="2834640"/>
            <a:ext cx="0" cy="8229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834640"/>
            <a:ext cx="2743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4206240" y="3675888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items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160520" y="2011680"/>
            <a:ext cx="23317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492240" y="2011680"/>
            <a:ext cx="0" cy="274320"/>
          </a:xfrm>
          <a:prstGeom prst="line">
            <a:avLst/>
          </a:prstGeom>
          <a:noFill/>
          <a:ln w="13970">
            <a:solidFill>
              <a:srgbClr val="6F4E37"/>
            </a:solidFill>
            <a:prstDash val="dash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754880" y="1755648"/>
            <a:ext cx="10972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query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6812280" y="2560320"/>
            <a:ext cx="5029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6812280" y="2761488"/>
            <a:ext cx="5486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⇄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812280" y="2468880"/>
            <a:ext cx="25146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7863840" y="2048256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cards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57200" y="4297680"/>
            <a:ext cx="5532120" cy="1188720"/>
          </a:xfrm>
          <a:prstGeom prst="roundRect">
            <a:avLst>
              <a:gd name="adj" fmla="val 4615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3504" y="440740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satisfied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03504" y="4700016"/>
            <a:ext cx="5239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shown as tabs → 3.1 returns the tab list before any item query.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shows name, price and image → 3.4 assembles exactly those three fields into item_card.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6199632" y="4297680"/>
            <a:ext cx="5532120" cy="1188720"/>
          </a:xfrm>
          <a:prstGeom prst="roundRect">
            <a:avLst>
              <a:gd name="adj" fmla="val 4615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45936" y="440740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branch needs no session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345936" y="4700016"/>
            <a:ext cx="5239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reads D1 or D2, so a visitor with a guest session receives the same item cards as a member.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design decision behind "anyone can view, only members can order".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457200" y="562356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03504" y="5733288"/>
            <a:ext cx="10981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with Level 1 — in: category / search query (1.0).  Out: item cards + prices (1.0), read-only access to D3. No write, no store creation: the menu is maintained outside the boundary.</a:t>
            </a:r>
            <a:endParaRPr lang="en-US" sz="940" dirty="0"/>
          </a:p>
        </p:txBody>
      </p:sp>
      <p:sp>
        <p:nvSpPr>
          <p:cNvPr id="55" name="Text 53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·  PROCESS 4.0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 Drink &amp; Manage Cart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+ option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5720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7.0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line items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12801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customisation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★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live price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configured item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329184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remove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line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278892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subtotal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total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38862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88620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cart not empty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2377440"/>
            <a:ext cx="155448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377440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94560" y="23774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2377440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3383280"/>
            <a:ext cx="1554480" cy="365760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383280"/>
            <a:ext cx="365760" cy="36576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945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686800" y="128016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868680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+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summary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686800" y="388620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8686800" y="3886200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5.0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cart + total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920240" y="1645920"/>
            <a:ext cx="2743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051560" y="1371600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1920240" y="1874520"/>
            <a:ext cx="1371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057400" y="1783080"/>
            <a:ext cx="0" cy="9144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1783080"/>
            <a:ext cx="1371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02920" y="2048256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change event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749040" y="2514600"/>
            <a:ext cx="1828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931920" y="1783080"/>
            <a:ext cx="0" cy="73152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31920" y="1783080"/>
            <a:ext cx="365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767328" y="2157984"/>
            <a:ext cx="8686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deltas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931920" y="1508760"/>
            <a:ext cx="365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3950208" y="1225296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list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166360" y="2011680"/>
            <a:ext cx="0" cy="27432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5212080" y="2011680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drink_config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035040" y="1508760"/>
            <a:ext cx="2651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6355080" y="1243584"/>
            <a:ext cx="20116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8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(per option change)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 flipH="1">
            <a:off x="3749040" y="2651760"/>
            <a:ext cx="548640" cy="8686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3017520" y="2834640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cart line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 flipH="1">
            <a:off x="3749040" y="3657600"/>
            <a:ext cx="5486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3108960" y="3749040"/>
            <a:ext cx="14630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line ⇄ current cart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920240" y="3611880"/>
            <a:ext cx="2743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dash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960120" y="3968496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lines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 flipV="1">
            <a:off x="6035040" y="3154680"/>
            <a:ext cx="548640" cy="4114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6035040" y="3255264"/>
            <a:ext cx="685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lines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7452360" y="3520440"/>
            <a:ext cx="0" cy="3657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7498080" y="3529584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+ total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8321040" y="3154680"/>
            <a:ext cx="6858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9006840" y="2011680"/>
            <a:ext cx="0" cy="114300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8412480" y="2889504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summary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8321040" y="4251960"/>
            <a:ext cx="365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7635240" y="4480560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line_count &gt; 0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457200" y="4800600"/>
            <a:ext cx="5532120" cy="1463040"/>
          </a:xfrm>
          <a:prstGeom prst="roundRect">
            <a:avLst>
              <a:gd name="adj" fmla="val 375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03504" y="491032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4.2 is exploded again at Level 3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03504" y="5202936"/>
            <a:ext cx="52395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change re-enters 4.2, which is exactly what "price updates live as options change" asks for.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BUG-1 (price unchanged when switching small → large) lives inside 4.2.2, so the fix is contained in one bottom-level bubble.</a:t>
            </a:r>
            <a:endParaRPr lang="en-US" sz="940" dirty="0"/>
          </a:p>
        </p:txBody>
      </p:sp>
      <p:sp>
        <p:nvSpPr>
          <p:cNvPr id="66" name="Shape 64"/>
          <p:cNvSpPr/>
          <p:nvPr/>
        </p:nvSpPr>
        <p:spPr>
          <a:xfrm>
            <a:off x="6199632" y="4800600"/>
            <a:ext cx="5532120" cy="1463040"/>
          </a:xfrm>
          <a:prstGeom prst="roundRect">
            <a:avLst>
              <a:gd name="adj" fmla="val 3750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345936" y="491032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with Level 1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345936" y="5202936"/>
            <a:ext cx="52395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item + option selection (1.0), reorder line items (7.0), option list + price deltas (D4).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live price + cart summary (1.0), validated cart + total (5.0), cart line items ⇄ current cart (D5).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produces the flag that keeps Place order disabled on an empty cart — as data, not as a control arrow.</a:t>
            </a:r>
            <a:endParaRPr lang="en-US" sz="940" dirty="0"/>
          </a:p>
        </p:txBody>
      </p:sp>
      <p:sp>
        <p:nvSpPr>
          <p:cNvPr id="69" name="Text 67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·  PROCESS 5.0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Order — where the login gate lives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place-order request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0" y="128016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★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session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 gate)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55448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774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77440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Tokens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0" y="32004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login / signup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(cart preserved)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A8322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5720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2.0 /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required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cart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record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4231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663440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cart + total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40880" y="128016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order &amp;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order 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40880" y="2423160"/>
            <a:ext cx="155448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2423160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0" y="2423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423160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Status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418320" y="128016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order ticket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counter queue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18320" y="2423160"/>
            <a:ext cx="1783080" cy="54864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18320" y="2423160"/>
            <a:ext cx="17830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/ counter staff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40880" y="397764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40880" y="397764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confirmation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418320" y="397764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9418320" y="3977640"/>
            <a:ext cx="1783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+ confirmation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418320" y="48463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9418320" y="4846320"/>
            <a:ext cx="17830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6.0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accepted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011680" y="1645920"/>
            <a:ext cx="27432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011680" y="2560320"/>
            <a:ext cx="1371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148840" y="2011680"/>
            <a:ext cx="0" cy="54864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48840" y="2011680"/>
            <a:ext cx="1371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1005840" y="2798064"/>
            <a:ext cx="10972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926080" y="2011680"/>
            <a:ext cx="0" cy="118872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2971800" y="2377440"/>
            <a:ext cx="1051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or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token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 flipH="1">
            <a:off x="2011680" y="3566160"/>
            <a:ext cx="27432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069080" y="1645920"/>
            <a:ext cx="5943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4023360" y="1298448"/>
            <a:ext cx="685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token</a:t>
            </a:r>
            <a:endParaRPr lang="en-US" sz="62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user_id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 flipV="1">
            <a:off x="5550408" y="2011680"/>
            <a:ext cx="0" cy="4114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5596128" y="2139696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lines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6446520" y="1645920"/>
            <a:ext cx="594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6400800" y="1298448"/>
            <a:ext cx="685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record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7927848" y="2011680"/>
            <a:ext cx="0" cy="4114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973568" y="2048256"/>
            <a:ext cx="10972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received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8823960" y="1645920"/>
            <a:ext cx="594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8778240" y="1298448"/>
            <a:ext cx="685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62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lines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10305288" y="2011680"/>
            <a:ext cx="0" cy="4114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10351008" y="2048256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ticket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7927848" y="2825496"/>
            <a:ext cx="0" cy="1152144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7973568" y="3246120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+ ETA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8823960" y="4206240"/>
            <a:ext cx="594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823960" y="4480560"/>
            <a:ext cx="2743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98280" y="4480560"/>
            <a:ext cx="0" cy="6400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98280" y="5120640"/>
            <a:ext cx="3200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57200" y="525780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03504" y="5367528"/>
            <a:ext cx="109819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with Level 1 — in: place-order request (1.0), validated cart + total (4.0), session token (D2).  Out: new order record (D6), order ticket (Barista), order ID + confirmation (1.0), order accepted (6.0), login required (2.0 / 1.0).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reads a token instead of asking 2.0 a question, so no control flag crosses the diagram. If the token is missing or expired, 5.2 preserves the cart and hands the user to 2.0 — after login the request is replayed, so nothing the visitor built as a guest is lost.</a:t>
            </a:r>
            <a:endParaRPr lang="en-US" sz="940" dirty="0"/>
          </a:p>
        </p:txBody>
      </p:sp>
      <p:sp>
        <p:nvSpPr>
          <p:cNvPr id="64" name="Text 62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·  PROCESS 6.0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Order &amp; Notify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17320" cy="64008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1417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/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staff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40280" y="128016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028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status update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80560" y="128016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status with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2423160"/>
            <a:ext cx="155448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423160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423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423160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Status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12280" y="128016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live status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order screen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306324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&amp; send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notification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3200400"/>
            <a:ext cx="1554480" cy="365760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3200400"/>
            <a:ext cx="365760" cy="36576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Tokens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281160" y="3108960"/>
            <a:ext cx="1645920" cy="64008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service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12280" y="42976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429768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notification tap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4343400"/>
            <a:ext cx="1554480" cy="640080"/>
          </a:xfrm>
          <a:prstGeom prst="rect">
            <a:avLst/>
          </a:prstGeom>
          <a:solidFill>
            <a:srgbClr val="2E1A12"/>
          </a:solidFill>
          <a:ln w="12700">
            <a:solidFill>
              <a:srgbClr val="2E1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80560" y="4343400"/>
            <a:ext cx="1554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81160" y="128016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928116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+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alert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281160" y="219456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28116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screen request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281160" y="429768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9281160" y="4297680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 to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screen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40280" y="242316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2240280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accepted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74520" y="1645920"/>
            <a:ext cx="365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457200" y="2011680"/>
            <a:ext cx="14173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/ ready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023360" y="1645920"/>
            <a:ext cx="4572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794760" y="1298448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status_update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 flipV="1">
            <a:off x="3017520" y="2011680"/>
            <a:ext cx="0" cy="4114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063240" y="2103120"/>
            <a:ext cx="1051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received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367528" y="2011680"/>
            <a:ext cx="0" cy="4114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5413248" y="2048256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⇄ order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263640" y="1645920"/>
            <a:ext cx="5486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6126480" y="1298448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status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8595360" y="1554480"/>
            <a:ext cx="6858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8549640" y="1225296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 flipH="1">
            <a:off x="8869680" y="2468880"/>
            <a:ext cx="41148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8869680" y="2011680"/>
            <a:ext cx="0" cy="45720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8321040" y="2487168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699248" y="2011680"/>
            <a:ext cx="0" cy="10515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7744968" y="2377440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ready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6035040" y="3383280"/>
            <a:ext cx="777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6035040" y="3127248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device_token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8595360" y="3429000"/>
            <a:ext cx="6858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8458200" y="3639312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ready_notification</a:t>
            </a:r>
            <a:endParaRPr lang="en-US" sz="65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(≤ 5 s)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035040" y="4663440"/>
            <a:ext cx="77724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5943600" y="4407408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tap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8595360" y="4663440"/>
            <a:ext cx="68580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57200" y="5212080"/>
            <a:ext cx="11274552" cy="1097280"/>
          </a:xfrm>
          <a:prstGeom prst="roundRect">
            <a:avLst>
              <a:gd name="adj" fmla="val 500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03504" y="5321808"/>
            <a:ext cx="10981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with Level 1 — in: status update preparing / ready (Barista), order accepted (5.0), status screen request (1.0), device push token (D7).  Out: live status + ready alert (1.0), status stamp ⇄ order record (D6), ready notification (Push service), deep link (1.0).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honoured: 6.2 writes a timestamp for every stage so the order screen can show one per stage; 6.4 is triggered by the status becoming ready, which is what makes the 5-second promise testable; 6.5 turns the tap into a deep link rather than a fresh navigation.</a:t>
            </a:r>
            <a:endParaRPr lang="en-US" sz="940" dirty="0"/>
          </a:p>
        </p:txBody>
      </p:sp>
      <p:sp>
        <p:nvSpPr>
          <p:cNvPr id="62" name="Text 60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·  PROCESS 7.0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History &amp; Reorder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request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0" y="13258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A8322A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5720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from 2.6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session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past orders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(newest first)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68880"/>
            <a:ext cx="155448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468880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4688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468880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Status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8000" y="13258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history list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235440" y="132588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23544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order list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0" y="32004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 lines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cart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20040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current price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4343400"/>
            <a:ext cx="1554480" cy="365760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43400"/>
            <a:ext cx="365760" cy="36576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Catalog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235440" y="320040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923544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4.0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line items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858000" y="4343400"/>
            <a:ext cx="1783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request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11680" y="1691640"/>
            <a:ext cx="2743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011680" y="2651760"/>
            <a:ext cx="1371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2148840" y="2057400"/>
            <a:ext cx="0" cy="59436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48840" y="2057400"/>
            <a:ext cx="1371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57200" y="3200400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⇄ auth status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069080" y="1691640"/>
            <a:ext cx="50292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023360" y="1316736"/>
            <a:ext cx="5943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62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(valid)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5458968" y="2057400"/>
            <a:ext cx="0" cy="4114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5504688" y="2103120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query ⇄ records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355080" y="1691640"/>
            <a:ext cx="5029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6263640" y="1316736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entries</a:t>
            </a:r>
            <a:endParaRPr lang="en-US" sz="620" dirty="0"/>
          </a:p>
        </p:txBody>
      </p:sp>
      <p:sp>
        <p:nvSpPr>
          <p:cNvPr id="43" name="Shape 41"/>
          <p:cNvSpPr/>
          <p:nvPr/>
        </p:nvSpPr>
        <p:spPr>
          <a:xfrm>
            <a:off x="8641080" y="1691640"/>
            <a:ext cx="594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>
            <a:off x="6492240" y="4663440"/>
            <a:ext cx="365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6492240" y="3931920"/>
            <a:ext cx="0" cy="73152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5486400" y="4700016"/>
            <a:ext cx="12344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order_id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 flipH="1">
            <a:off x="6355080" y="3566160"/>
            <a:ext cx="5029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5532120" y="3255264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order lines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458968" y="3931920"/>
            <a:ext cx="0" cy="4114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headEnd type="triangle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5504688" y="3968496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+ price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355080" y="3794760"/>
            <a:ext cx="5029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5577840" y="4041648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priced, available lines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8641080" y="3566160"/>
            <a:ext cx="5943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744968" y="2057400"/>
            <a:ext cx="0" cy="114300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7790688" y="2468880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entry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457200" y="5212080"/>
            <a:ext cx="11274552" cy="1097280"/>
          </a:xfrm>
          <a:prstGeom prst="roundRect">
            <a:avLst>
              <a:gd name="adj" fmla="val 500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03504" y="5321808"/>
            <a:ext cx="10981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with Level 1 — in: history / reorder request (1.0), auth status (2.6), past orders newest first (D6), availability + current price (D3).  Out: past order list (1.0), reorder line items (4.0).</a:t>
            </a: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endParaRPr lang="en-US" sz="9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design decisions worth defending: 7.4 hands its lines to 4.0 instead of writing D5 itself, so the cart keeps exactly one writer; and 7.5 re-prices against D3 before the reorder reaches the cart, so a favourite that has gone off the menu or changed price cannot enter the cart at a stale price.</a:t>
            </a:r>
            <a:endParaRPr lang="en-US" sz="940" dirty="0"/>
          </a:p>
        </p:txBody>
      </p:sp>
      <p:sp>
        <p:nvSpPr>
          <p:cNvPr id="58" name="Text 56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 ·  PROCESS 4.2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Recompute live price — the engine behind "price updates as options change"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4.1 /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drink_config +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change event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0" y="132588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4.2.1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base item price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554480" cy="365760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Catalog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0" y="242316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242316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4.2.2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size delta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352044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52044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milk-type delta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461772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86000" y="461772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4.2.4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extra-shot delta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shot count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155448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11880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6118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611880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37760" y="3520440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F7EFE7"/>
          </a:solidFill>
          <a:ln w="15875">
            <a:solidFill>
              <a:srgbClr val="6F4E3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3520440"/>
            <a:ext cx="17830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4.2.5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updated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310896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7132320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shown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modal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402336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7132320" y="4023360"/>
            <a:ext cx="16459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4.3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drink_config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11680" y="1691640"/>
            <a:ext cx="2743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011680" y="2560320"/>
            <a:ext cx="1371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148840" y="1920240"/>
            <a:ext cx="0" cy="6400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1920240"/>
            <a:ext cx="1371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57200" y="2788920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base_price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172968" y="2057400"/>
            <a:ext cx="0" cy="3657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218688" y="2084832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base_price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172968" y="3154680"/>
            <a:ext cx="0" cy="3657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3218688" y="3182112"/>
            <a:ext cx="11430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size delta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172968" y="4251960"/>
            <a:ext cx="0" cy="3657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218688" y="4279392"/>
            <a:ext cx="11430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milk delta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 flipV="1">
            <a:off x="2011680" y="2788920"/>
            <a:ext cx="274320" cy="100584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1371600" y="3108960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delta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011680" y="3840480"/>
            <a:ext cx="274320" cy="4572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1188720" y="4041648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delta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011680" y="3931920"/>
            <a:ext cx="274320" cy="105156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1234440" y="4526280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delta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069080" y="4983480"/>
            <a:ext cx="50292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572000" y="4023360"/>
            <a:ext cx="0" cy="96012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4023360"/>
            <a:ext cx="365760" cy="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114800" y="4434840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 flipV="1">
            <a:off x="6720840" y="3474720"/>
            <a:ext cx="411480" cy="18288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720840" y="4069080"/>
            <a:ext cx="411480" cy="274320"/>
          </a:xfrm>
          <a:prstGeom prst="line">
            <a:avLst/>
          </a:prstGeom>
          <a:noFill/>
          <a:ln w="1397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144000" y="1325880"/>
            <a:ext cx="2587752" cy="2377440"/>
          </a:xfrm>
          <a:prstGeom prst="roundRect">
            <a:avLst>
              <a:gd name="adj" fmla="val 2308"/>
            </a:avLst>
          </a:prstGeom>
          <a:solidFill>
            <a:srgbClr val="F7E3E0"/>
          </a:solidFill>
          <a:ln w="9525">
            <a:solidFill>
              <a:srgbClr val="A8322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90304" y="1435608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BUG-1 located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290304" y="1728216"/>
            <a:ext cx="22951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price does not change when size switches from small to large.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model the only bubble that can cause it is 4.2.2.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 causes, both testable at bubble level: the size delta is read once at modal open instead of per change, or the recompute chain is invoked only by 4.3 (add to cart).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belongs to one leaf module; 4.2.3 – 4.2.5 stay untouched.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9144000" y="3840480"/>
            <a:ext cx="2587752" cy="1508760"/>
          </a:xfrm>
          <a:prstGeom prst="roundRect">
            <a:avLst>
              <a:gd name="adj" fmla="val 3636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290304" y="3950208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chain, not one bubble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290304" y="4242816"/>
            <a:ext cx="22951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delta group is priced by its own leaf, so a new option group (syrup, decaf) is added as 4.2.6 without touching the others.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cohesion at every leaf: one arithmetic responsibility each.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57200" y="548640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3504" y="5596128"/>
            <a:ext cx="109819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with 4.2 at Level 2 — in: drink_config + option change event, base_price (D3), price deltas (D4).  Out: live price (1.0), priced drink_config (4.3). No store is written: pricing is a pure transformation, which is what makes it safe to re-run on every keystroke and tap.</a:t>
            </a:r>
            <a:endParaRPr lang="en-US" sz="940" dirty="0"/>
          </a:p>
        </p:txBody>
      </p:sp>
      <p:sp>
        <p:nvSpPr>
          <p:cNvPr id="59" name="Text 57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 ·  PROCESS 5.1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login gate — a visitor may browse, a member may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6002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5.0 / 1.0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place-order request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session reference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377440" y="141732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1417320"/>
            <a:ext cx="1783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5.1.1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session token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2560320"/>
            <a:ext cx="1554480" cy="402336"/>
          </a:xfrm>
          <a:prstGeom prst="rect">
            <a:avLst/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2560320"/>
            <a:ext cx="365760" cy="402336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25603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560320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</a:t>
            </a:r>
            <a:endParaRPr lang="en-US" sz="7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Tokens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417320"/>
            <a:ext cx="1783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5.1.2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expiry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0" y="141732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5.1.3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session: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· expired · valid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283464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2834640"/>
            <a:ext cx="18745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5.1.4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order request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0" y="402336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7E3E0"/>
          </a:solidFill>
          <a:ln w="15875">
            <a:solidFill>
              <a:srgbClr val="A832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4023360"/>
            <a:ext cx="18745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5.1.5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login-required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01200" y="283464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1430">
            <a:solidFill>
              <a:srgbClr val="7C6A5D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960120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5.3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token + user_id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01200" y="40233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1430">
            <a:solidFill>
              <a:srgbClr val="A8322A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9601200" y="4023360"/>
            <a:ext cx="17373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5.2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required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i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(cart preserved)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57400" y="1801368"/>
            <a:ext cx="32004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64408" y="2194560"/>
            <a:ext cx="0" cy="36576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310128" y="2212848"/>
            <a:ext cx="9601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lookup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160520" y="1801368"/>
            <a:ext cx="5943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114800" y="1417320"/>
            <a:ext cx="685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62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6537960" y="1801368"/>
            <a:ext cx="5943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446520" y="1371600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+</a:t>
            </a:r>
            <a:endParaRPr lang="en-US" sz="62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62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result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065008" y="2194560"/>
            <a:ext cx="0" cy="64008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8110728" y="2377440"/>
            <a:ext cx="5486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778240" y="2194560"/>
            <a:ext cx="50292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81160" y="2194560"/>
            <a:ext cx="0" cy="146304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9006840" y="3657600"/>
            <a:ext cx="27432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0" y="3657600"/>
            <a:ext cx="0" cy="36576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9326880" y="2377440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6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or expired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9006840" y="3218688"/>
            <a:ext cx="5943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006840" y="4407408"/>
            <a:ext cx="59436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57200" y="3291840"/>
            <a:ext cx="6035040" cy="1965960"/>
          </a:xfrm>
          <a:prstGeom prst="roundRect">
            <a:avLst>
              <a:gd name="adj" fmla="val 2791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3504" y="3401568"/>
            <a:ext cx="5742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rule, stated once and enforced in one place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03504" y="3694176"/>
            <a:ext cx="574243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session: 1.0 → 3.0 browse and 4.0 customise + cart are fully available; nothing is blocked and nothing is asked of the visitor.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expired token at 5.1: the request is not rejected, it is suspended — 5.2 keeps the cart, 2.0 authenticates, and the order request is replayed.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token: 5.1.4 releases the request to 5.3 and the order proceeds exactly as before.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order history reuses the same gate through 7.1, so the rule cannot drift apart in two places.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457200" y="5440680"/>
            <a:ext cx="11274552" cy="822960"/>
          </a:xfrm>
          <a:prstGeom prst="roundRect">
            <a:avLst>
              <a:gd name="adj" fmla="val 6667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3504" y="5550408"/>
            <a:ext cx="10981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with 5.1 at Level 2 — in: place-order request + session reference, stored token (D2).  Out: valid token + user_id (5.3), login required (5.2).  Note what is absent: no arrow carries the words "if" or "then". The branch is a classification of data here, and becomes the control couple ● auth status only in the structure chart.</a:t>
            </a:r>
            <a:endParaRPr lang="en-US" sz="940" dirty="0"/>
          </a:p>
        </p:txBody>
      </p:sp>
      <p:sp>
        <p:nvSpPr>
          <p:cNvPr id="45" name="Text 43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check — parent I/O equals child I/O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3200400"/>
                <a:gridCol w="1828800"/>
                <a:gridCol w="14904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 process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at Level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at Level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 at Level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UI &amp; Navigation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action / form input; replies from 2.0 … 7.0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rendered screen + alerts; routed requests to 2.0 … 7.0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– 1.5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Account &amp; Auth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signup / login / reset request; token check request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status + session; reset e-mail; D1, D2 writes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– 2.6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Browse &amp; Search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search query; menu records (D3)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cards + prices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– 3.4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Customise &amp; Cart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+ option selection; reorder lines; option deltas (D4)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price + cart summary; validated cart + total; D5 writes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– 4.6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Place Order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place-order request; validated cart + total; session token (D2)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record (D6); order ticket; confirmation; order accepted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 – 5.6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Track &amp; Notify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update; order accepted; status screen request; device token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status + ready alert; status stamps (D6); notification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 – 6.5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 History &amp; Reorder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/ reorder request; past orders (D6); price check (D3)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order list; reorder line items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 – 7.5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5532120" cy="1783080"/>
          </a:xfrm>
          <a:prstGeom prst="roundRect">
            <a:avLst>
              <a:gd name="adj" fmla="val 3077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" y="454456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row was checked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3504" y="4837176"/>
            <a:ext cx="52395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arrows crossing the parent bubble at Level 1.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arrows crossing the frame of its Level 2 diagram, including every dashed off-page reference.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lists must match name for name, not merely in number — a renamed flow is an unbalanced flow.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accesses are counted as well: a store that a child reads must be shown on the parent diagram too.</a:t>
            </a:r>
            <a:endParaRPr lang="en-US" sz="940" dirty="0"/>
          </a:p>
        </p:txBody>
      </p:sp>
      <p:sp>
        <p:nvSpPr>
          <p:cNvPr id="8" name="Shape 5"/>
          <p:cNvSpPr/>
          <p:nvPr/>
        </p:nvSpPr>
        <p:spPr>
          <a:xfrm>
            <a:off x="6199632" y="4434840"/>
            <a:ext cx="5532120" cy="1783080"/>
          </a:xfrm>
          <a:prstGeom prst="roundRect">
            <a:avLst>
              <a:gd name="adj" fmla="val 3077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45936" y="454456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where balancing forced a change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45936" y="4837176"/>
            <a:ext cx="523951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originally wrote D5 directly. That gave the cart two writers and left 4.0's Level 2 diagram missing an input, so the reorder path was redirected through 4.0.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originally read the device token from D1. D1 then appeared on a child diagram but not on the parent, so device tokens were separated into D7, which is also cleaner for multi-device users.</a:t>
            </a:r>
            <a:endParaRPr lang="en-US" sz="940" dirty="0"/>
          </a:p>
        </p:txBody>
      </p:sp>
      <p:sp>
        <p:nvSpPr>
          <p:cNvPr id="11" name="Text 8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DESIGN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mapping strategy: transaction analysis at the top, transform analysis inside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32120" cy="1325880"/>
          </a:xfrm>
          <a:prstGeom prst="roundRect">
            <a:avLst>
              <a:gd name="adj" fmla="val 4138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29844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analysis  →  the whole system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591056"/>
            <a:ext cx="5239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(a user gesture) selects one of several unrelated paths: browse, customise, order, track, history.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root becomes a dispatcher and each path becomes its own subtree. 1.3 route request is the transaction centre.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6199632" y="1188720"/>
            <a:ext cx="5532120" cy="1325880"/>
          </a:xfrm>
          <a:prstGeom prst="roundRect">
            <a:avLst>
              <a:gd name="adj" fmla="val 4138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45936" y="129844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analysis  →  inside the order path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45936" y="1591056"/>
            <a:ext cx="5239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is a straight input → transform → output pipeline, so it is factored into afferent, central-transform and efferent branches.</a:t>
            </a:r>
            <a:endParaRPr lang="en-US" sz="94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treatment suits 4.2 (price) and 6.0 (status), which are also pipelines.</a:t>
            </a:r>
            <a:endParaRPr lang="en-US" sz="94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analysis applied to the order path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474720" cy="960120"/>
          </a:xfrm>
          <a:prstGeom prst="roundRect">
            <a:avLst>
              <a:gd name="adj" fmla="val 5714"/>
            </a:avLst>
          </a:prstGeom>
          <a:solidFill>
            <a:srgbClr val="F7EFE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27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AFFERENT  (incoming)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3649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check session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validate cart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3063240"/>
            <a:ext cx="3474720" cy="960120"/>
          </a:xfrm>
          <a:prstGeom prst="roundRect">
            <a:avLst>
              <a:gd name="adj" fmla="val 5714"/>
            </a:avLst>
          </a:prstGeom>
          <a:solidFill>
            <a:srgbClr val="EADFD0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3127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TRANSFORM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3649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build order record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persist + order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3063240"/>
            <a:ext cx="3474720" cy="960120"/>
          </a:xfrm>
          <a:prstGeom prst="roundRect">
            <a:avLst>
              <a:gd name="adj" fmla="val 5714"/>
            </a:avLst>
          </a:prstGeom>
          <a:solidFill>
            <a:srgbClr val="EFE3D8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2440" y="3127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EFFERENT  (outgoing)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3649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send ticket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confirm to 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3538728"/>
            <a:ext cx="274320" cy="0"/>
          </a:xfrm>
          <a:prstGeom prst="line">
            <a:avLst/>
          </a:prstGeom>
          <a:noFill/>
          <a:ln w="1778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80960" y="3538728"/>
            <a:ext cx="274320" cy="0"/>
          </a:xfrm>
          <a:prstGeom prst="line">
            <a:avLst/>
          </a:prstGeom>
          <a:noFill/>
          <a:ln w="1778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246120" y="40690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of incoming flow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0690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of outgoing flow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" y="4636008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First-level factoring rules used on the next three slides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" y="4928616"/>
            <a:ext cx="10981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bubble at the leaves. Every bottom-level bubble in the DFD model becomes exactly one module, so traceability runs both ways — this is the first thing the design review checks.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do not compute. A superordinate module decides which subordinate to call and passes couples; the arithmetic, the queries and the I/O sit in the leaves.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 is factored out, not copied. Validate session is called by the order path and the history path, so it is drawn once with high fan-in instead of twice.</a:t>
            </a:r>
            <a:endParaRPr lang="en-US" sz="96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is kept in the 7 ± 2 range: the root calls seven managers, and no manager calls more than six leaves.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CHART  ·  LEVEL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BrewBuddy Main Controller — the transaction centre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663440" y="1188720"/>
            <a:ext cx="2834640" cy="685800"/>
          </a:xfrm>
          <a:prstGeom prst="rect">
            <a:avLst/>
          </a:prstGeom>
          <a:solidFill>
            <a:srgbClr val="2E1A12"/>
          </a:solidFill>
          <a:ln w="13970">
            <a:solidFill>
              <a:srgbClr val="2E1A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63440" y="1188720"/>
            <a:ext cx="2834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BrewBuddy Main Controller</a:t>
            </a:r>
            <a:endParaRPr lang="en-US" sz="9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(transaction centre: route the gesture)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080760" y="1874520"/>
            <a:ext cx="0" cy="36576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2240280"/>
            <a:ext cx="9674352" cy="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2240280"/>
            <a:ext cx="0" cy="36576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606040"/>
            <a:ext cx="1481328" cy="868680"/>
          </a:xfrm>
          <a:prstGeom prst="rect">
            <a:avLst/>
          </a:prstGeom>
          <a:solidFill>
            <a:srgbClr val="F7EFE7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606040"/>
            <a:ext cx="14813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98648" y="2240280"/>
            <a:ext cx="0" cy="36576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57984" y="2606040"/>
            <a:ext cx="1481328" cy="868680"/>
          </a:xfrm>
          <a:prstGeom prst="rect">
            <a:avLst/>
          </a:prstGeom>
          <a:solidFill>
            <a:srgbClr val="F7EFE7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57984" y="2606040"/>
            <a:ext cx="14813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53712" y="2240280"/>
            <a:ext cx="0" cy="36576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13048" y="2606040"/>
            <a:ext cx="1481328" cy="868680"/>
          </a:xfrm>
          <a:prstGeom prst="rect">
            <a:avLst/>
          </a:prstGeom>
          <a:solidFill>
            <a:srgbClr val="F7EFE7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13048" y="2606040"/>
            <a:ext cx="14813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08776" y="2240280"/>
            <a:ext cx="0" cy="36576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68112" y="2606040"/>
            <a:ext cx="1481328" cy="868680"/>
          </a:xfrm>
          <a:prstGeom prst="rect">
            <a:avLst/>
          </a:prstGeom>
          <a:solidFill>
            <a:srgbClr val="F7EFE7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68112" y="2606040"/>
            <a:ext cx="14813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Customisation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863840" y="2240280"/>
            <a:ext cx="0" cy="36576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23176" y="2606040"/>
            <a:ext cx="1481328" cy="868680"/>
          </a:xfrm>
          <a:prstGeom prst="rect">
            <a:avLst/>
          </a:prstGeom>
          <a:solidFill>
            <a:srgbClr val="F7E3E0"/>
          </a:solidFill>
          <a:ln w="13970">
            <a:solidFill>
              <a:srgbClr val="A832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23176" y="2606040"/>
            <a:ext cx="14813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518904" y="2240280"/>
            <a:ext cx="0" cy="36576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78240" y="2606040"/>
            <a:ext cx="1481328" cy="868680"/>
          </a:xfrm>
          <a:prstGeom prst="rect">
            <a:avLst/>
          </a:prstGeom>
          <a:solidFill>
            <a:srgbClr val="F7EFE7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78240" y="2606040"/>
            <a:ext cx="14813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173968" y="2240280"/>
            <a:ext cx="0" cy="36576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433304" y="2606040"/>
            <a:ext cx="1481328" cy="868680"/>
          </a:xfrm>
          <a:prstGeom prst="rect">
            <a:avLst/>
          </a:prstGeom>
          <a:solidFill>
            <a:srgbClr val="F7EFE7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3304" y="2606040"/>
            <a:ext cx="14813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2743200"/>
                <a:gridCol w="22219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Subordinate of the root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couples  ○  (in / out)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couples  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DFD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&amp; Navigation Manager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gesture, screen request  /  screen state, error text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valid, session expired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&amp; Auth Manager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credentials, reset request  /  session token, user_id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status, signup ok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Manager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category_id, search text  /  item cards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found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&amp; Customisation Manager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item_id, drink_config  /  live price, cart summary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empty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Manager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summary, user_id  /  order_id, confirmation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status, order placed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&amp; Notification Manager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order_id, status update  /  live status, notification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Manager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selected order_id  /  history list, reorder lines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status, item available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4  ·  width 7 at this level  ·  fan-out of the root = 7 (within 7 ± 2)  ·  the root passes couples and takes decisions only — it performs no computation itself.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CHART  ·  LEVEL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Manager and Account &amp; Auth Manager — the gate and the shared module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17320" y="1188720"/>
            <a:ext cx="2194560" cy="548640"/>
          </a:xfrm>
          <a:prstGeom prst="rect">
            <a:avLst/>
          </a:prstGeom>
          <a:solidFill>
            <a:srgbClr val="EFE3D8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188720"/>
            <a:ext cx="2194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14600" y="173736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965960"/>
            <a:ext cx="4389120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1005840" cy="640080"/>
          </a:xfrm>
          <a:prstGeom prst="rect">
            <a:avLst/>
          </a:prstGeom>
          <a:solidFill>
            <a:srgbClr val="F7E3E0"/>
          </a:solidFill>
          <a:ln w="11430">
            <a:solidFill>
              <a:srgbClr val="A832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Login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5740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54480" y="2148840"/>
            <a:ext cx="1005840" cy="64008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15468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51760" y="2148840"/>
            <a:ext cx="1005840" cy="64008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Order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Get ID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25196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49040" y="2148840"/>
            <a:ext cx="1005840" cy="64008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Counter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34924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46320" y="2148840"/>
            <a:ext cx="1005840" cy="64008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UI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60120" y="2788920"/>
            <a:ext cx="0" cy="228600"/>
          </a:xfrm>
          <a:prstGeom prst="line">
            <a:avLst/>
          </a:prstGeom>
          <a:noFill/>
          <a:ln w="11430">
            <a:solidFill>
              <a:srgbClr val="A832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017520"/>
            <a:ext cx="2377440" cy="0"/>
          </a:xfrm>
          <a:prstGeom prst="line">
            <a:avLst/>
          </a:prstGeom>
          <a:noFill/>
          <a:ln w="11430">
            <a:solidFill>
              <a:srgbClr val="A832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017520"/>
            <a:ext cx="0" cy="182880"/>
          </a:xfrm>
          <a:prstGeom prst="line">
            <a:avLst/>
          </a:prstGeom>
          <a:noFill/>
          <a:ln w="1143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" y="3200400"/>
            <a:ext cx="1005840" cy="548640"/>
          </a:xfrm>
          <a:prstGeom prst="rect">
            <a:avLst/>
          </a:prstGeom>
          <a:solidFill>
            <a:srgbClr val="F7E3E0"/>
          </a:solidFill>
          <a:ln w="11430">
            <a:solidFill>
              <a:srgbClr val="A832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874520" y="3017520"/>
            <a:ext cx="0" cy="182880"/>
          </a:xfrm>
          <a:prstGeom prst="line">
            <a:avLst/>
          </a:prstGeom>
          <a:noFill/>
          <a:ln w="1143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554480" y="3200400"/>
            <a:ext cx="1005840" cy="548640"/>
          </a:xfrm>
          <a:prstGeom prst="rect">
            <a:avLst/>
          </a:prstGeom>
          <a:solidFill>
            <a:srgbClr val="F7E3E0"/>
          </a:solidFill>
          <a:ln w="11430">
            <a:solidFill>
              <a:srgbClr val="A832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5448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971800" y="3017520"/>
            <a:ext cx="0" cy="182880"/>
          </a:xfrm>
          <a:prstGeom prst="line">
            <a:avLst/>
          </a:prstGeom>
          <a:noFill/>
          <a:ln w="1143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651760" y="3200400"/>
            <a:ext cx="1005840" cy="548640"/>
          </a:xfrm>
          <a:prstGeom prst="rect">
            <a:avLst/>
          </a:prstGeom>
          <a:solidFill>
            <a:srgbClr val="F7E3E0"/>
          </a:solidFill>
          <a:ln w="11430">
            <a:solidFill>
              <a:srgbClr val="A8322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5176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412480" y="1188720"/>
            <a:ext cx="2377440" cy="548640"/>
          </a:xfrm>
          <a:prstGeom prst="rect">
            <a:avLst/>
          </a:prstGeom>
          <a:solidFill>
            <a:srgbClr val="EFE3D8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Auth Manager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601200" y="173736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1965960"/>
            <a:ext cx="4389120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09360" y="2148840"/>
            <a:ext cx="1005840" cy="64008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90956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406640" y="2148840"/>
            <a:ext cx="1005840" cy="64008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0664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00684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503920" y="2148840"/>
            <a:ext cx="1005840" cy="64008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0392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10412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601200" y="2148840"/>
            <a:ext cx="1005840" cy="64008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0120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1201400" y="196596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698480" y="2148840"/>
            <a:ext cx="1005840" cy="64008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698480" y="2148840"/>
            <a:ext cx="10058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812280" y="2788920"/>
            <a:ext cx="0" cy="22860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29400" y="3017520"/>
            <a:ext cx="2377440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29400" y="301752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309360" y="3200400"/>
            <a:ext cx="1005840" cy="54864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30936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6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Format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7726680" y="301752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406640" y="3200400"/>
            <a:ext cx="1005840" cy="54864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40664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&amp; Store</a:t>
            </a:r>
            <a:endParaRPr lang="en-US" sz="6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8823960" y="3017520"/>
            <a:ext cx="0" cy="1828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503920" y="3200400"/>
            <a:ext cx="1005840" cy="54864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50392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6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9738360" y="2788920"/>
            <a:ext cx="0" cy="41148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235440" y="3200400"/>
            <a:ext cx="1005840" cy="548640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23544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Reset</a:t>
            </a:r>
            <a:endParaRPr lang="en-US" sz="6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4800600" y="4617720"/>
            <a:ext cx="2194560" cy="640080"/>
          </a:xfrm>
          <a:prstGeom prst="rect">
            <a:avLst/>
          </a:prstGeom>
          <a:solidFill>
            <a:srgbClr val="F7E3E0"/>
          </a:solidFill>
          <a:ln w="20320">
            <a:solidFill>
              <a:srgbClr val="A8322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80060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Session</a:t>
            </a:r>
            <a:endParaRPr lang="en-US" sz="9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· fan-in 3)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60120" y="3749040"/>
            <a:ext cx="0" cy="54864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0120" y="4297680"/>
            <a:ext cx="384048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0600" y="4297680"/>
            <a:ext cx="0" cy="50292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1097280" y="4041648"/>
            <a:ext cx="17373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token   ● auth status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601200" y="3749040"/>
            <a:ext cx="0" cy="54864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6995160" y="4297680"/>
            <a:ext cx="2606040" cy="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995160" y="4297680"/>
            <a:ext cx="0" cy="50292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76" name="Text 74"/>
          <p:cNvSpPr txBox="1"/>
          <p:nvPr/>
        </p:nvSpPr>
        <p:spPr>
          <a:xfrm>
            <a:off x="7772400" y="4041648"/>
            <a:ext cx="17373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token   ● auth status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937760" y="5623560"/>
            <a:ext cx="1920240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937760" y="5623560"/>
            <a:ext cx="1920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Manager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 flipV="1">
            <a:off x="5897880" y="5257800"/>
            <a:ext cx="0" cy="365760"/>
          </a:xfrm>
          <a:prstGeom prst="line">
            <a:avLst/>
          </a:prstGeom>
          <a:noFill/>
          <a:ln w="13970">
            <a:solidFill>
              <a:srgbClr val="A8322A"/>
            </a:solidFill>
            <a:prstDash val="solid"/>
            <a:tailEnd type="triangle"/>
          </a:ln>
        </p:spPr>
      </p:sp>
      <p:sp>
        <p:nvSpPr>
          <p:cNvPr id="80" name="Text 78"/>
          <p:cNvSpPr txBox="1"/>
          <p:nvPr/>
        </p:nvSpPr>
        <p:spPr>
          <a:xfrm>
            <a:off x="5989320" y="5321808"/>
            <a:ext cx="11887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auth status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57200" y="393192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03504" y="404164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gate is a module, not a flag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03504" y="4334256"/>
            <a:ext cx="36393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Login Gate owns the decision. Its three leaves come straight from Level 3 bubbles 5.1.1 – 5.1.3.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the control couple ● auth status; the Order Manager either calls Build Order Record or hands control back to the UI Manager to raise the login prompt.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below the gate knows the rule, so the rule can change in one module.</a:t>
            </a:r>
            <a:endParaRPr lang="en-US" sz="880" dirty="0"/>
          </a:p>
        </p:txBody>
      </p:sp>
      <p:sp>
        <p:nvSpPr>
          <p:cNvPr id="84" name="Shape 82"/>
          <p:cNvSpPr/>
          <p:nvPr/>
        </p:nvSpPr>
        <p:spPr>
          <a:xfrm>
            <a:off x="7360920" y="3931920"/>
            <a:ext cx="4370832" cy="2194560"/>
          </a:xfrm>
          <a:prstGeom prst="roundRect">
            <a:avLst>
              <a:gd name="adj" fmla="val 2500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507224" y="404164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Fan-in, and what it buys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7507224" y="4334256"/>
            <a:ext cx="40782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Session is called by Check Login Gate (ordering), by the Account &amp; Auth Manager (session refresh) and by the History Manager.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 3 with an unchanged interface — token in, auth status out — is the sign of a well-factored module.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alternative, duplicating expiry logic in three places, is exactly how the order path and the history path drift out of step.</a:t>
            </a:r>
            <a:endParaRPr lang="en-US" sz="880" dirty="0"/>
          </a:p>
        </p:txBody>
      </p:sp>
      <p:sp>
        <p:nvSpPr>
          <p:cNvPr id="87" name="Text 85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CHART  ·  LEVEL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remaining subtrees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80844" y="1188720"/>
            <a:ext cx="2103120" cy="548640"/>
          </a:xfrm>
          <a:prstGeom prst="rect">
            <a:avLst/>
          </a:prstGeom>
          <a:solidFill>
            <a:srgbClr val="EFE3D8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80844" y="1188720"/>
            <a:ext cx="2103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Navigation Manager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27832" y="1737360"/>
            <a:ext cx="0" cy="164592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2980" y="1901952"/>
            <a:ext cx="4498848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80" y="190195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5740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107692" y="190195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81912" y="205740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81912" y="205740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32404" y="190195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06624" y="205740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06624" y="205740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57116" y="190195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31336" y="205740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31336" y="205740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481828" y="190195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956048" y="205740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56048" y="205740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Error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Prompt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904988" y="1188720"/>
            <a:ext cx="2103120" cy="548640"/>
          </a:xfrm>
          <a:prstGeom prst="rect">
            <a:avLst/>
          </a:prstGeom>
          <a:solidFill>
            <a:srgbClr val="EFE3D8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4988" y="1188720"/>
            <a:ext cx="2103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51976" y="1737360"/>
            <a:ext cx="0" cy="164592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7124" y="1901952"/>
            <a:ext cx="3374136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07124" y="190195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81344" y="205740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81344" y="205740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831836" y="190195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06056" y="205740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06056" y="205740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Items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956548" y="190195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430768" y="205740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30768" y="205740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0081260" y="190195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55480" y="205740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555480" y="205740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Item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180844" y="3063240"/>
            <a:ext cx="2103120" cy="548640"/>
          </a:xfrm>
          <a:prstGeom prst="rect">
            <a:avLst/>
          </a:prstGeom>
          <a:solidFill>
            <a:srgbClr val="EFE3D8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180844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Customisation Manager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27832" y="3611880"/>
            <a:ext cx="0" cy="164592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2980" y="3776472"/>
            <a:ext cx="4498848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2980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7200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200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107692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581912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581912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32404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706624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706624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Cart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357116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831336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831336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Line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481828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956048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956048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904988" y="3063240"/>
            <a:ext cx="2103120" cy="548640"/>
          </a:xfrm>
          <a:prstGeom prst="rect">
            <a:avLst/>
          </a:prstGeom>
          <a:solidFill>
            <a:srgbClr val="EFE3D8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904988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Notification Manager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951976" y="3611880"/>
            <a:ext cx="0" cy="164592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07124" y="3776472"/>
            <a:ext cx="4498848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7124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181344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181344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831836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306056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306056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Status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Stamp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8956548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430768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430768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0081260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555480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555480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Push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1205972" y="377647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10680192" y="393192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680192" y="393192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180844" y="4937760"/>
            <a:ext cx="2103120" cy="548640"/>
          </a:xfrm>
          <a:prstGeom prst="rect">
            <a:avLst/>
          </a:prstGeom>
          <a:solidFill>
            <a:srgbClr val="EFE3D8"/>
          </a:solidFill>
          <a:ln w="13970">
            <a:solidFill>
              <a:srgbClr val="6F4E37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180844" y="4937760"/>
            <a:ext cx="2103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Manager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227832" y="5486400"/>
            <a:ext cx="0" cy="164592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2980" y="5650992"/>
            <a:ext cx="3374136" cy="0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2980" y="565099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457200" y="580644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57200" y="580644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Past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107692" y="565099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1581912" y="580644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581912" y="580644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List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232404" y="565099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706624" y="580644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2706624" y="580644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357116" y="5650992"/>
            <a:ext cx="0" cy="155448"/>
          </a:xfrm>
          <a:prstGeom prst="line">
            <a:avLst/>
          </a:prstGeom>
          <a:noFill/>
          <a:ln w="11430">
            <a:solidFill>
              <a:srgbClr val="6F4E37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831336" y="5806440"/>
            <a:ext cx="1051560" cy="621792"/>
          </a:xfrm>
          <a:prstGeom prst="rect">
            <a:avLst/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831336" y="5806440"/>
            <a:ext cx="10515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Lines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Cart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181344" y="4937760"/>
            <a:ext cx="5550408" cy="1463040"/>
          </a:xfrm>
          <a:prstGeom prst="roundRect">
            <a:avLst>
              <a:gd name="adj" fmla="val 375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327648" y="504748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that cross subtree boundaries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327648" y="5340096"/>
            <a:ext cx="5257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Lines to Cart → Add Cart Line:  ○ cart_line_item. The History Manager reuses the cart's own writer instead of touching D5.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Price → Render Reply:  ○ live_price on every option change, which is what makes the modal update live.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Push Notification → Handle Tap:  ○ deep_link, so a tap resumes the order screen rather than restarting the app.</a:t>
            </a:r>
            <a:endParaRPr lang="en-US" sz="880" dirty="0"/>
          </a:p>
        </p:txBody>
      </p:sp>
      <p:sp>
        <p:nvSpPr>
          <p:cNvPr id="96" name="Text 94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QUALITY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cohesion and coupling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719072" cy="86868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435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190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1188720"/>
            <a:ext cx="1719072" cy="86868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59152" y="12435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359152" y="17190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61104" y="1188720"/>
            <a:ext cx="1719072" cy="86868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61104" y="12435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261104" y="17190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of root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188720"/>
            <a:ext cx="1719072" cy="86868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63056" y="12435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17190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fan-in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65008" y="1188720"/>
            <a:ext cx="1719072" cy="86868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5008" y="12435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065008" y="17190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966960" y="1188720"/>
            <a:ext cx="1719072" cy="86868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 w="11430">
            <a:solidFill>
              <a:srgbClr val="6F4E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0" y="12435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17190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= DFD bubble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3017520"/>
                <a:gridCol w="3776472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 with its caller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Session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one control flag (stamp)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task: decide whether a token is usable; returns a value, reads no globals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Price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(drink_config → unit_price)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arithmetic over its parameters, no store, no screen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Status + Stamp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(status_update → stamp)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of the write feeds the publish step that follows it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Item Cards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(item records)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steps act on the same menu records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Screen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(screen state)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follow the render sequence of the platform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Session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(user_id → token)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the things done at login time: token, remember-me, device registration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(dispatch)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control couples only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 and delegates; contains no computation of its own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4754880"/>
            <a:ext cx="5532120" cy="1463040"/>
          </a:xfrm>
          <a:prstGeom prst="roundRect">
            <a:avLst>
              <a:gd name="adj" fmla="val 3750"/>
            </a:avLst>
          </a:prstGeom>
          <a:solidFill>
            <a:srgbClr val="EFE3D8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" y="486460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coupling was deliberately reduced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03504" y="5157216"/>
            <a:ext cx="52395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module reads another's data store: D5 has one writer, D6 has two clearly separated ones (5.4 creates, 6.2 stamps).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flag steers a subordinate's internals; flags travel upward as results, which is the weaker and preferred direction.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drink_config: it is passed as a parameter, so 4.2 can be unit-tested with a literal.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6199632" y="4754880"/>
            <a:ext cx="5532120" cy="1463040"/>
          </a:xfrm>
          <a:prstGeom prst="roundRect">
            <a:avLst>
              <a:gd name="adj" fmla="val 3750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45936" y="486460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weakest spots, named honestly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45936" y="5157216"/>
            <a:ext cx="52395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Session is only temporally cohesive — token creation and device registration are grouped because they happen at the same moment. Splitting it is the first refactor if push tokens grow more complex.</a:t>
            </a:r>
            <a:endParaRPr lang="en-US" sz="88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Controller's fan-out of 7 is at the top of the 7 ± 2 range; an eighth journey (loyalty, payment) should be grouped under an existing manager rather than added to the root.</a:t>
            </a:r>
            <a:endParaRPr lang="en-US" sz="880" dirty="0"/>
          </a:p>
        </p:txBody>
      </p:sp>
      <p:sp>
        <p:nvSpPr>
          <p:cNvPr id="29" name="Text 26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 ·  1 OF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Traceability: story → acceptance criterion → bubble → module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45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194560"/>
                <a:gridCol w="2194560"/>
                <a:gridCol w="1399032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DFD bubble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S1 sign up with e-mail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format valid; password ≥ 8 chars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User → Validate E-mail Format, Hash &amp; Store Password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S2 log 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form; remember me; clear error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2.2, 2.3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User, Issue Session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D1, D2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S3 reset password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e-mail; link expires in 30 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2.4, 2.5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Password → Send Reset Mail; Reset Password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D2, D1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S1 browse by 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tabs; name, price, image per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– 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Categories, Get Items, Build Item Cards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S2 customise drink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per item; price updates live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4.1, 4.2 (4.2.1 – 4.2.5)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Options, Compute 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D3, D4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S3 review cart, submit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itemised list + total; disabled if empty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– 4.6, 5.3 – 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Totals, Order Manager subtree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D5, D6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S1 see order 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updates; timestamp per 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 – 6.3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Status, Log Status + Stamp, Publish 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S2 push when ready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within 5 s of ready; tap opens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6.4, 6.5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Push Notification, Handle Tap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D6, D7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S3 past orders, reorder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newest first; reorder duplicates into cart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 – 7.5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Manager subtree → Add Cart 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D6, D3, D5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rule (view vs order)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may browse; ordering needs login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 (5.1.1 – 5.1.5), 7.1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Login Gate → Validate Session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BUG-1 price not updating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change must re-price immediately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Price (size delta leaf)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BUG-2 slow reset mail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e-mail must arrive promptly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Reset Mail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1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bubble in the model appears in this table, and every table row names a module — the two-way trace the review asks for. Nothing in the design exists without a requirement behind it, and no requirement is left without a home.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F7EFE7"/>
          </a:solidFill>
          <a:ln w="9525">
            <a:solidFill>
              <a:srgbClr val="6F4E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" y="5641848"/>
            <a:ext cx="109819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2E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note: because each bubble maps to one module, a card moving from To Do to In Progress touches one leaf module and one MSPEC — which is what keeps the WIP limits of 5 / 3 / 2 meaningful rather than aspirational.</a:t>
            </a:r>
            <a:endParaRPr lang="en-US" sz="96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DESIGN &amp;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MSPEC samples and the review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44281B"/>
          </a:solidFill>
          <a:ln w="11430">
            <a:solidFill>
              <a:srgbClr val="B47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630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MSPEC 5.1  ·  check session (login gate)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5564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session_ref FROM place-order request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token FROM D2 WHERE token = session_ref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token NOT FOUND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auth_status := guest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token.expires_at &lt; now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auth_status := expired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auth_status := valid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auth_status = valid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 valid token + user_id TO 5.3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 login required TO 5.2   (cart is kept)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44281B"/>
          </a:solidFill>
          <a:ln w="11430">
            <a:solidFill>
              <a:srgbClr val="B470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36792" y="14630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MSPEC 4.2  ·  recompute live price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1755648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every option change event DO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:= base_price OF item_id FROM D3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:= price + delta(size)     FROM D4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:= price + delta(milk_type) FROM D4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:= price + delta(shot) * extra_shots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unit_price := round(price, 2)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 unit_price TO 1.0 (modal) AND 4.3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Pre:  item_id exists and is_available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0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Post: unit_price reflects every current option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3A2217"/>
          </a:solidFill>
          <a:ln w="10160">
            <a:solidFill>
              <a:srgbClr val="6B4A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400507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42428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E0C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bubble maps to a module and back; every story maps to a bubble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279392" y="393192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3A2217"/>
          </a:solidFill>
          <a:ln w="10160">
            <a:solidFill>
              <a:srgbClr val="6B4A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07408" y="400507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07408" y="42428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E0C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miracles or black holes; store access has a named writer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10144" y="393192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3A2217"/>
          </a:solidFill>
          <a:ln w="10160">
            <a:solidFill>
              <a:srgbClr val="6B4A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400507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42428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E0C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nameable with one verb phrase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3A2217"/>
          </a:solidFill>
          <a:ln w="10160">
            <a:solidFill>
              <a:srgbClr val="6B4A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49651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52029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E0C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interfaces; flags travel upward only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279392" y="489204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3A2217"/>
          </a:solidFill>
          <a:ln w="10160">
            <a:solidFill>
              <a:srgbClr val="6B4A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07408" y="49651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52029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E0C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change touches one module (gate, price, notification)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010144" y="489204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3A2217"/>
          </a:solidFill>
          <a:ln w="10160">
            <a:solidFill>
              <a:srgbClr val="6B4A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38160" y="49651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Implementability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52029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E0C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are small enough to be one Kanban card each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in the SA/SD flow: walkthrough of this model with the barista-side workflow, then MSPECs for the remaining 27 leaf modules.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19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BrewBuddy - Data Flow Diagrams &amp; Structure Charts</dc:title>
  <dc:subject>PptxGenJS Presentation</dc:subject>
  <dc:creator>BrewBuddy SA/SD</dc:creator>
  <cp:lastModifiedBy>BrewBuddy SA/SD</cp:lastModifiedBy>
  <cp:revision>1</cp:revision>
  <dcterms:created xsi:type="dcterms:W3CDTF">2026-09-22T14:24:35Z</dcterms:created>
  <dcterms:modified xsi:type="dcterms:W3CDTF">2026-09-22T14:24:35Z</dcterms:modified>
</cp:coreProperties>
</file>