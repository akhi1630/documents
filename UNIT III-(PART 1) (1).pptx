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ppt/notesSlides/notesSlide3.xml" ContentType="application/vnd.openxmlformats-officedocument.presentationml.notesSlide+xml"/>
  <Override PartName="/ppt/theme/themeOverride4.xml" ContentType="application/vnd.openxmlformats-officedocument.themeOverride+xml"/>
  <Override PartName="/ppt/theme/themeOverride5.xml" ContentType="application/vnd.openxmlformats-officedocument.themeOverride+xml"/>
  <Override PartName="/ppt/notesSlides/notesSlide4.xml" ContentType="application/vnd.openxmlformats-officedocument.presentationml.notesSl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notesSlides/notesSlide5.xml" ContentType="application/vnd.openxmlformats-officedocument.presentationml.notesSl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notesSlides/notesSlide6.xml" ContentType="application/vnd.openxmlformats-officedocument.presentationml.notesSlide+xml"/>
  <Override PartName="/ppt/theme/themeOverride13.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ppt/theme/themeOverride20.xml" ContentType="application/vnd.openxmlformats-officedocument.themeOverride+xml"/>
  <Override PartName="/ppt/theme/themeOverride21.xml" ContentType="application/vnd.openxmlformats-officedocument.themeOverride+xml"/>
  <Override PartName="/ppt/theme/themeOverride22.xml" ContentType="application/vnd.openxmlformats-officedocument.themeOverride+xml"/>
  <Override PartName="/ppt/theme/themeOverride23.xml" ContentType="application/vnd.openxmlformats-officedocument.themeOverride+xml"/>
  <Override PartName="/ppt/notesSlides/notesSlide7.xml" ContentType="application/vnd.openxmlformats-officedocument.presentationml.notesSlide+xml"/>
  <Override PartName="/ppt/theme/themeOverride24.xml" ContentType="application/vnd.openxmlformats-officedocument.themeOverride+xml"/>
  <Override PartName="/ppt/notesSlides/notesSlide8.xml" ContentType="application/vnd.openxmlformats-officedocument.presentationml.notesSlide+xml"/>
  <Override PartName="/ppt/theme/themeOverride25.xml" ContentType="application/vnd.openxmlformats-officedocument.themeOverride+xml"/>
  <Override PartName="/ppt/notesSlides/notesSlide9.xml" ContentType="application/vnd.openxmlformats-officedocument.presentationml.notesSlide+xml"/>
  <Override PartName="/ppt/theme/themeOverride26.xml" ContentType="application/vnd.openxmlformats-officedocument.themeOverride+xml"/>
  <Override PartName="/ppt/notesSlides/notesSlide10.xml" ContentType="application/vnd.openxmlformats-officedocument.presentationml.notesSlide+xml"/>
  <Override PartName="/ppt/theme/themeOverride27.xml" ContentType="application/vnd.openxmlformats-officedocument.themeOverride+xml"/>
  <Override PartName="/ppt/theme/themeOverride28.xml" ContentType="application/vnd.openxmlformats-officedocument.themeOverride+xml"/>
  <Override PartName="/ppt/theme/themeOverride29.xml" ContentType="application/vnd.openxmlformats-officedocument.themeOverride+xml"/>
  <Override PartName="/ppt/theme/themeOverride30.xml" ContentType="application/vnd.openxmlformats-officedocument.themeOverride+xml"/>
  <Override PartName="/ppt/theme/themeOverride31.xml" ContentType="application/vnd.openxmlformats-officedocument.themeOverride+xml"/>
  <Override PartName="/ppt/theme/themeOverride32.xml" ContentType="application/vnd.openxmlformats-officedocument.themeOverride+xml"/>
  <Override PartName="/ppt/theme/themeOverride33.xml" ContentType="application/vnd.openxmlformats-officedocument.themeOverride+xml"/>
  <Override PartName="/ppt/theme/themeOverride34.xml" ContentType="application/vnd.openxmlformats-officedocument.themeOverride+xml"/>
  <Override PartName="/ppt/theme/themeOverride35.xml" ContentType="application/vnd.openxmlformats-officedocument.themeOverride+xml"/>
  <Override PartName="/ppt/notesSlides/notesSlide11.xml" ContentType="application/vnd.openxmlformats-officedocument.presentationml.notesSlide+xml"/>
  <Override PartName="/ppt/theme/themeOverride36.xml" ContentType="application/vnd.openxmlformats-officedocument.themeOverride+xml"/>
  <Override PartName="/ppt/notesSlides/notesSlide12.xml" ContentType="application/vnd.openxmlformats-officedocument.presentationml.notesSlide+xml"/>
  <Override PartName="/ppt/theme/themeOverride37.xml" ContentType="application/vnd.openxmlformats-officedocument.themeOverride+xml"/>
  <Override PartName="/ppt/notesSlides/notesSlide13.xml" ContentType="application/vnd.openxmlformats-officedocument.presentationml.notesSlide+xml"/>
  <Override PartName="/ppt/theme/themeOverride38.xml" ContentType="application/vnd.openxmlformats-officedocument.themeOverride+xml"/>
  <Override PartName="/ppt/theme/themeOverride39.xml" ContentType="application/vnd.openxmlformats-officedocument.themeOverride+xml"/>
  <Override PartName="/ppt/theme/themeOverride40.xml" ContentType="application/vnd.openxmlformats-officedocument.themeOverride+xml"/>
  <Override PartName="/ppt/notesSlides/notesSlide14.xml" ContentType="application/vnd.openxmlformats-officedocument.presentationml.notesSlide+xml"/>
  <Override PartName="/ppt/theme/themeOverride41.xml" ContentType="application/vnd.openxmlformats-officedocument.themeOverride+xml"/>
  <Override PartName="/ppt/theme/themeOverride42.xml" ContentType="application/vnd.openxmlformats-officedocument.themeOverride+xml"/>
  <Override PartName="/ppt/notesSlides/notesSlide15.xml" ContentType="application/vnd.openxmlformats-officedocument.presentationml.notesSlide+xml"/>
  <Override PartName="/ppt/theme/themeOverride43.xml" ContentType="application/vnd.openxmlformats-officedocument.themeOverride+xml"/>
  <Override PartName="/ppt/notesSlides/notesSlide16.xml" ContentType="application/vnd.openxmlformats-officedocument.presentationml.notesSlide+xml"/>
  <Override PartName="/ppt/theme/themeOverride44.xml" ContentType="application/vnd.openxmlformats-officedocument.themeOverride+xml"/>
  <Override PartName="/ppt/theme/themeOverride45.xml" ContentType="application/vnd.openxmlformats-officedocument.themeOverride+xml"/>
  <Override PartName="/ppt/notesSlides/notesSlide17.xml" ContentType="application/vnd.openxmlformats-officedocument.presentationml.notesSlide+xml"/>
  <Override PartName="/ppt/theme/themeOverride46.xml" ContentType="application/vnd.openxmlformats-officedocument.themeOverride+xml"/>
  <Override PartName="/ppt/theme/themeOverride47.xml" ContentType="application/vnd.openxmlformats-officedocument.themeOverride+xml"/>
  <Override PartName="/ppt/theme/themeOverride48.xml" ContentType="application/vnd.openxmlformats-officedocument.themeOverride+xml"/>
  <Override PartName="/ppt/theme/themeOverride49.xml" ContentType="application/vnd.openxmlformats-officedocument.themeOverride+xml"/>
  <Override PartName="/ppt/theme/themeOverride50.xml" ContentType="application/vnd.openxmlformats-officedocument.themeOverride+xml"/>
  <Override PartName="/ppt/theme/themeOverride51.xml" ContentType="application/vnd.openxmlformats-officedocument.themeOverride+xml"/>
  <Override PartName="/ppt/notesSlides/notesSlide18.xml" ContentType="application/vnd.openxmlformats-officedocument.presentationml.notesSlide+xml"/>
  <Override PartName="/ppt/theme/themeOverride52.xml" ContentType="application/vnd.openxmlformats-officedocument.themeOverride+xml"/>
  <Override PartName="/ppt/notesSlides/notesSlide19.xml" ContentType="application/vnd.openxmlformats-officedocument.presentationml.notesSlide+xml"/>
  <Override PartName="/ppt/theme/themeOverride53.xml" ContentType="application/vnd.openxmlformats-officedocument.themeOverride+xml"/>
  <Override PartName="/ppt/theme/themeOverride54.xml" ContentType="application/vnd.openxmlformats-officedocument.themeOverride+xml"/>
  <Override PartName="/ppt/notesSlides/notesSlide20.xml" ContentType="application/vnd.openxmlformats-officedocument.presentationml.notesSlide+xml"/>
  <Override PartName="/ppt/theme/themeOverride55.xml" ContentType="application/vnd.openxmlformats-officedocument.themeOverride+xml"/>
  <Override PartName="/ppt/theme/themeOverride56.xml" ContentType="application/vnd.openxmlformats-officedocument.themeOverride+xml"/>
  <Override PartName="/ppt/theme/themeOverride57.xml" ContentType="application/vnd.openxmlformats-officedocument.themeOverride+xml"/>
  <Override PartName="/ppt/theme/themeOverride58.xml" ContentType="application/vnd.openxmlformats-officedocument.themeOverride+xml"/>
  <Override PartName="/ppt/notesSlides/notesSlide21.xml" ContentType="application/vnd.openxmlformats-officedocument.presentationml.notesSlide+xml"/>
  <Override PartName="/ppt/theme/themeOverride59.xml" ContentType="application/vnd.openxmlformats-officedocument.themeOverride+xml"/>
  <Override PartName="/ppt/theme/themeOverride60.xml" ContentType="application/vnd.openxmlformats-officedocument.themeOverride+xml"/>
  <Override PartName="/ppt/notesSlides/notesSlide22.xml" ContentType="application/vnd.openxmlformats-officedocument.presentationml.notesSlide+xml"/>
  <Override PartName="/ppt/theme/themeOverride61.xml" ContentType="application/vnd.openxmlformats-officedocument.themeOverride+xml"/>
  <Override PartName="/ppt/theme/themeOverride62.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87" r:id="rId2"/>
  </p:sldMasterIdLst>
  <p:notesMasterIdLst>
    <p:notesMasterId r:id="rId66"/>
  </p:notesMasterIdLst>
  <p:sldIdLst>
    <p:sldId id="330" r:id="rId3"/>
    <p:sldId id="331" r:id="rId4"/>
    <p:sldId id="332" r:id="rId5"/>
    <p:sldId id="333" r:id="rId6"/>
    <p:sldId id="334" r:id="rId7"/>
    <p:sldId id="335" r:id="rId8"/>
    <p:sldId id="336" r:id="rId9"/>
    <p:sldId id="337" r:id="rId10"/>
    <p:sldId id="338" r:id="rId11"/>
    <p:sldId id="339" r:id="rId12"/>
    <p:sldId id="340" r:id="rId13"/>
    <p:sldId id="341" r:id="rId14"/>
    <p:sldId id="342" r:id="rId15"/>
    <p:sldId id="343" r:id="rId16"/>
    <p:sldId id="344" r:id="rId17"/>
    <p:sldId id="389" r:id="rId18"/>
    <p:sldId id="345" r:id="rId19"/>
    <p:sldId id="391" r:id="rId20"/>
    <p:sldId id="346" r:id="rId21"/>
    <p:sldId id="347" r:id="rId22"/>
    <p:sldId id="348" r:id="rId23"/>
    <p:sldId id="349" r:id="rId24"/>
    <p:sldId id="350" r:id="rId25"/>
    <p:sldId id="351" r:id="rId26"/>
    <p:sldId id="352" r:id="rId27"/>
    <p:sldId id="353" r:id="rId28"/>
    <p:sldId id="354" r:id="rId29"/>
    <p:sldId id="355" r:id="rId30"/>
    <p:sldId id="356" r:id="rId31"/>
    <p:sldId id="357" r:id="rId32"/>
    <p:sldId id="358" r:id="rId33"/>
    <p:sldId id="392" r:id="rId34"/>
    <p:sldId id="359" r:id="rId35"/>
    <p:sldId id="360" r:id="rId36"/>
    <p:sldId id="361" r:id="rId37"/>
    <p:sldId id="362" r:id="rId38"/>
    <p:sldId id="363" r:id="rId39"/>
    <p:sldId id="364" r:id="rId40"/>
    <p:sldId id="365" r:id="rId41"/>
    <p:sldId id="366" r:id="rId42"/>
    <p:sldId id="367" r:id="rId43"/>
    <p:sldId id="368" r:id="rId44"/>
    <p:sldId id="369" r:id="rId45"/>
    <p:sldId id="370" r:id="rId46"/>
    <p:sldId id="371" r:id="rId47"/>
    <p:sldId id="372" r:id="rId48"/>
    <p:sldId id="373" r:id="rId49"/>
    <p:sldId id="374" r:id="rId50"/>
    <p:sldId id="375" r:id="rId51"/>
    <p:sldId id="376" r:id="rId52"/>
    <p:sldId id="377" r:id="rId53"/>
    <p:sldId id="378" r:id="rId54"/>
    <p:sldId id="379" r:id="rId55"/>
    <p:sldId id="380" r:id="rId56"/>
    <p:sldId id="381" r:id="rId57"/>
    <p:sldId id="382" r:id="rId58"/>
    <p:sldId id="383" r:id="rId59"/>
    <p:sldId id="384" r:id="rId60"/>
    <p:sldId id="385" r:id="rId61"/>
    <p:sldId id="386" r:id="rId62"/>
    <p:sldId id="387" r:id="rId63"/>
    <p:sldId id="388" r:id="rId64"/>
    <p:sldId id="328" r:id="rId6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12066A"/>
    <a:srgbClr val="1D0868"/>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28" autoAdjust="0"/>
    <p:restoredTop sz="94726"/>
  </p:normalViewPr>
  <p:slideViewPr>
    <p:cSldViewPr snapToGrid="0" snapToObjects="1">
      <p:cViewPr varScale="1">
        <p:scale>
          <a:sx n="127" d="100"/>
          <a:sy n="127" d="100"/>
        </p:scale>
        <p:origin x="312"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403FE30-4898-42B7-90C8-CCF820214ADE}" type="doc">
      <dgm:prSet loTypeId="urn:microsoft.com/office/officeart/2005/8/layout/default" loCatId="list" qsTypeId="urn:microsoft.com/office/officeart/2005/8/quickstyle/simple1" qsCatId="simple" csTypeId="urn:microsoft.com/office/officeart/2005/8/colors/accent0_1" csCatId="mainScheme" phldr="1"/>
      <dgm:spPr/>
      <dgm:t>
        <a:bodyPr/>
        <a:lstStyle/>
        <a:p>
          <a:endParaRPr lang="en-IN"/>
        </a:p>
      </dgm:t>
    </dgm:pt>
    <dgm:pt modelId="{10190D5D-8BF8-405F-8C48-BC1B6CEE7B83}">
      <dgm:prSet phldrT="[Text]" custT="1"/>
      <dgm:spPr/>
      <dgm:t>
        <a:bodyPr/>
        <a:lstStyle/>
        <a:p>
          <a:r>
            <a:rPr lang="en-IN" sz="28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1.Abstraction</a:t>
          </a:r>
        </a:p>
      </dgm:t>
    </dgm:pt>
    <dgm:pt modelId="{FBC5C09E-6844-463C-8017-D1B8AE4A563F}" type="parTrans" cxnId="{D1EB1FE3-0DF9-4B06-8A40-2CBFE9238FA2}">
      <dgm:prSet/>
      <dgm:spPr/>
      <dgm:t>
        <a:bodyPr/>
        <a:lstStyle/>
        <a:p>
          <a:endParaRPr lang="en-IN"/>
        </a:p>
      </dgm:t>
    </dgm:pt>
    <dgm:pt modelId="{D850FFA1-4E0F-4B20-B7E8-A1C779D54AB6}" type="sibTrans" cxnId="{D1EB1FE3-0DF9-4B06-8A40-2CBFE9238FA2}">
      <dgm:prSet/>
      <dgm:spPr/>
      <dgm:t>
        <a:bodyPr/>
        <a:lstStyle/>
        <a:p>
          <a:endParaRPr lang="en-IN"/>
        </a:p>
      </dgm:t>
    </dgm:pt>
    <dgm:pt modelId="{08F77001-ED32-4516-9E34-00C4DCE62635}">
      <dgm:prSet phldrT="[Text]" custT="1"/>
      <dgm:spPr/>
      <dgm:t>
        <a:bodyPr/>
        <a:lstStyle/>
        <a:p>
          <a:r>
            <a:rPr lang="en-IN" sz="28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2.Modularity</a:t>
          </a:r>
        </a:p>
      </dgm:t>
    </dgm:pt>
    <dgm:pt modelId="{7C80DFAD-424F-424E-8F2B-44E83C029BD0}" type="parTrans" cxnId="{388E7207-BBC3-4352-AC54-78EEDDF1A328}">
      <dgm:prSet/>
      <dgm:spPr/>
      <dgm:t>
        <a:bodyPr/>
        <a:lstStyle/>
        <a:p>
          <a:endParaRPr lang="en-IN"/>
        </a:p>
      </dgm:t>
    </dgm:pt>
    <dgm:pt modelId="{4EE0C831-36B1-43DC-8B5C-EB2320FB510B}" type="sibTrans" cxnId="{388E7207-BBC3-4352-AC54-78EEDDF1A328}">
      <dgm:prSet/>
      <dgm:spPr/>
      <dgm:t>
        <a:bodyPr/>
        <a:lstStyle/>
        <a:p>
          <a:endParaRPr lang="en-IN"/>
        </a:p>
      </dgm:t>
    </dgm:pt>
    <dgm:pt modelId="{351D13DC-BDCF-46CC-A29F-7266FD51BA6C}">
      <dgm:prSet phldrT="[Text]" custT="1"/>
      <dgm:spPr/>
      <dgm:t>
        <a:bodyPr/>
        <a:lstStyle/>
        <a:p>
          <a:r>
            <a:rPr lang="en-IN" sz="28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3.Encapsulation</a:t>
          </a:r>
        </a:p>
      </dgm:t>
    </dgm:pt>
    <dgm:pt modelId="{110D70D3-DB65-4EED-868E-CB314D965CE7}" type="parTrans" cxnId="{82B9C06D-C1B7-4734-AFC8-EB5D2AC6C9D3}">
      <dgm:prSet/>
      <dgm:spPr/>
      <dgm:t>
        <a:bodyPr/>
        <a:lstStyle/>
        <a:p>
          <a:endParaRPr lang="en-IN"/>
        </a:p>
      </dgm:t>
    </dgm:pt>
    <dgm:pt modelId="{AE7778C9-B809-4C14-9D08-F139E22F11FA}" type="sibTrans" cxnId="{82B9C06D-C1B7-4734-AFC8-EB5D2AC6C9D3}">
      <dgm:prSet/>
      <dgm:spPr/>
      <dgm:t>
        <a:bodyPr/>
        <a:lstStyle/>
        <a:p>
          <a:endParaRPr lang="en-IN"/>
        </a:p>
      </dgm:t>
    </dgm:pt>
    <dgm:pt modelId="{70F6C517-F016-4677-BEE6-BF6E1CE4ACDE}">
      <dgm:prSet phldrT="[Text]" custT="1"/>
      <dgm:spPr/>
      <dgm:t>
        <a:bodyPr/>
        <a:lstStyle/>
        <a:p>
          <a:r>
            <a:rPr lang="en-IN" sz="28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4.Functional Independence</a:t>
          </a:r>
        </a:p>
      </dgm:t>
    </dgm:pt>
    <dgm:pt modelId="{351E3D1B-21F4-4A8F-9789-05051A824BE2}" type="parTrans" cxnId="{BDF09D82-4EB7-4CF8-BCF0-02FF64742C6B}">
      <dgm:prSet/>
      <dgm:spPr/>
      <dgm:t>
        <a:bodyPr/>
        <a:lstStyle/>
        <a:p>
          <a:endParaRPr lang="en-IN"/>
        </a:p>
      </dgm:t>
    </dgm:pt>
    <dgm:pt modelId="{A8E9B048-EA49-4247-A7DA-B2262079E590}" type="sibTrans" cxnId="{BDF09D82-4EB7-4CF8-BCF0-02FF64742C6B}">
      <dgm:prSet/>
      <dgm:spPr/>
      <dgm:t>
        <a:bodyPr/>
        <a:lstStyle/>
        <a:p>
          <a:endParaRPr lang="en-IN"/>
        </a:p>
      </dgm:t>
    </dgm:pt>
    <dgm:pt modelId="{11145DB9-2EA6-4B46-A4C7-F0B53C5DBBF3}">
      <dgm:prSet phldrT="[Text]" custT="1"/>
      <dgm:spPr/>
      <dgm:t>
        <a:bodyPr/>
        <a:lstStyle/>
        <a:p>
          <a:r>
            <a:rPr lang="en-IN" sz="28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5.Refinement</a:t>
          </a:r>
        </a:p>
      </dgm:t>
    </dgm:pt>
    <dgm:pt modelId="{1AFF5211-554A-4FED-9858-33CD6CEB09ED}" type="parTrans" cxnId="{374023C3-476C-4D8C-9155-8C0D2C1B01CA}">
      <dgm:prSet/>
      <dgm:spPr/>
      <dgm:t>
        <a:bodyPr/>
        <a:lstStyle/>
        <a:p>
          <a:endParaRPr lang="en-IN"/>
        </a:p>
      </dgm:t>
    </dgm:pt>
    <dgm:pt modelId="{DB86925A-0C8D-4191-89F6-832173653280}" type="sibTrans" cxnId="{374023C3-476C-4D8C-9155-8C0D2C1B01CA}">
      <dgm:prSet/>
      <dgm:spPr/>
      <dgm:t>
        <a:bodyPr/>
        <a:lstStyle/>
        <a:p>
          <a:endParaRPr lang="en-IN"/>
        </a:p>
      </dgm:t>
    </dgm:pt>
    <dgm:pt modelId="{67A58295-DCD5-43A2-A560-5C0ACF353638}">
      <dgm:prSet phldrT="[Text]" custT="1"/>
      <dgm:spPr/>
      <dgm:t>
        <a:bodyPr/>
        <a:lstStyle/>
        <a:p>
          <a:r>
            <a:rPr lang="en-IN" sz="28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6.Refactoring</a:t>
          </a:r>
        </a:p>
      </dgm:t>
    </dgm:pt>
    <dgm:pt modelId="{09BD02CA-2B9A-48EC-ACA7-04097D02D6F7}" type="parTrans" cxnId="{BACC8E78-1B2D-4DA1-B0CC-C9DAAD434C85}">
      <dgm:prSet/>
      <dgm:spPr/>
      <dgm:t>
        <a:bodyPr/>
        <a:lstStyle/>
        <a:p>
          <a:endParaRPr lang="en-IN"/>
        </a:p>
      </dgm:t>
    </dgm:pt>
    <dgm:pt modelId="{A133F9E8-97A5-4FE6-8F08-46CC219668C3}" type="sibTrans" cxnId="{BACC8E78-1B2D-4DA1-B0CC-C9DAAD434C85}">
      <dgm:prSet/>
      <dgm:spPr/>
      <dgm:t>
        <a:bodyPr/>
        <a:lstStyle/>
        <a:p>
          <a:endParaRPr lang="en-IN"/>
        </a:p>
      </dgm:t>
    </dgm:pt>
    <dgm:pt modelId="{BD1F3092-91AC-4E2B-8A0D-E39CCC8B539D}">
      <dgm:prSet phldrT="[Text]" custT="1"/>
      <dgm:spPr/>
      <dgm:t>
        <a:bodyPr/>
        <a:lstStyle/>
        <a:p>
          <a:r>
            <a:rPr lang="en-IN" sz="28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7.Architecture</a:t>
          </a:r>
        </a:p>
      </dgm:t>
    </dgm:pt>
    <dgm:pt modelId="{E7C17AF7-FF22-43C4-AAC7-5AE8F8018067}" type="parTrans" cxnId="{959B7D80-089A-4EFA-B2AC-80D1615873FE}">
      <dgm:prSet/>
      <dgm:spPr/>
      <dgm:t>
        <a:bodyPr/>
        <a:lstStyle/>
        <a:p>
          <a:endParaRPr lang="en-IN"/>
        </a:p>
      </dgm:t>
    </dgm:pt>
    <dgm:pt modelId="{134FC5C0-B819-47C7-8583-B37B84AC2552}" type="sibTrans" cxnId="{959B7D80-089A-4EFA-B2AC-80D1615873FE}">
      <dgm:prSet/>
      <dgm:spPr/>
      <dgm:t>
        <a:bodyPr/>
        <a:lstStyle/>
        <a:p>
          <a:endParaRPr lang="en-IN"/>
        </a:p>
      </dgm:t>
    </dgm:pt>
    <dgm:pt modelId="{10BA840E-A10F-4E68-BFDC-4B6D1C6638E7}">
      <dgm:prSet phldrT="[Text]" custT="1"/>
      <dgm:spPr/>
      <dgm:t>
        <a:bodyPr/>
        <a:lstStyle/>
        <a:p>
          <a:r>
            <a:rPr lang="en-IN" sz="28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8.Patterns</a:t>
          </a:r>
        </a:p>
      </dgm:t>
    </dgm:pt>
    <dgm:pt modelId="{4F0F8B45-A484-45E6-ABF1-9377199C1388}" type="sibTrans" cxnId="{CE67E3B6-4B43-4DE3-ACE8-8F74A2B03955}">
      <dgm:prSet/>
      <dgm:spPr/>
      <dgm:t>
        <a:bodyPr/>
        <a:lstStyle/>
        <a:p>
          <a:endParaRPr lang="en-IN"/>
        </a:p>
      </dgm:t>
    </dgm:pt>
    <dgm:pt modelId="{D6348521-76B7-418C-A0CC-39E07DE7ACA9}" type="parTrans" cxnId="{CE67E3B6-4B43-4DE3-ACE8-8F74A2B03955}">
      <dgm:prSet/>
      <dgm:spPr/>
      <dgm:t>
        <a:bodyPr/>
        <a:lstStyle/>
        <a:p>
          <a:endParaRPr lang="en-IN"/>
        </a:p>
      </dgm:t>
    </dgm:pt>
    <dgm:pt modelId="{5AB04F8A-88A0-426E-94EE-9EAE286377E2}">
      <dgm:prSet phldrT="[Text]" custT="1"/>
      <dgm:spPr/>
      <dgm:t>
        <a:bodyPr/>
        <a:lstStyle/>
        <a:p>
          <a:r>
            <a:rPr lang="en-IN" sz="28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9.Design classes</a:t>
          </a:r>
        </a:p>
      </dgm:t>
    </dgm:pt>
    <dgm:pt modelId="{BE22D761-EBBF-47C1-8B4B-52D3B4588977}" type="parTrans" cxnId="{91C6C7F7-F41A-4081-8312-0CC4F0C406F5}">
      <dgm:prSet/>
      <dgm:spPr/>
      <dgm:t>
        <a:bodyPr/>
        <a:lstStyle/>
        <a:p>
          <a:endParaRPr lang="en-US"/>
        </a:p>
      </dgm:t>
    </dgm:pt>
    <dgm:pt modelId="{50242594-6379-4AB1-BA1D-AB21E3CD1619}" type="sibTrans" cxnId="{91C6C7F7-F41A-4081-8312-0CC4F0C406F5}">
      <dgm:prSet/>
      <dgm:spPr/>
      <dgm:t>
        <a:bodyPr/>
        <a:lstStyle/>
        <a:p>
          <a:endParaRPr lang="en-US"/>
        </a:p>
      </dgm:t>
    </dgm:pt>
    <dgm:pt modelId="{19CE3D49-485C-4345-88F1-A10819B53724}" type="pres">
      <dgm:prSet presAssocID="{D403FE30-4898-42B7-90C8-CCF820214ADE}" presName="diagram" presStyleCnt="0">
        <dgm:presLayoutVars>
          <dgm:dir/>
          <dgm:resizeHandles val="exact"/>
        </dgm:presLayoutVars>
      </dgm:prSet>
      <dgm:spPr/>
    </dgm:pt>
    <dgm:pt modelId="{FE4B797F-105D-4F30-8384-8BEC563F13E0}" type="pres">
      <dgm:prSet presAssocID="{10190D5D-8BF8-405F-8C48-BC1B6CEE7B83}" presName="node" presStyleLbl="node1" presStyleIdx="0" presStyleCnt="9" custScaleX="125194" custScaleY="58036" custLinFactNeighborX="13784" custLinFactNeighborY="-58289">
        <dgm:presLayoutVars>
          <dgm:bulletEnabled val="1"/>
        </dgm:presLayoutVars>
      </dgm:prSet>
      <dgm:spPr/>
    </dgm:pt>
    <dgm:pt modelId="{920DB34E-8845-4679-BB1D-0C2551265BA7}" type="pres">
      <dgm:prSet presAssocID="{D850FFA1-4E0F-4B20-B7E8-A1C779D54AB6}" presName="sibTrans" presStyleCnt="0"/>
      <dgm:spPr/>
    </dgm:pt>
    <dgm:pt modelId="{E1C92E75-554D-4410-9459-6C53C088B7EF}" type="pres">
      <dgm:prSet presAssocID="{08F77001-ED32-4516-9E34-00C4DCE62635}" presName="node" presStyleLbl="node1" presStyleIdx="1" presStyleCnt="9" custScaleY="54617" custLinFactNeighborX="16089" custLinFactNeighborY="-55356">
        <dgm:presLayoutVars>
          <dgm:bulletEnabled val="1"/>
        </dgm:presLayoutVars>
      </dgm:prSet>
      <dgm:spPr/>
    </dgm:pt>
    <dgm:pt modelId="{AA814A8F-7D83-43E2-BE3B-6D311C4B5DB6}" type="pres">
      <dgm:prSet presAssocID="{4EE0C831-36B1-43DC-8B5C-EB2320FB510B}" presName="sibTrans" presStyleCnt="0"/>
      <dgm:spPr/>
    </dgm:pt>
    <dgm:pt modelId="{AB95E111-E372-4D5D-B5FE-1DF0FDE00959}" type="pres">
      <dgm:prSet presAssocID="{351D13DC-BDCF-46CC-A29F-7266FD51BA6C}" presName="node" presStyleLbl="node1" presStyleIdx="2" presStyleCnt="9" custScaleX="126388" custScaleY="60088" custLinFactNeighborX="8966" custLinFactNeighborY="-57263">
        <dgm:presLayoutVars>
          <dgm:bulletEnabled val="1"/>
        </dgm:presLayoutVars>
      </dgm:prSet>
      <dgm:spPr/>
    </dgm:pt>
    <dgm:pt modelId="{8F5F773A-6618-4DE9-A0B0-1D5A9FAA6D9F}" type="pres">
      <dgm:prSet presAssocID="{AE7778C9-B809-4C14-9D08-F139E22F11FA}" presName="sibTrans" presStyleCnt="0"/>
      <dgm:spPr/>
    </dgm:pt>
    <dgm:pt modelId="{D467B795-778B-4496-B8B9-FDDF2ED78AD9}" type="pres">
      <dgm:prSet presAssocID="{70F6C517-F016-4677-BEE6-BF6E1CE4ACDE}" presName="node" presStyleLbl="node1" presStyleIdx="3" presStyleCnt="9" custScaleX="114849" custScaleY="48518" custLinFactNeighborX="485" custLinFactNeighborY="-63848">
        <dgm:presLayoutVars>
          <dgm:bulletEnabled val="1"/>
        </dgm:presLayoutVars>
      </dgm:prSet>
      <dgm:spPr/>
    </dgm:pt>
    <dgm:pt modelId="{AF0B5003-73F3-4DF7-97B3-F5067F95E5BC}" type="pres">
      <dgm:prSet presAssocID="{A8E9B048-EA49-4247-A7DA-B2262079E590}" presName="sibTrans" presStyleCnt="0"/>
      <dgm:spPr/>
    </dgm:pt>
    <dgm:pt modelId="{BED99D6B-8495-4A81-9C8D-776A552F281D}" type="pres">
      <dgm:prSet presAssocID="{11145DB9-2EA6-4B46-A4C7-F0B53C5DBBF3}" presName="node" presStyleLbl="node1" presStyleIdx="4" presStyleCnt="9" custScaleX="112093" custScaleY="46528" custLinFactNeighborX="-2989" custLinFactNeighborY="-61344">
        <dgm:presLayoutVars>
          <dgm:bulletEnabled val="1"/>
        </dgm:presLayoutVars>
      </dgm:prSet>
      <dgm:spPr/>
    </dgm:pt>
    <dgm:pt modelId="{6D0BBD32-1801-4E34-AB93-93D3203644AE}" type="pres">
      <dgm:prSet presAssocID="{DB86925A-0C8D-4191-89F6-832173653280}" presName="sibTrans" presStyleCnt="0"/>
      <dgm:spPr/>
    </dgm:pt>
    <dgm:pt modelId="{40B82299-357F-4A7A-BAF7-EDEB844368BA}" type="pres">
      <dgm:prSet presAssocID="{67A58295-DCD5-43A2-A560-5C0ACF353638}" presName="node" presStyleLbl="node1" presStyleIdx="5" presStyleCnt="9" custScaleY="43435" custLinFactNeighborX="6048" custLinFactNeighborY="-66416">
        <dgm:presLayoutVars>
          <dgm:bulletEnabled val="1"/>
        </dgm:presLayoutVars>
      </dgm:prSet>
      <dgm:spPr/>
    </dgm:pt>
    <dgm:pt modelId="{BC70669A-6000-45CC-B585-5343301AA1F0}" type="pres">
      <dgm:prSet presAssocID="{A133F9E8-97A5-4FE6-8F08-46CC219668C3}" presName="sibTrans" presStyleCnt="0"/>
      <dgm:spPr/>
    </dgm:pt>
    <dgm:pt modelId="{FF6A7049-8DC5-4759-8063-E9749494A6D2}" type="pres">
      <dgm:prSet presAssocID="{BD1F3092-91AC-4E2B-8A0D-E39CCC8B539D}" presName="node" presStyleLbl="node1" presStyleIdx="6" presStyleCnt="9" custScaleY="49122" custLinFactNeighborX="7633" custLinFactNeighborY="-64215">
        <dgm:presLayoutVars>
          <dgm:bulletEnabled val="1"/>
        </dgm:presLayoutVars>
      </dgm:prSet>
      <dgm:spPr/>
    </dgm:pt>
    <dgm:pt modelId="{D31AC800-46DE-4D2E-B3D9-CD1B3D574D2B}" type="pres">
      <dgm:prSet presAssocID="{134FC5C0-B819-47C7-8583-B37B84AC2552}" presName="sibTrans" presStyleCnt="0"/>
      <dgm:spPr/>
    </dgm:pt>
    <dgm:pt modelId="{D05C5428-FCEF-495D-8F14-C4B7DFBF0C50}" type="pres">
      <dgm:prSet presAssocID="{10BA840E-A10F-4E68-BFDC-4B6D1C6638E7}" presName="node" presStyleLbl="node1" presStyleIdx="7" presStyleCnt="9" custAng="0" custScaleY="40126" custLinFactNeighborX="6872" custLinFactNeighborY="-62730">
        <dgm:presLayoutVars>
          <dgm:bulletEnabled val="1"/>
        </dgm:presLayoutVars>
      </dgm:prSet>
      <dgm:spPr/>
    </dgm:pt>
    <dgm:pt modelId="{82718B5E-8E31-49B6-AB16-A4D8C2124BDD}" type="pres">
      <dgm:prSet presAssocID="{4F0F8B45-A484-45E6-ABF1-9377199C1388}" presName="sibTrans" presStyleCnt="0"/>
      <dgm:spPr/>
    </dgm:pt>
    <dgm:pt modelId="{2BF031D9-338C-4056-9998-7ADEB698ED25}" type="pres">
      <dgm:prSet presAssocID="{5AB04F8A-88A0-426E-94EE-9EAE286377E2}" presName="node" presStyleLbl="node1" presStyleIdx="8" presStyleCnt="9" custAng="0" custScaleX="125371" custScaleY="40126" custLinFactNeighborX="4440" custLinFactNeighborY="-68098">
        <dgm:presLayoutVars>
          <dgm:bulletEnabled val="1"/>
        </dgm:presLayoutVars>
      </dgm:prSet>
      <dgm:spPr/>
    </dgm:pt>
  </dgm:ptLst>
  <dgm:cxnLst>
    <dgm:cxn modelId="{CE925801-1EB5-42B3-8FE0-B195C9957E63}" type="presOf" srcId="{08F77001-ED32-4516-9E34-00C4DCE62635}" destId="{E1C92E75-554D-4410-9459-6C53C088B7EF}" srcOrd="0" destOrd="0" presId="urn:microsoft.com/office/officeart/2005/8/layout/default"/>
    <dgm:cxn modelId="{388E7207-BBC3-4352-AC54-78EEDDF1A328}" srcId="{D403FE30-4898-42B7-90C8-CCF820214ADE}" destId="{08F77001-ED32-4516-9E34-00C4DCE62635}" srcOrd="1" destOrd="0" parTransId="{7C80DFAD-424F-424E-8F2B-44E83C029BD0}" sibTransId="{4EE0C831-36B1-43DC-8B5C-EB2320FB510B}"/>
    <dgm:cxn modelId="{118CE30F-3B5B-43C6-B293-65175B71EA2C}" type="presOf" srcId="{D403FE30-4898-42B7-90C8-CCF820214ADE}" destId="{19CE3D49-485C-4345-88F1-A10819B53724}" srcOrd="0" destOrd="0" presId="urn:microsoft.com/office/officeart/2005/8/layout/default"/>
    <dgm:cxn modelId="{C2D88E1F-510C-45A6-8730-75224F25642E}" type="presOf" srcId="{10190D5D-8BF8-405F-8C48-BC1B6CEE7B83}" destId="{FE4B797F-105D-4F30-8384-8BEC563F13E0}" srcOrd="0" destOrd="0" presId="urn:microsoft.com/office/officeart/2005/8/layout/default"/>
    <dgm:cxn modelId="{B3646421-4255-4D96-B0D2-FAC883A91734}" type="presOf" srcId="{70F6C517-F016-4677-BEE6-BF6E1CE4ACDE}" destId="{D467B795-778B-4496-B8B9-FDDF2ED78AD9}" srcOrd="0" destOrd="0" presId="urn:microsoft.com/office/officeart/2005/8/layout/default"/>
    <dgm:cxn modelId="{2F399A4D-6FC9-4E5E-B669-C5A9898E60AD}" type="presOf" srcId="{5AB04F8A-88A0-426E-94EE-9EAE286377E2}" destId="{2BF031D9-338C-4056-9998-7ADEB698ED25}" srcOrd="0" destOrd="0" presId="urn:microsoft.com/office/officeart/2005/8/layout/default"/>
    <dgm:cxn modelId="{7261B552-A089-4311-892E-47C60253EB6D}" type="presOf" srcId="{11145DB9-2EA6-4B46-A4C7-F0B53C5DBBF3}" destId="{BED99D6B-8495-4A81-9C8D-776A552F281D}" srcOrd="0" destOrd="0" presId="urn:microsoft.com/office/officeart/2005/8/layout/default"/>
    <dgm:cxn modelId="{E6199556-7DF8-465C-B1AC-0597B22CBDB2}" type="presOf" srcId="{BD1F3092-91AC-4E2B-8A0D-E39CCC8B539D}" destId="{FF6A7049-8DC5-4759-8063-E9749494A6D2}" srcOrd="0" destOrd="0" presId="urn:microsoft.com/office/officeart/2005/8/layout/default"/>
    <dgm:cxn modelId="{36DCE568-39D3-4320-B1B5-8D8EED2BB77E}" type="presOf" srcId="{67A58295-DCD5-43A2-A560-5C0ACF353638}" destId="{40B82299-357F-4A7A-BAF7-EDEB844368BA}" srcOrd="0" destOrd="0" presId="urn:microsoft.com/office/officeart/2005/8/layout/default"/>
    <dgm:cxn modelId="{82B9C06D-C1B7-4734-AFC8-EB5D2AC6C9D3}" srcId="{D403FE30-4898-42B7-90C8-CCF820214ADE}" destId="{351D13DC-BDCF-46CC-A29F-7266FD51BA6C}" srcOrd="2" destOrd="0" parTransId="{110D70D3-DB65-4EED-868E-CB314D965CE7}" sibTransId="{AE7778C9-B809-4C14-9D08-F139E22F11FA}"/>
    <dgm:cxn modelId="{BACC8E78-1B2D-4DA1-B0CC-C9DAAD434C85}" srcId="{D403FE30-4898-42B7-90C8-CCF820214ADE}" destId="{67A58295-DCD5-43A2-A560-5C0ACF353638}" srcOrd="5" destOrd="0" parTransId="{09BD02CA-2B9A-48EC-ACA7-04097D02D6F7}" sibTransId="{A133F9E8-97A5-4FE6-8F08-46CC219668C3}"/>
    <dgm:cxn modelId="{959B7D80-089A-4EFA-B2AC-80D1615873FE}" srcId="{D403FE30-4898-42B7-90C8-CCF820214ADE}" destId="{BD1F3092-91AC-4E2B-8A0D-E39CCC8B539D}" srcOrd="6" destOrd="0" parTransId="{E7C17AF7-FF22-43C4-AAC7-5AE8F8018067}" sibTransId="{134FC5C0-B819-47C7-8583-B37B84AC2552}"/>
    <dgm:cxn modelId="{BDF09D82-4EB7-4CF8-BCF0-02FF64742C6B}" srcId="{D403FE30-4898-42B7-90C8-CCF820214ADE}" destId="{70F6C517-F016-4677-BEE6-BF6E1CE4ACDE}" srcOrd="3" destOrd="0" parTransId="{351E3D1B-21F4-4A8F-9789-05051A824BE2}" sibTransId="{A8E9B048-EA49-4247-A7DA-B2262079E590}"/>
    <dgm:cxn modelId="{0CD984A6-B17E-403B-9883-1D1048BB8C2A}" type="presOf" srcId="{351D13DC-BDCF-46CC-A29F-7266FD51BA6C}" destId="{AB95E111-E372-4D5D-B5FE-1DF0FDE00959}" srcOrd="0" destOrd="0" presId="urn:microsoft.com/office/officeart/2005/8/layout/default"/>
    <dgm:cxn modelId="{CE67E3B6-4B43-4DE3-ACE8-8F74A2B03955}" srcId="{D403FE30-4898-42B7-90C8-CCF820214ADE}" destId="{10BA840E-A10F-4E68-BFDC-4B6D1C6638E7}" srcOrd="7" destOrd="0" parTransId="{D6348521-76B7-418C-A0CC-39E07DE7ACA9}" sibTransId="{4F0F8B45-A484-45E6-ABF1-9377199C1388}"/>
    <dgm:cxn modelId="{374023C3-476C-4D8C-9155-8C0D2C1B01CA}" srcId="{D403FE30-4898-42B7-90C8-CCF820214ADE}" destId="{11145DB9-2EA6-4B46-A4C7-F0B53C5DBBF3}" srcOrd="4" destOrd="0" parTransId="{1AFF5211-554A-4FED-9858-33CD6CEB09ED}" sibTransId="{DB86925A-0C8D-4191-89F6-832173653280}"/>
    <dgm:cxn modelId="{EF2366D6-077A-4E92-BAE5-E45F2FACC9F8}" type="presOf" srcId="{10BA840E-A10F-4E68-BFDC-4B6D1C6638E7}" destId="{D05C5428-FCEF-495D-8F14-C4B7DFBF0C50}" srcOrd="0" destOrd="0" presId="urn:microsoft.com/office/officeart/2005/8/layout/default"/>
    <dgm:cxn modelId="{D1EB1FE3-0DF9-4B06-8A40-2CBFE9238FA2}" srcId="{D403FE30-4898-42B7-90C8-CCF820214ADE}" destId="{10190D5D-8BF8-405F-8C48-BC1B6CEE7B83}" srcOrd="0" destOrd="0" parTransId="{FBC5C09E-6844-463C-8017-D1B8AE4A563F}" sibTransId="{D850FFA1-4E0F-4B20-B7E8-A1C779D54AB6}"/>
    <dgm:cxn modelId="{91C6C7F7-F41A-4081-8312-0CC4F0C406F5}" srcId="{D403FE30-4898-42B7-90C8-CCF820214ADE}" destId="{5AB04F8A-88A0-426E-94EE-9EAE286377E2}" srcOrd="8" destOrd="0" parTransId="{BE22D761-EBBF-47C1-8B4B-52D3B4588977}" sibTransId="{50242594-6379-4AB1-BA1D-AB21E3CD1619}"/>
    <dgm:cxn modelId="{3AF3933E-5890-44BE-8E5E-0EAC9FD64653}" type="presParOf" srcId="{19CE3D49-485C-4345-88F1-A10819B53724}" destId="{FE4B797F-105D-4F30-8384-8BEC563F13E0}" srcOrd="0" destOrd="0" presId="urn:microsoft.com/office/officeart/2005/8/layout/default"/>
    <dgm:cxn modelId="{4D71C7F9-C591-4B18-B2A3-2177117EAA0D}" type="presParOf" srcId="{19CE3D49-485C-4345-88F1-A10819B53724}" destId="{920DB34E-8845-4679-BB1D-0C2551265BA7}" srcOrd="1" destOrd="0" presId="urn:microsoft.com/office/officeart/2005/8/layout/default"/>
    <dgm:cxn modelId="{86746157-66FF-414E-B024-86778D8A47A2}" type="presParOf" srcId="{19CE3D49-485C-4345-88F1-A10819B53724}" destId="{E1C92E75-554D-4410-9459-6C53C088B7EF}" srcOrd="2" destOrd="0" presId="urn:microsoft.com/office/officeart/2005/8/layout/default"/>
    <dgm:cxn modelId="{C3F61EA1-DD6F-4A5E-8491-2AC03678FC54}" type="presParOf" srcId="{19CE3D49-485C-4345-88F1-A10819B53724}" destId="{AA814A8F-7D83-43E2-BE3B-6D311C4B5DB6}" srcOrd="3" destOrd="0" presId="urn:microsoft.com/office/officeart/2005/8/layout/default"/>
    <dgm:cxn modelId="{5168DF1F-926A-4439-902D-FB7CF655677D}" type="presParOf" srcId="{19CE3D49-485C-4345-88F1-A10819B53724}" destId="{AB95E111-E372-4D5D-B5FE-1DF0FDE00959}" srcOrd="4" destOrd="0" presId="urn:microsoft.com/office/officeart/2005/8/layout/default"/>
    <dgm:cxn modelId="{D27C5E5B-AD6E-4E3B-B966-67AF5E627D98}" type="presParOf" srcId="{19CE3D49-485C-4345-88F1-A10819B53724}" destId="{8F5F773A-6618-4DE9-A0B0-1D5A9FAA6D9F}" srcOrd="5" destOrd="0" presId="urn:microsoft.com/office/officeart/2005/8/layout/default"/>
    <dgm:cxn modelId="{519E0D2B-45FC-4A82-B5C9-3236031957F8}" type="presParOf" srcId="{19CE3D49-485C-4345-88F1-A10819B53724}" destId="{D467B795-778B-4496-B8B9-FDDF2ED78AD9}" srcOrd="6" destOrd="0" presId="urn:microsoft.com/office/officeart/2005/8/layout/default"/>
    <dgm:cxn modelId="{99A2DB80-8B9B-4A9A-9836-F445AB6E8337}" type="presParOf" srcId="{19CE3D49-485C-4345-88F1-A10819B53724}" destId="{AF0B5003-73F3-4DF7-97B3-F5067F95E5BC}" srcOrd="7" destOrd="0" presId="urn:microsoft.com/office/officeart/2005/8/layout/default"/>
    <dgm:cxn modelId="{7662D370-0D00-4FF9-92CE-EB867D24CA8F}" type="presParOf" srcId="{19CE3D49-485C-4345-88F1-A10819B53724}" destId="{BED99D6B-8495-4A81-9C8D-776A552F281D}" srcOrd="8" destOrd="0" presId="urn:microsoft.com/office/officeart/2005/8/layout/default"/>
    <dgm:cxn modelId="{114386FF-F7B1-4662-A315-DCAFA222C5D6}" type="presParOf" srcId="{19CE3D49-485C-4345-88F1-A10819B53724}" destId="{6D0BBD32-1801-4E34-AB93-93D3203644AE}" srcOrd="9" destOrd="0" presId="urn:microsoft.com/office/officeart/2005/8/layout/default"/>
    <dgm:cxn modelId="{CFB27C42-4AD5-4C5D-8144-5D68C066712C}" type="presParOf" srcId="{19CE3D49-485C-4345-88F1-A10819B53724}" destId="{40B82299-357F-4A7A-BAF7-EDEB844368BA}" srcOrd="10" destOrd="0" presId="urn:microsoft.com/office/officeart/2005/8/layout/default"/>
    <dgm:cxn modelId="{5C9EBEB5-372C-4E81-9C4F-915934C9D221}" type="presParOf" srcId="{19CE3D49-485C-4345-88F1-A10819B53724}" destId="{BC70669A-6000-45CC-B585-5343301AA1F0}" srcOrd="11" destOrd="0" presId="urn:microsoft.com/office/officeart/2005/8/layout/default"/>
    <dgm:cxn modelId="{7AB509EE-01F8-463D-9991-F6F083029A35}" type="presParOf" srcId="{19CE3D49-485C-4345-88F1-A10819B53724}" destId="{FF6A7049-8DC5-4759-8063-E9749494A6D2}" srcOrd="12" destOrd="0" presId="urn:microsoft.com/office/officeart/2005/8/layout/default"/>
    <dgm:cxn modelId="{9466BB35-0F56-48BF-8FB6-2496B7FE3309}" type="presParOf" srcId="{19CE3D49-485C-4345-88F1-A10819B53724}" destId="{D31AC800-46DE-4D2E-B3D9-CD1B3D574D2B}" srcOrd="13" destOrd="0" presId="urn:microsoft.com/office/officeart/2005/8/layout/default"/>
    <dgm:cxn modelId="{B693BB1D-E764-483D-88D6-9F233FCBAB2A}" type="presParOf" srcId="{19CE3D49-485C-4345-88F1-A10819B53724}" destId="{D05C5428-FCEF-495D-8F14-C4B7DFBF0C50}" srcOrd="14" destOrd="0" presId="urn:microsoft.com/office/officeart/2005/8/layout/default"/>
    <dgm:cxn modelId="{0C5B66D8-A386-4F83-BBAD-D148AF5FE7BD}" type="presParOf" srcId="{19CE3D49-485C-4345-88F1-A10819B53724}" destId="{82718B5E-8E31-49B6-AB16-A4D8C2124BDD}" srcOrd="15" destOrd="0" presId="urn:microsoft.com/office/officeart/2005/8/layout/default"/>
    <dgm:cxn modelId="{02C40EBE-7606-4B61-8662-B3A2BB4CF49E}" type="presParOf" srcId="{19CE3D49-485C-4345-88F1-A10819B53724}" destId="{2BF031D9-338C-4056-9998-7ADEB698ED25}" srcOrd="1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4B797F-105D-4F30-8384-8BEC563F13E0}">
      <dsp:nvSpPr>
        <dsp:cNvPr id="0" name=""/>
        <dsp:cNvSpPr/>
      </dsp:nvSpPr>
      <dsp:spPr>
        <a:xfrm>
          <a:off x="392025" y="53216"/>
          <a:ext cx="3546975" cy="986559"/>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IN" sz="28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1.Abstraction</a:t>
          </a:r>
        </a:p>
      </dsp:txBody>
      <dsp:txXfrm>
        <a:off x="392025" y="53216"/>
        <a:ext cx="3546975" cy="986559"/>
      </dsp:txXfrm>
    </dsp:sp>
    <dsp:sp modelId="{E1C92E75-554D-4410-9459-6C53C088B7EF}">
      <dsp:nvSpPr>
        <dsp:cNvPr id="0" name=""/>
        <dsp:cNvSpPr/>
      </dsp:nvSpPr>
      <dsp:spPr>
        <a:xfrm>
          <a:off x="4287624" y="132134"/>
          <a:ext cx="2833183" cy="928439"/>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IN" sz="28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2.Modularity</a:t>
          </a:r>
        </a:p>
      </dsp:txBody>
      <dsp:txXfrm>
        <a:off x="4287624" y="132134"/>
        <a:ext cx="2833183" cy="928439"/>
      </dsp:txXfrm>
    </dsp:sp>
    <dsp:sp modelId="{AB95E111-E372-4D5D-B5FE-1DF0FDE00959}">
      <dsp:nvSpPr>
        <dsp:cNvPr id="0" name=""/>
        <dsp:cNvSpPr/>
      </dsp:nvSpPr>
      <dsp:spPr>
        <a:xfrm>
          <a:off x="6949794" y="53216"/>
          <a:ext cx="3580803" cy="1021441"/>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IN" sz="28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3.Encapsulation</a:t>
          </a:r>
        </a:p>
      </dsp:txBody>
      <dsp:txXfrm>
        <a:off x="6949794" y="53216"/>
        <a:ext cx="3580803" cy="1021441"/>
      </dsp:txXfrm>
    </dsp:sp>
    <dsp:sp modelId="{D467B795-778B-4496-B8B9-FDDF2ED78AD9}">
      <dsp:nvSpPr>
        <dsp:cNvPr id="0" name=""/>
        <dsp:cNvSpPr/>
      </dsp:nvSpPr>
      <dsp:spPr>
        <a:xfrm>
          <a:off x="364288" y="1246037"/>
          <a:ext cx="3253882" cy="824762"/>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IN" sz="28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4.Functional Independence</a:t>
          </a:r>
        </a:p>
      </dsp:txBody>
      <dsp:txXfrm>
        <a:off x="364288" y="1246037"/>
        <a:ext cx="3253882" cy="824762"/>
      </dsp:txXfrm>
    </dsp:sp>
    <dsp:sp modelId="{BED99D6B-8495-4A81-9C8D-776A552F281D}">
      <dsp:nvSpPr>
        <dsp:cNvPr id="0" name=""/>
        <dsp:cNvSpPr/>
      </dsp:nvSpPr>
      <dsp:spPr>
        <a:xfrm>
          <a:off x="3803064" y="1305517"/>
          <a:ext cx="3175800" cy="790934"/>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IN" sz="28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5.Refinement</a:t>
          </a:r>
        </a:p>
      </dsp:txBody>
      <dsp:txXfrm>
        <a:off x="3803064" y="1305517"/>
        <a:ext cx="3175800" cy="790934"/>
      </dsp:txXfrm>
    </dsp:sp>
    <dsp:sp modelId="{40B82299-357F-4A7A-BAF7-EDEB844368BA}">
      <dsp:nvSpPr>
        <dsp:cNvPr id="0" name=""/>
        <dsp:cNvSpPr/>
      </dsp:nvSpPr>
      <dsp:spPr>
        <a:xfrm>
          <a:off x="7518218" y="1245587"/>
          <a:ext cx="2833183" cy="738355"/>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IN" sz="28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6.Refactoring</a:t>
          </a:r>
        </a:p>
      </dsp:txBody>
      <dsp:txXfrm>
        <a:off x="7518218" y="1245587"/>
        <a:ext cx="2833183" cy="738355"/>
      </dsp:txXfrm>
    </dsp:sp>
    <dsp:sp modelId="{FF6A7049-8DC5-4759-8063-E9749494A6D2}">
      <dsp:nvSpPr>
        <dsp:cNvPr id="0" name=""/>
        <dsp:cNvSpPr/>
      </dsp:nvSpPr>
      <dsp:spPr>
        <a:xfrm>
          <a:off x="589059" y="2347879"/>
          <a:ext cx="2833183" cy="835029"/>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IN" sz="28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7.Architecture</a:t>
          </a:r>
        </a:p>
      </dsp:txBody>
      <dsp:txXfrm>
        <a:off x="589059" y="2347879"/>
        <a:ext cx="2833183" cy="835029"/>
      </dsp:txXfrm>
    </dsp:sp>
    <dsp:sp modelId="{D05C5428-FCEF-495D-8F14-C4B7DFBF0C50}">
      <dsp:nvSpPr>
        <dsp:cNvPr id="0" name=""/>
        <dsp:cNvSpPr/>
      </dsp:nvSpPr>
      <dsp:spPr>
        <a:xfrm>
          <a:off x="3684000" y="2449585"/>
          <a:ext cx="2833183" cy="682105"/>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IN" sz="28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8.Patterns</a:t>
          </a:r>
        </a:p>
      </dsp:txBody>
      <dsp:txXfrm>
        <a:off x="3684000" y="2449585"/>
        <a:ext cx="2833183" cy="682105"/>
      </dsp:txXfrm>
    </dsp:sp>
    <dsp:sp modelId="{2BF031D9-338C-4056-9998-7ADEB698ED25}">
      <dsp:nvSpPr>
        <dsp:cNvPr id="0" name=""/>
        <dsp:cNvSpPr/>
      </dsp:nvSpPr>
      <dsp:spPr>
        <a:xfrm>
          <a:off x="6731598" y="2358334"/>
          <a:ext cx="3551990" cy="682105"/>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IN" sz="28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9.Design classes</a:t>
          </a:r>
        </a:p>
      </dsp:txBody>
      <dsp:txXfrm>
        <a:off x="6731598" y="2358334"/>
        <a:ext cx="3551990" cy="682105"/>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3D4D21-ABB3-7540-9FFE-99169D39AC9A}" type="datetimeFigureOut">
              <a:rPr lang="en-US" smtClean="0"/>
              <a:t>9/1/26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E18501-599B-354F-B6F3-48FEA72F4214}" type="slidenum">
              <a:rPr lang="en-US" smtClean="0"/>
              <a:t>‹#›</a:t>
            </a:fld>
            <a:endParaRPr lang="en-US"/>
          </a:p>
        </p:txBody>
      </p:sp>
    </p:spTree>
    <p:extLst>
      <p:ext uri="{BB962C8B-B14F-4D97-AF65-F5344CB8AC3E}">
        <p14:creationId xmlns:p14="http://schemas.microsoft.com/office/powerpoint/2010/main" val="23164511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4740637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5D9EA73D-7BE0-4B5E-A372-E006B392B369}" type="slidenum">
              <a:rPr lang="en-IN" smtClean="0"/>
              <a:t>2</a:t>
            </a:fld>
            <a:endParaRPr lang="en-IN"/>
          </a:p>
        </p:txBody>
      </p:sp>
    </p:spTree>
    <p:extLst>
      <p:ext uri="{BB962C8B-B14F-4D97-AF65-F5344CB8AC3E}">
        <p14:creationId xmlns:p14="http://schemas.microsoft.com/office/powerpoint/2010/main" val="36149940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7662414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8719423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2883646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9987684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119126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29417822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22201747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2545602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41138349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25078094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35148658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2929879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42093127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7651502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41523261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23604689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33282927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20184962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34246130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29040596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12062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7_Title Slide" preserve="1">
  <p:cSld name="7_Title Slide">
    <p:spTree>
      <p:nvGrpSpPr>
        <p:cNvPr id="1" name="Shape 12"/>
        <p:cNvGrpSpPr/>
        <p:nvPr/>
      </p:nvGrpSpPr>
      <p:grpSpPr>
        <a:xfrm>
          <a:off x="0" y="0"/>
          <a:ext cx="0" cy="0"/>
          <a:chOff x="0" y="0"/>
          <a:chExt cx="0" cy="0"/>
        </a:xfrm>
      </p:grpSpPr>
    </p:spTree>
    <p:extLst>
      <p:ext uri="{BB962C8B-B14F-4D97-AF65-F5344CB8AC3E}">
        <p14:creationId xmlns:p14="http://schemas.microsoft.com/office/powerpoint/2010/main" val="177906923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ustom Layout" preserve="1">
  <p:cSld name="Custom Layout">
    <p:spTree>
      <p:nvGrpSpPr>
        <p:cNvPr id="1" name="Shape 13"/>
        <p:cNvGrpSpPr/>
        <p:nvPr/>
      </p:nvGrpSpPr>
      <p:grpSpPr>
        <a:xfrm>
          <a:off x="0" y="0"/>
          <a:ext cx="0" cy="0"/>
          <a:chOff x="0" y="0"/>
          <a:chExt cx="0" cy="0"/>
        </a:xfrm>
      </p:grpSpPr>
      <p:sp>
        <p:nvSpPr>
          <p:cNvPr id="14" name="Google Shape;14;p8"/>
          <p:cNvSpPr>
            <a:spLocks noGrp="1"/>
          </p:cNvSpPr>
          <p:nvPr>
            <p:ph type="pic" idx="2"/>
          </p:nvPr>
        </p:nvSpPr>
        <p:spPr>
          <a:xfrm>
            <a:off x="1055687" y="1268413"/>
            <a:ext cx="4319586" cy="5040312"/>
          </a:xfrm>
          <a:prstGeom prst="rect">
            <a:avLst/>
          </a:prstGeom>
          <a:solidFill>
            <a:srgbClr val="F2F2F2"/>
          </a:solidFill>
          <a:ln>
            <a:noFill/>
          </a:ln>
        </p:spPr>
        <p:txBody>
          <a:bodyPr/>
          <a:lstStyle/>
          <a:p>
            <a:endParaRPr lang="en-IN"/>
          </a:p>
        </p:txBody>
      </p:sp>
    </p:spTree>
    <p:extLst>
      <p:ext uri="{BB962C8B-B14F-4D97-AF65-F5344CB8AC3E}">
        <p14:creationId xmlns:p14="http://schemas.microsoft.com/office/powerpoint/2010/main" val="12947318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Blank" type="blank" preserve="1">
  <p:cSld name="1_Blank">
    <p:spTree>
      <p:nvGrpSpPr>
        <p:cNvPr id="1" name="Shape 15"/>
        <p:cNvGrpSpPr/>
        <p:nvPr/>
      </p:nvGrpSpPr>
      <p:grpSpPr>
        <a:xfrm>
          <a:off x="0" y="0"/>
          <a:ext cx="0" cy="0"/>
          <a:chOff x="0" y="0"/>
          <a:chExt cx="0" cy="0"/>
        </a:xfrm>
      </p:grpSpPr>
    </p:spTree>
    <p:extLst>
      <p:ext uri="{BB962C8B-B14F-4D97-AF65-F5344CB8AC3E}">
        <p14:creationId xmlns:p14="http://schemas.microsoft.com/office/powerpoint/2010/main" val="30339428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Custom Layout" preserve="1">
  <p:cSld name="1_Custom Layout">
    <p:spTree>
      <p:nvGrpSpPr>
        <p:cNvPr id="1" name="Shape 16"/>
        <p:cNvGrpSpPr/>
        <p:nvPr/>
      </p:nvGrpSpPr>
      <p:grpSpPr>
        <a:xfrm>
          <a:off x="0" y="0"/>
          <a:ext cx="0" cy="0"/>
          <a:chOff x="0" y="0"/>
          <a:chExt cx="0" cy="0"/>
        </a:xfrm>
      </p:grpSpPr>
      <p:sp>
        <p:nvSpPr>
          <p:cNvPr id="17" name="Google Shape;17;p10"/>
          <p:cNvSpPr>
            <a:spLocks noGrp="1"/>
          </p:cNvSpPr>
          <p:nvPr>
            <p:ph type="pic" idx="2"/>
          </p:nvPr>
        </p:nvSpPr>
        <p:spPr>
          <a:xfrm>
            <a:off x="0" y="0"/>
            <a:ext cx="12192000" cy="6858000"/>
          </a:xfrm>
          <a:prstGeom prst="rect">
            <a:avLst/>
          </a:prstGeom>
          <a:solidFill>
            <a:srgbClr val="F2F2F2"/>
          </a:solidFill>
          <a:ln>
            <a:noFill/>
          </a:ln>
        </p:spPr>
        <p:txBody>
          <a:bodyPr/>
          <a:lstStyle/>
          <a:p>
            <a:endParaRPr lang="en-IN"/>
          </a:p>
        </p:txBody>
      </p:sp>
    </p:spTree>
    <p:extLst>
      <p:ext uri="{BB962C8B-B14F-4D97-AF65-F5344CB8AC3E}">
        <p14:creationId xmlns:p14="http://schemas.microsoft.com/office/powerpoint/2010/main" val="30843669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5_Title Slide" preserve="1">
  <p:cSld name="25_Title Slide">
    <p:spTree>
      <p:nvGrpSpPr>
        <p:cNvPr id="1" name="Shape 18"/>
        <p:cNvGrpSpPr/>
        <p:nvPr/>
      </p:nvGrpSpPr>
      <p:grpSpPr>
        <a:xfrm>
          <a:off x="0" y="0"/>
          <a:ext cx="0" cy="0"/>
          <a:chOff x="0" y="0"/>
          <a:chExt cx="0" cy="0"/>
        </a:xfrm>
      </p:grpSpPr>
    </p:spTree>
    <p:extLst>
      <p:ext uri="{BB962C8B-B14F-4D97-AF65-F5344CB8AC3E}">
        <p14:creationId xmlns:p14="http://schemas.microsoft.com/office/powerpoint/2010/main" val="3050767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8_Title Slide" preserve="1">
  <p:cSld name="28_Title Slide">
    <p:spTree>
      <p:nvGrpSpPr>
        <p:cNvPr id="1" name="Shape 19"/>
        <p:cNvGrpSpPr/>
        <p:nvPr/>
      </p:nvGrpSpPr>
      <p:grpSpPr>
        <a:xfrm>
          <a:off x="0" y="0"/>
          <a:ext cx="0" cy="0"/>
          <a:chOff x="0" y="0"/>
          <a:chExt cx="0" cy="0"/>
        </a:xfrm>
      </p:grpSpPr>
    </p:spTree>
    <p:extLst>
      <p:ext uri="{BB962C8B-B14F-4D97-AF65-F5344CB8AC3E}">
        <p14:creationId xmlns:p14="http://schemas.microsoft.com/office/powerpoint/2010/main" val="12019451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9_Title Slide" preserve="1">
  <p:cSld name="29_Title Slide">
    <p:spTree>
      <p:nvGrpSpPr>
        <p:cNvPr id="1" name="Shape 20"/>
        <p:cNvGrpSpPr/>
        <p:nvPr/>
      </p:nvGrpSpPr>
      <p:grpSpPr>
        <a:xfrm>
          <a:off x="0" y="0"/>
          <a:ext cx="0" cy="0"/>
          <a:chOff x="0" y="0"/>
          <a:chExt cx="0" cy="0"/>
        </a:xfrm>
      </p:grpSpPr>
    </p:spTree>
    <p:extLst>
      <p:ext uri="{BB962C8B-B14F-4D97-AF65-F5344CB8AC3E}">
        <p14:creationId xmlns:p14="http://schemas.microsoft.com/office/powerpoint/2010/main" val="41580986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30_Title Slide" preserve="1">
  <p:cSld name="30_Title Slide">
    <p:spTree>
      <p:nvGrpSpPr>
        <p:cNvPr id="1" name="Shape 21"/>
        <p:cNvGrpSpPr/>
        <p:nvPr/>
      </p:nvGrpSpPr>
      <p:grpSpPr>
        <a:xfrm>
          <a:off x="0" y="0"/>
          <a:ext cx="0" cy="0"/>
          <a:chOff x="0" y="0"/>
          <a:chExt cx="0" cy="0"/>
        </a:xfrm>
      </p:grpSpPr>
    </p:spTree>
    <p:extLst>
      <p:ext uri="{BB962C8B-B14F-4D97-AF65-F5344CB8AC3E}">
        <p14:creationId xmlns:p14="http://schemas.microsoft.com/office/powerpoint/2010/main" val="16637001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31_Title Slide" preserve="1">
  <p:cSld name="31_Title Slide">
    <p:spTree>
      <p:nvGrpSpPr>
        <p:cNvPr id="1" name="Shape 22"/>
        <p:cNvGrpSpPr/>
        <p:nvPr/>
      </p:nvGrpSpPr>
      <p:grpSpPr>
        <a:xfrm>
          <a:off x="0" y="0"/>
          <a:ext cx="0" cy="0"/>
          <a:chOff x="0" y="0"/>
          <a:chExt cx="0" cy="0"/>
        </a:xfrm>
      </p:grpSpPr>
      <p:sp>
        <p:nvSpPr>
          <p:cNvPr id="23" name="Google Shape;23;p15"/>
          <p:cNvSpPr>
            <a:spLocks noGrp="1"/>
          </p:cNvSpPr>
          <p:nvPr>
            <p:ph type="pic" idx="2"/>
          </p:nvPr>
        </p:nvSpPr>
        <p:spPr>
          <a:xfrm>
            <a:off x="-1" y="0"/>
            <a:ext cx="9696450" cy="4868863"/>
          </a:xfrm>
          <a:prstGeom prst="rect">
            <a:avLst/>
          </a:prstGeom>
          <a:solidFill>
            <a:srgbClr val="F2F2F2"/>
          </a:solidFill>
          <a:ln>
            <a:noFill/>
          </a:ln>
        </p:spPr>
        <p:txBody>
          <a:bodyPr/>
          <a:lstStyle/>
          <a:p>
            <a:endParaRPr lang="en-IN"/>
          </a:p>
        </p:txBody>
      </p:sp>
    </p:spTree>
    <p:extLst>
      <p:ext uri="{BB962C8B-B14F-4D97-AF65-F5344CB8AC3E}">
        <p14:creationId xmlns:p14="http://schemas.microsoft.com/office/powerpoint/2010/main" val="2605916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32_Title Slide" preserve="1">
  <p:cSld name="32_Title Slide">
    <p:spTree>
      <p:nvGrpSpPr>
        <p:cNvPr id="1" name="Shape 24"/>
        <p:cNvGrpSpPr/>
        <p:nvPr/>
      </p:nvGrpSpPr>
      <p:grpSpPr>
        <a:xfrm>
          <a:off x="0" y="0"/>
          <a:ext cx="0" cy="0"/>
          <a:chOff x="0" y="0"/>
          <a:chExt cx="0" cy="0"/>
        </a:xfrm>
      </p:grpSpPr>
      <p:sp>
        <p:nvSpPr>
          <p:cNvPr id="25" name="Google Shape;25;p16"/>
          <p:cNvSpPr/>
          <p:nvPr/>
        </p:nvSpPr>
        <p:spPr>
          <a:xfrm>
            <a:off x="6096000" y="3753134"/>
            <a:ext cx="6096000" cy="2555591"/>
          </a:xfrm>
          <a:prstGeom prst="rect">
            <a:avLst/>
          </a:prstGeom>
          <a:gradFill>
            <a:gsLst>
              <a:gs pos="0">
                <a:schemeClr val="accent2"/>
              </a:gs>
              <a:gs pos="96000">
                <a:srgbClr val="EA641A"/>
              </a:gs>
              <a:gs pos="100000">
                <a:srgbClr val="EA641A"/>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Plus Jakarta Sans"/>
              <a:ea typeface="Plus Jakarta Sans"/>
              <a:cs typeface="Plus Jakarta Sans"/>
              <a:sym typeface="Plus Jakarta Sans"/>
            </a:endParaRPr>
          </a:p>
        </p:txBody>
      </p:sp>
      <p:sp>
        <p:nvSpPr>
          <p:cNvPr id="26" name="Google Shape;26;p16"/>
          <p:cNvSpPr>
            <a:spLocks noGrp="1"/>
          </p:cNvSpPr>
          <p:nvPr>
            <p:ph type="pic" idx="2"/>
          </p:nvPr>
        </p:nvSpPr>
        <p:spPr>
          <a:xfrm>
            <a:off x="6816725" y="1268413"/>
            <a:ext cx="2381023" cy="2976935"/>
          </a:xfrm>
          <a:prstGeom prst="rect">
            <a:avLst/>
          </a:prstGeom>
          <a:solidFill>
            <a:srgbClr val="F2F2F2"/>
          </a:solidFill>
          <a:ln>
            <a:noFill/>
          </a:ln>
        </p:spPr>
        <p:txBody>
          <a:bodyPr/>
          <a:lstStyle/>
          <a:p>
            <a:endParaRPr lang="en-IN"/>
          </a:p>
        </p:txBody>
      </p:sp>
      <p:sp>
        <p:nvSpPr>
          <p:cNvPr id="27" name="Google Shape;27;p16"/>
          <p:cNvSpPr>
            <a:spLocks noGrp="1"/>
          </p:cNvSpPr>
          <p:nvPr>
            <p:ph type="pic" idx="3"/>
          </p:nvPr>
        </p:nvSpPr>
        <p:spPr>
          <a:xfrm>
            <a:off x="9476015" y="1268413"/>
            <a:ext cx="2381023" cy="2976935"/>
          </a:xfrm>
          <a:prstGeom prst="rect">
            <a:avLst/>
          </a:prstGeom>
          <a:solidFill>
            <a:srgbClr val="F2F2F2"/>
          </a:solidFill>
          <a:ln>
            <a:noFill/>
          </a:ln>
        </p:spPr>
        <p:txBody>
          <a:bodyPr/>
          <a:lstStyle/>
          <a:p>
            <a:endParaRPr lang="en-IN"/>
          </a:p>
        </p:txBody>
      </p:sp>
    </p:spTree>
    <p:extLst>
      <p:ext uri="{BB962C8B-B14F-4D97-AF65-F5344CB8AC3E}">
        <p14:creationId xmlns:p14="http://schemas.microsoft.com/office/powerpoint/2010/main" val="33513375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33_Title Slide" preserve="1">
  <p:cSld name="33_Title Slide">
    <p:spTree>
      <p:nvGrpSpPr>
        <p:cNvPr id="1" name="Shape 28"/>
        <p:cNvGrpSpPr/>
        <p:nvPr/>
      </p:nvGrpSpPr>
      <p:grpSpPr>
        <a:xfrm>
          <a:off x="0" y="0"/>
          <a:ext cx="0" cy="0"/>
          <a:chOff x="0" y="0"/>
          <a:chExt cx="0" cy="0"/>
        </a:xfrm>
      </p:grpSpPr>
      <p:sp>
        <p:nvSpPr>
          <p:cNvPr id="29" name="Google Shape;29;p17"/>
          <p:cNvSpPr>
            <a:spLocks noGrp="1"/>
          </p:cNvSpPr>
          <p:nvPr>
            <p:ph type="pic" idx="2"/>
          </p:nvPr>
        </p:nvSpPr>
        <p:spPr>
          <a:xfrm>
            <a:off x="-1" y="549274"/>
            <a:ext cx="4995082" cy="5759450"/>
          </a:xfrm>
          <a:prstGeom prst="rect">
            <a:avLst/>
          </a:prstGeom>
          <a:solidFill>
            <a:srgbClr val="F2F2F2"/>
          </a:solidFill>
          <a:ln>
            <a:noFill/>
          </a:ln>
        </p:spPr>
        <p:txBody>
          <a:bodyPr/>
          <a:lstStyle/>
          <a:p>
            <a:endParaRPr lang="en-IN"/>
          </a:p>
        </p:txBody>
      </p:sp>
    </p:spTree>
    <p:extLst>
      <p:ext uri="{BB962C8B-B14F-4D97-AF65-F5344CB8AC3E}">
        <p14:creationId xmlns:p14="http://schemas.microsoft.com/office/powerpoint/2010/main" val="17051177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34_Title Slide" preserve="1">
  <p:cSld name="34_Title Slide">
    <p:spTree>
      <p:nvGrpSpPr>
        <p:cNvPr id="1" name="Shape 30"/>
        <p:cNvGrpSpPr/>
        <p:nvPr/>
      </p:nvGrpSpPr>
      <p:grpSpPr>
        <a:xfrm>
          <a:off x="0" y="0"/>
          <a:ext cx="0" cy="0"/>
          <a:chOff x="0" y="0"/>
          <a:chExt cx="0" cy="0"/>
        </a:xfrm>
      </p:grpSpPr>
      <p:sp>
        <p:nvSpPr>
          <p:cNvPr id="31" name="Google Shape;31;p18"/>
          <p:cNvSpPr>
            <a:spLocks noGrp="1"/>
          </p:cNvSpPr>
          <p:nvPr>
            <p:ph type="pic" idx="2"/>
          </p:nvPr>
        </p:nvSpPr>
        <p:spPr>
          <a:xfrm>
            <a:off x="6095999" y="1270000"/>
            <a:ext cx="6096001" cy="4319588"/>
          </a:xfrm>
          <a:prstGeom prst="rect">
            <a:avLst/>
          </a:prstGeom>
          <a:solidFill>
            <a:srgbClr val="F2F2F2"/>
          </a:solidFill>
          <a:ln>
            <a:noFill/>
          </a:ln>
        </p:spPr>
        <p:txBody>
          <a:bodyPr/>
          <a:lstStyle/>
          <a:p>
            <a:endParaRPr lang="en-IN"/>
          </a:p>
        </p:txBody>
      </p:sp>
    </p:spTree>
    <p:extLst>
      <p:ext uri="{BB962C8B-B14F-4D97-AF65-F5344CB8AC3E}">
        <p14:creationId xmlns:p14="http://schemas.microsoft.com/office/powerpoint/2010/main" val="25965509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70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4E4C9"/>
        </a:solidFill>
        <a:effectLst/>
      </p:bgPr>
    </p:bg>
    <p:spTree>
      <p:nvGrpSpPr>
        <p:cNvPr id="1" name="Shape 9"/>
        <p:cNvGrpSpPr/>
        <p:nvPr/>
      </p:nvGrpSpPr>
      <p:grpSpPr>
        <a:xfrm>
          <a:off x="0" y="0"/>
          <a:ext cx="0" cy="0"/>
          <a:chOff x="0" y="0"/>
          <a:chExt cx="0" cy="0"/>
        </a:xfrm>
      </p:grpSpPr>
    </p:spTree>
    <p:extLst>
      <p:ext uri="{BB962C8B-B14F-4D97-AF65-F5344CB8AC3E}">
        <p14:creationId xmlns:p14="http://schemas.microsoft.com/office/powerpoint/2010/main" val="3107112713"/>
      </p:ext>
    </p:extLst>
  </p:cSld>
  <p:clrMap bg1="lt1" tx1="dk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orient="horz" pos="799">
          <p15:clr>
            <a:srgbClr val="A4A3A4"/>
          </p15:clr>
        </p15:guide>
        <p15:guide id="4" orient="horz" pos="346">
          <p15:clr>
            <a:srgbClr val="A4A3A4"/>
          </p15:clr>
        </p15:guide>
        <p15:guide id="5" orient="horz" pos="1253">
          <p15:clr>
            <a:srgbClr val="A4A3A4"/>
          </p15:clr>
        </p15:guide>
        <p15:guide id="6" orient="horz" pos="1706">
          <p15:clr>
            <a:srgbClr val="A4A3A4"/>
          </p15:clr>
        </p15:guide>
        <p15:guide id="7" orient="horz" pos="2614">
          <p15:clr>
            <a:srgbClr val="A4A3A4"/>
          </p15:clr>
        </p15:guide>
        <p15:guide id="8" orient="horz" pos="3067">
          <p15:clr>
            <a:srgbClr val="A4A3A4"/>
          </p15:clr>
        </p15:guide>
        <p15:guide id="9" orient="horz" pos="3521">
          <p15:clr>
            <a:srgbClr val="A4A3A4"/>
          </p15:clr>
        </p15:guide>
        <p15:guide id="10" orient="horz" pos="3974">
          <p15:clr>
            <a:srgbClr val="A4A3A4"/>
          </p15:clr>
        </p15:guide>
        <p15:guide id="11" pos="4294">
          <p15:clr>
            <a:srgbClr val="A4A3A4"/>
          </p15:clr>
        </p15:guide>
        <p15:guide id="12" pos="4747">
          <p15:clr>
            <a:srgbClr val="A4A3A4"/>
          </p15:clr>
        </p15:guide>
        <p15:guide id="13" pos="211">
          <p15:clr>
            <a:srgbClr val="A4A3A4"/>
          </p15:clr>
        </p15:guide>
        <p15:guide id="14" pos="665">
          <p15:clr>
            <a:srgbClr val="A4A3A4"/>
          </p15:clr>
        </p15:guide>
        <p15:guide id="15" pos="1118">
          <p15:clr>
            <a:srgbClr val="A4A3A4"/>
          </p15:clr>
        </p15:guide>
        <p15:guide id="16" pos="1572">
          <p15:clr>
            <a:srgbClr val="A4A3A4"/>
          </p15:clr>
        </p15:guide>
        <p15:guide id="17" pos="2026">
          <p15:clr>
            <a:srgbClr val="A4A3A4"/>
          </p15:clr>
        </p15:guide>
        <p15:guide id="18" pos="2479">
          <p15:clr>
            <a:srgbClr val="A4A3A4"/>
          </p15:clr>
        </p15:guide>
        <p15:guide id="19" pos="2933">
          <p15:clr>
            <a:srgbClr val="A4A3A4"/>
          </p15:clr>
        </p15:guide>
        <p15:guide id="20" pos="3386">
          <p15:clr>
            <a:srgbClr val="A4A3A4"/>
          </p15:clr>
        </p15:guide>
        <p15:guide id="21" pos="5201">
          <p15:clr>
            <a:srgbClr val="A4A3A4"/>
          </p15:clr>
        </p15:guide>
        <p15:guide id="22" pos="5654">
          <p15:clr>
            <a:srgbClr val="A4A3A4"/>
          </p15:clr>
        </p15:guide>
        <p15:guide id="23" pos="6108">
          <p15:clr>
            <a:srgbClr val="A4A3A4"/>
          </p15:clr>
        </p15:guide>
        <p15:guide id="24" pos="6562">
          <p15:clr>
            <a:srgbClr val="A4A3A4"/>
          </p15:clr>
        </p15:guide>
        <p15:guide id="25" pos="7015">
          <p15:clr>
            <a:srgbClr val="A4A3A4"/>
          </p15:clr>
        </p15:guide>
        <p15:guide id="26" pos="7469">
          <p15:clr>
            <a:srgbClr val="A4A3A4"/>
          </p15:clr>
        </p15:guide>
        <p15:guide id="27" pos="347">
          <p15:clr>
            <a:srgbClr val="F26B43"/>
          </p15:clr>
        </p15:guide>
        <p15:guide id="28" pos="733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hemeOverride" Target="../theme/themeOverride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hemeOverride" Target="../theme/themeOverride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3.xml"/><Relationship Id="rId7" Type="http://schemas.openxmlformats.org/officeDocument/2006/relationships/image" Target="../media/image5.png"/><Relationship Id="rId12" Type="http://schemas.openxmlformats.org/officeDocument/2006/relationships/image" Target="../media/image1.png"/><Relationship Id="rId2" Type="http://schemas.openxmlformats.org/officeDocument/2006/relationships/slideLayout" Target="../slideLayouts/slideLayout12.xml"/><Relationship Id="rId1" Type="http://schemas.openxmlformats.org/officeDocument/2006/relationships/themeOverride" Target="../theme/themeOverride3.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7.xml"/><Relationship Id="rId1" Type="http://schemas.openxmlformats.org/officeDocument/2006/relationships/themeOverride" Target="../theme/themeOverride4.xml"/><Relationship Id="rId5" Type="http://schemas.openxmlformats.org/officeDocument/2006/relationships/image" Target="../media/image1.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themeOverride" Target="../theme/themeOverride5.xml"/><Relationship Id="rId6" Type="http://schemas.openxmlformats.org/officeDocument/2006/relationships/image" Target="../media/image1.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6.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7.xml"/><Relationship Id="rId1" Type="http://schemas.openxmlformats.org/officeDocument/2006/relationships/themeOverride" Target="../theme/themeOverride7.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1.png"/><Relationship Id="rId2" Type="http://schemas.openxmlformats.org/officeDocument/2006/relationships/slideLayout" Target="../slideLayouts/slideLayout12.xml"/><Relationship Id="rId1" Type="http://schemas.openxmlformats.org/officeDocument/2006/relationships/themeOverride" Target="../theme/themeOverride8.xml"/><Relationship Id="rId6" Type="http://schemas.openxmlformats.org/officeDocument/2006/relationships/image" Target="../media/image16.png"/><Relationship Id="rId5" Type="http://schemas.openxmlformats.org/officeDocument/2006/relationships/image" Target="../media/image3.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hemeOverride" Target="../theme/themeOverr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hemeOverride" Target="../theme/themeOverr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7.xml"/><Relationship Id="rId1" Type="http://schemas.openxmlformats.org/officeDocument/2006/relationships/themeOverride" Target="../theme/themeOverride11.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notesSlide" Target="../notesSlides/notesSlide6.xml"/><Relationship Id="rId7" Type="http://schemas.openxmlformats.org/officeDocument/2006/relationships/image" Target="../media/image21.png"/><Relationship Id="rId2" Type="http://schemas.openxmlformats.org/officeDocument/2006/relationships/slideLayout" Target="../slideLayouts/slideLayout12.xml"/><Relationship Id="rId1" Type="http://schemas.openxmlformats.org/officeDocument/2006/relationships/themeOverride" Target="../theme/themeOverride12.xml"/><Relationship Id="rId6" Type="http://schemas.openxmlformats.org/officeDocument/2006/relationships/image" Target="../media/image20.png"/><Relationship Id="rId11" Type="http://schemas.openxmlformats.org/officeDocument/2006/relationships/image" Target="../media/image24.png"/><Relationship Id="rId5" Type="http://schemas.openxmlformats.org/officeDocument/2006/relationships/image" Target="../media/image19.png"/><Relationship Id="rId10" Type="http://schemas.openxmlformats.org/officeDocument/2006/relationships/image" Target="../media/image23.png"/><Relationship Id="rId4" Type="http://schemas.openxmlformats.org/officeDocument/2006/relationships/image" Target="../media/image18.png"/><Relationship Id="rId9" Type="http://schemas.openxmlformats.org/officeDocument/2006/relationships/image" Target="../media/image4.png"/></Relationships>
</file>

<file path=ppt/slides/_rels/slide1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Layout" Target="../slideLayouts/slideLayout2.xml"/><Relationship Id="rId1" Type="http://schemas.openxmlformats.org/officeDocument/2006/relationships/themeOverride" Target="../theme/themeOverride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2.xml"/><Relationship Id="rId1" Type="http://schemas.openxmlformats.org/officeDocument/2006/relationships/themeOverride" Target="../theme/themeOverride14.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2.xml"/><Relationship Id="rId1" Type="http://schemas.openxmlformats.org/officeDocument/2006/relationships/themeOverride" Target="../theme/themeOverride15.xml"/><Relationship Id="rId5" Type="http://schemas.openxmlformats.org/officeDocument/2006/relationships/image" Target="../media/image1.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7.xml"/><Relationship Id="rId1" Type="http://schemas.openxmlformats.org/officeDocument/2006/relationships/themeOverride" Target="../theme/themeOverride16.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7.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7.xml"/><Relationship Id="rId1" Type="http://schemas.openxmlformats.org/officeDocument/2006/relationships/themeOverride" Target="../theme/themeOverride18.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Layout" Target="../slideLayouts/slideLayout7.xml"/><Relationship Id="rId1" Type="http://schemas.openxmlformats.org/officeDocument/2006/relationships/themeOverride" Target="../theme/themeOverride19.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20.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Layout" Target="../slideLayouts/slideLayout2.xml"/><Relationship Id="rId1" Type="http://schemas.openxmlformats.org/officeDocument/2006/relationships/themeOverride" Target="../theme/themeOverride21.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Layout" Target="../slideLayouts/slideLayout2.xml"/><Relationship Id="rId1" Type="http://schemas.openxmlformats.org/officeDocument/2006/relationships/themeOverride" Target="../theme/themeOverride22.xml"/><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themeOverride" Target="../theme/themeOverride23.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1.png"/><Relationship Id="rId2" Type="http://schemas.openxmlformats.org/officeDocument/2006/relationships/slideLayout" Target="../slideLayouts/slideLayout12.xml"/><Relationship Id="rId1" Type="http://schemas.openxmlformats.org/officeDocument/2006/relationships/themeOverride" Target="../theme/themeOverride24.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themeOverride" Target="../theme/themeOverride25.xml"/><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1.png"/><Relationship Id="rId2" Type="http://schemas.openxmlformats.org/officeDocument/2006/relationships/slideLayout" Target="../slideLayouts/slideLayout12.xml"/><Relationship Id="rId1" Type="http://schemas.openxmlformats.org/officeDocument/2006/relationships/themeOverride" Target="../theme/themeOverride26.xml"/><Relationship Id="rId6" Type="http://schemas.openxmlformats.org/officeDocument/2006/relationships/image" Target="../media/image37.png"/><Relationship Id="rId5" Type="http://schemas.openxmlformats.org/officeDocument/2006/relationships/image" Target="../media/image34.png"/><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slideLayout" Target="../slideLayouts/slideLayout7.xml"/><Relationship Id="rId1" Type="http://schemas.openxmlformats.org/officeDocument/2006/relationships/themeOverride" Target="../theme/themeOverride27.xml"/><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slideLayout" Target="../slideLayouts/slideLayout2.xml"/><Relationship Id="rId1" Type="http://schemas.openxmlformats.org/officeDocument/2006/relationships/themeOverride" Target="../theme/themeOverride28.xml"/><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slideLayout" Target="../slideLayouts/slideLayout2.xml"/><Relationship Id="rId1" Type="http://schemas.openxmlformats.org/officeDocument/2006/relationships/themeOverride" Target="../theme/themeOverride29.xml"/><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30.xml"/></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slideLayout" Target="../slideLayouts/slideLayout2.xml"/><Relationship Id="rId1" Type="http://schemas.openxmlformats.org/officeDocument/2006/relationships/themeOverride" Target="../theme/themeOverride3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3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33.xml"/></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slideLayout" Target="../slideLayouts/slideLayout2.xml"/><Relationship Id="rId1" Type="http://schemas.openxmlformats.org/officeDocument/2006/relationships/themeOverride" Target="../theme/themeOverride34.xml"/><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themeOverride" Target="../theme/themeOverride35.xml"/><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themeOverride" Target="../theme/themeOverride36.xml"/><Relationship Id="rId6" Type="http://schemas.openxmlformats.org/officeDocument/2006/relationships/image" Target="../media/image6.png"/><Relationship Id="rId5" Type="http://schemas.openxmlformats.org/officeDocument/2006/relationships/image" Target="../media/image44.png"/><Relationship Id="rId4" Type="http://schemas.openxmlformats.org/officeDocument/2006/relationships/image" Target="../media/image43.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themeOverride" Target="../theme/themeOverride37.xml"/><Relationship Id="rId4" Type="http://schemas.openxmlformats.org/officeDocument/2006/relationships/image" Target="../media/image1.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hemeOverride" Target="../theme/themeOverride38.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hemeOverride" Target="../theme/themeOverride39.xml"/></Relationships>
</file>

<file path=ppt/slides/_rels/slide4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notesSlide" Target="../notesSlides/notesSlide14.xml"/><Relationship Id="rId7" Type="http://schemas.openxmlformats.org/officeDocument/2006/relationships/image" Target="../media/image13.png"/><Relationship Id="rId2" Type="http://schemas.openxmlformats.org/officeDocument/2006/relationships/slideLayout" Target="../slideLayouts/slideLayout12.xml"/><Relationship Id="rId1" Type="http://schemas.openxmlformats.org/officeDocument/2006/relationships/themeOverride" Target="../theme/themeOverride40.xml"/><Relationship Id="rId6" Type="http://schemas.openxmlformats.org/officeDocument/2006/relationships/image" Target="../media/image4.png"/><Relationship Id="rId5" Type="http://schemas.openxmlformats.org/officeDocument/2006/relationships/image" Target="../media/image46.png"/><Relationship Id="rId4" Type="http://schemas.openxmlformats.org/officeDocument/2006/relationships/image" Target="../media/image45.png"/></Relationships>
</file>

<file path=ppt/slides/_rels/slide4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slideLayout" Target="../slideLayouts/slideLayout7.xml"/><Relationship Id="rId1" Type="http://schemas.openxmlformats.org/officeDocument/2006/relationships/themeOverride" Target="../theme/themeOverride41.xml"/><Relationship Id="rId4" Type="http://schemas.openxmlformats.org/officeDocument/2006/relationships/image" Target="../media/image1.png"/></Relationships>
</file>

<file path=ppt/slides/_rels/slide43.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notesSlide" Target="../notesSlides/notesSlide15.xml"/><Relationship Id="rId7" Type="http://schemas.openxmlformats.org/officeDocument/2006/relationships/image" Target="../media/image48.png"/><Relationship Id="rId2" Type="http://schemas.openxmlformats.org/officeDocument/2006/relationships/slideLayout" Target="../slideLayouts/slideLayout12.xml"/><Relationship Id="rId1" Type="http://schemas.openxmlformats.org/officeDocument/2006/relationships/themeOverride" Target="../theme/themeOverride42.xml"/><Relationship Id="rId6" Type="http://schemas.openxmlformats.org/officeDocument/2006/relationships/image" Target="../media/image18.png"/><Relationship Id="rId5" Type="http://schemas.openxmlformats.org/officeDocument/2006/relationships/image" Target="../media/image5.png"/><Relationship Id="rId4" Type="http://schemas.openxmlformats.org/officeDocument/2006/relationships/image" Target="../media/image22.png"/><Relationship Id="rId9" Type="http://schemas.openxmlformats.org/officeDocument/2006/relationships/image" Target="../media/image1.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themeOverride" Target="../theme/themeOverride43.xml"/><Relationship Id="rId4" Type="http://schemas.openxmlformats.org/officeDocument/2006/relationships/image" Target="../media/image1.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hemeOverride" Target="../theme/themeOverride44.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themeOverride" Target="../theme/themeOverride45.xml"/><Relationship Id="rId4" Type="http://schemas.openxmlformats.org/officeDocument/2006/relationships/image" Target="../media/image1.png"/></Relationships>
</file>

<file path=ppt/slides/_rels/slide4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slideLayout" Target="../slideLayouts/slideLayout7.xml"/><Relationship Id="rId1" Type="http://schemas.openxmlformats.org/officeDocument/2006/relationships/themeOverride" Target="../theme/themeOverride46.xml"/><Relationship Id="rId4" Type="http://schemas.openxmlformats.org/officeDocument/2006/relationships/image" Target="../media/image1.png"/></Relationships>
</file>

<file path=ppt/slides/_rels/slide4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slideLayout" Target="../slideLayouts/slideLayout7.xml"/><Relationship Id="rId1" Type="http://schemas.openxmlformats.org/officeDocument/2006/relationships/themeOverride" Target="../theme/themeOverride47.xml"/><Relationship Id="rId4" Type="http://schemas.openxmlformats.org/officeDocument/2006/relationships/image" Target="../media/image1.png"/></Relationships>
</file>

<file path=ppt/slides/_rels/slide4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slideLayout" Target="../slideLayouts/slideLayout7.xml"/><Relationship Id="rId1" Type="http://schemas.openxmlformats.org/officeDocument/2006/relationships/themeOverride" Target="../theme/themeOverride48.xml"/><Relationship Id="rId4" Type="http://schemas.openxmlformats.org/officeDocument/2006/relationships/image" Target="../media/image1.png"/></Relationships>
</file>

<file path=ppt/slides/_rels/slide5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slideLayout" Target="../slideLayouts/slideLayout7.xml"/><Relationship Id="rId1" Type="http://schemas.openxmlformats.org/officeDocument/2006/relationships/themeOverride" Target="../theme/themeOverride49.xml"/><Relationship Id="rId4" Type="http://schemas.openxmlformats.org/officeDocument/2006/relationships/image" Target="../media/image1.png"/></Relationships>
</file>

<file path=ppt/slides/_rels/slide5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slideLayout" Target="../slideLayouts/slideLayout7.xml"/><Relationship Id="rId1" Type="http://schemas.openxmlformats.org/officeDocument/2006/relationships/themeOverride" Target="../theme/themeOverride50.xml"/><Relationship Id="rId4" Type="http://schemas.openxmlformats.org/officeDocument/2006/relationships/image" Target="../media/image1.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2.xml"/><Relationship Id="rId1" Type="http://schemas.openxmlformats.org/officeDocument/2006/relationships/themeOverride" Target="../theme/themeOverride51.xml"/><Relationship Id="rId6" Type="http://schemas.openxmlformats.org/officeDocument/2006/relationships/image" Target="../media/image1.png"/><Relationship Id="rId5" Type="http://schemas.openxmlformats.org/officeDocument/2006/relationships/image" Target="../media/image35.png"/><Relationship Id="rId4" Type="http://schemas.openxmlformats.org/officeDocument/2006/relationships/image" Target="../media/image15.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19.xml"/><Relationship Id="rId7" Type="http://schemas.openxmlformats.org/officeDocument/2006/relationships/image" Target="../media/image1.png"/><Relationship Id="rId2" Type="http://schemas.openxmlformats.org/officeDocument/2006/relationships/slideLayout" Target="../slideLayouts/slideLayout12.xml"/><Relationship Id="rId1" Type="http://schemas.openxmlformats.org/officeDocument/2006/relationships/themeOverride" Target="../theme/themeOverride52.xml"/><Relationship Id="rId6" Type="http://schemas.openxmlformats.org/officeDocument/2006/relationships/image" Target="../media/image55.png"/><Relationship Id="rId5" Type="http://schemas.openxmlformats.org/officeDocument/2006/relationships/image" Target="../media/image44.png"/><Relationship Id="rId4" Type="http://schemas.openxmlformats.org/officeDocument/2006/relationships/image" Target="../media/image5.png"/></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hemeOverride" Target="../theme/themeOverride53.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2.xml"/><Relationship Id="rId1" Type="http://schemas.openxmlformats.org/officeDocument/2006/relationships/themeOverride" Target="../theme/themeOverride54.xml"/><Relationship Id="rId4" Type="http://schemas.openxmlformats.org/officeDocument/2006/relationships/image" Target="../media/image1.png"/></Relationships>
</file>

<file path=ppt/slides/_rels/slide5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slideLayout" Target="../slideLayouts/slideLayout7.xml"/><Relationship Id="rId1" Type="http://schemas.openxmlformats.org/officeDocument/2006/relationships/themeOverride" Target="../theme/themeOverride55.xml"/><Relationship Id="rId4" Type="http://schemas.openxmlformats.org/officeDocument/2006/relationships/image" Target="../media/image1.png"/></Relationships>
</file>

<file path=ppt/slides/_rels/slide5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slideLayout" Target="../slideLayouts/slideLayout7.xml"/><Relationship Id="rId1" Type="http://schemas.openxmlformats.org/officeDocument/2006/relationships/themeOverride" Target="../theme/themeOverride56.xml"/><Relationship Id="rId4" Type="http://schemas.openxmlformats.org/officeDocument/2006/relationships/image" Target="../media/image1.png"/></Relationships>
</file>

<file path=ppt/slides/_rels/slide5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slideLayout" Target="../slideLayouts/slideLayout7.xml"/><Relationship Id="rId1" Type="http://schemas.openxmlformats.org/officeDocument/2006/relationships/themeOverride" Target="../theme/themeOverride57.xml"/><Relationship Id="rId4" Type="http://schemas.openxmlformats.org/officeDocument/2006/relationships/image" Target="../media/image1.png"/></Relationships>
</file>

<file path=ppt/slides/_rels/slide5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notesSlide" Target="../notesSlides/notesSlide21.xml"/><Relationship Id="rId7" Type="http://schemas.openxmlformats.org/officeDocument/2006/relationships/image" Target="../media/image5.png"/><Relationship Id="rId2" Type="http://schemas.openxmlformats.org/officeDocument/2006/relationships/slideLayout" Target="../slideLayouts/slideLayout12.xml"/><Relationship Id="rId1" Type="http://schemas.openxmlformats.org/officeDocument/2006/relationships/themeOverride" Target="../theme/themeOverride58.xml"/><Relationship Id="rId6" Type="http://schemas.openxmlformats.org/officeDocument/2006/relationships/image" Target="../media/image4.png"/><Relationship Id="rId5" Type="http://schemas.openxmlformats.org/officeDocument/2006/relationships/image" Target="../media/image59.png"/><Relationship Id="rId4" Type="http://schemas.openxmlformats.org/officeDocument/2006/relationships/image" Target="../media/image48.png"/></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hemeOverride" Target="../theme/themeOverride59.xml"/></Relationships>
</file>

<file path=ppt/slides/_rels/slide6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notesSlide" Target="../notesSlides/notesSlide22.xml"/><Relationship Id="rId7" Type="http://schemas.openxmlformats.org/officeDocument/2006/relationships/image" Target="../media/image15.png"/><Relationship Id="rId2" Type="http://schemas.openxmlformats.org/officeDocument/2006/relationships/slideLayout" Target="../slideLayouts/slideLayout12.xml"/><Relationship Id="rId1" Type="http://schemas.openxmlformats.org/officeDocument/2006/relationships/themeOverride" Target="../theme/themeOverride60.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hemeOverride" Target="../theme/themeOverride61.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hemeOverride" Target="../theme/themeOverride62.xml"/><Relationship Id="rId4" Type="http://schemas.openxmlformats.org/officeDocument/2006/relationships/image" Target="../media/image6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9" name="Text 6"/>
          <p:cNvSpPr/>
          <p:nvPr/>
        </p:nvSpPr>
        <p:spPr>
          <a:xfrm>
            <a:off x="1676400" y="2465493"/>
            <a:ext cx="10515600" cy="1280160"/>
          </a:xfrm>
          <a:prstGeom prst="rect">
            <a:avLst/>
          </a:prstGeom>
          <a:noFill/>
          <a:ln/>
        </p:spPr>
        <p:txBody>
          <a:bodyPr wrap="square" rtlCol="0" anchor="ctr"/>
          <a:lstStyle/>
          <a:p>
            <a:pPr marL="0" indent="0">
              <a:buNone/>
            </a:pPr>
            <a:r>
              <a:rPr lang="en-US" sz="6600" b="1" dirty="0">
                <a:solidFill>
                  <a:srgbClr val="FFFFFF"/>
                </a:solidFill>
                <a:latin typeface="Cambria" pitchFamily="34" charset="0"/>
                <a:ea typeface="Cambria" pitchFamily="34" charset="-122"/>
                <a:cs typeface="Cambria" pitchFamily="34" charset="-120"/>
              </a:rPr>
              <a:t>             </a:t>
            </a:r>
            <a:r>
              <a:rPr lang="en-US" sz="4400" b="1" dirty="0">
                <a:solidFill>
                  <a:srgbClr val="FF0000"/>
                </a:solidFill>
                <a:latin typeface="Cambria" pitchFamily="34" charset="0"/>
                <a:ea typeface="Cambria" pitchFamily="34" charset="-122"/>
                <a:cs typeface="Cambria" pitchFamily="34" charset="-120"/>
              </a:rPr>
              <a:t>UNIT-III</a:t>
            </a:r>
          </a:p>
          <a:p>
            <a:pPr marL="0" indent="0">
              <a:buNone/>
            </a:pPr>
            <a:r>
              <a:rPr lang="en-US" sz="4400" b="1" dirty="0">
                <a:solidFill>
                  <a:srgbClr val="FF0000"/>
                </a:solidFill>
                <a:latin typeface="Cambria" pitchFamily="34" charset="0"/>
                <a:ea typeface="Cambria" pitchFamily="34" charset="-122"/>
                <a:cs typeface="Cambria" pitchFamily="34" charset="-120"/>
              </a:rPr>
              <a:t>          Software Design</a:t>
            </a:r>
            <a:endParaRPr lang="en-US" sz="4400" dirty="0">
              <a:solidFill>
                <a:srgbClr val="FF0000"/>
              </a:solidFill>
            </a:endParaRPr>
          </a:p>
        </p:txBody>
      </p:sp>
      <p:pic>
        <p:nvPicPr>
          <p:cNvPr id="3" name="Picture 2" descr="gitam_logo.png"/>
          <p:cNvPicPr>
            <a:picLocks noChangeAspect="1"/>
          </p:cNvPicPr>
          <p:nvPr/>
        </p:nvPicPr>
        <p:blipFill>
          <a:blip r:embed="rId4"/>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1536265804"/>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2" name="Rectangle 1"/>
          <p:cNvSpPr/>
          <p:nvPr/>
        </p:nvSpPr>
        <p:spPr>
          <a:xfrm>
            <a:off x="0" y="23879"/>
            <a:ext cx="12192000" cy="6863417"/>
          </a:xfrm>
          <a:prstGeom prst="rect">
            <a:avLst/>
          </a:prstGeom>
        </p:spPr>
        <p:txBody>
          <a:bodyPr wrap="square">
            <a:spAutoFit/>
          </a:bodyPr>
          <a:lstStyle/>
          <a:p>
            <a:r>
              <a:rPr lang="en-US" sz="2000" b="1" dirty="0">
                <a:solidFill>
                  <a:srgbClr val="FF0000"/>
                </a:solidFill>
                <a:latin typeface="Times New Roman" panose="02020603050405020304" pitchFamily="18" charset="0"/>
                <a:cs typeface="Times New Roman" panose="02020603050405020304" pitchFamily="18" charset="0"/>
              </a:rPr>
              <a:t>                                      PART 1</a:t>
            </a:r>
          </a:p>
          <a:p>
            <a:r>
              <a:rPr lang="en-US" sz="2000" b="1" dirty="0">
                <a:latin typeface="Times New Roman" panose="02020603050405020304" pitchFamily="18" charset="0"/>
                <a:cs typeface="Times New Roman" panose="02020603050405020304" pitchFamily="18" charset="0"/>
              </a:rPr>
              <a:t>1.Software Design</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Outcome of a design process,</a:t>
            </a:r>
          </a:p>
          <a:p>
            <a:r>
              <a:rPr lang="en-US" sz="2000" dirty="0">
                <a:latin typeface="Times New Roman" panose="02020603050405020304" pitchFamily="18" charset="0"/>
                <a:cs typeface="Times New Roman" panose="02020603050405020304" pitchFamily="18" charset="0"/>
              </a:rPr>
              <a:t>                      Cohesion and Coupling</a:t>
            </a:r>
          </a:p>
          <a:p>
            <a:r>
              <a:rPr lang="en-US" sz="2000" dirty="0">
                <a:latin typeface="Times New Roman" panose="02020603050405020304" pitchFamily="18" charset="0"/>
                <a:cs typeface="Times New Roman" panose="02020603050405020304" pitchFamily="18" charset="0"/>
              </a:rPr>
              <a:t>                      Layered arrangement of modules</a:t>
            </a:r>
          </a:p>
          <a:p>
            <a:r>
              <a:rPr lang="en-US" sz="2000" dirty="0">
                <a:latin typeface="Times New Roman" panose="02020603050405020304" pitchFamily="18" charset="0"/>
                <a:cs typeface="Times New Roman" panose="02020603050405020304" pitchFamily="18" charset="0"/>
              </a:rPr>
              <a:t>                      Approaches to software design,</a:t>
            </a:r>
          </a:p>
          <a:p>
            <a:r>
              <a:rPr lang="en-US" sz="2000" b="1" dirty="0">
                <a:latin typeface="Times New Roman" panose="02020603050405020304" pitchFamily="18" charset="0"/>
                <a:cs typeface="Times New Roman" panose="02020603050405020304" pitchFamily="18" charset="0"/>
              </a:rPr>
              <a:t>2.Function-oriented  Software design</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Overview of SA/SD methodology</a:t>
            </a:r>
          </a:p>
          <a:p>
            <a:r>
              <a:rPr lang="en-US" sz="2000" dirty="0">
                <a:latin typeface="Times New Roman" panose="02020603050405020304" pitchFamily="18" charset="0"/>
                <a:cs typeface="Times New Roman" panose="02020603050405020304" pitchFamily="18" charset="0"/>
              </a:rPr>
              <a:t>                     Structured analysis</a:t>
            </a:r>
          </a:p>
          <a:p>
            <a:r>
              <a:rPr lang="en-US" sz="2000" dirty="0">
                <a:latin typeface="Times New Roman" panose="02020603050405020304" pitchFamily="18" charset="0"/>
                <a:cs typeface="Times New Roman" panose="02020603050405020304" pitchFamily="18" charset="0"/>
              </a:rPr>
              <a:t>                     DFDs,Structured design</a:t>
            </a:r>
          </a:p>
          <a:p>
            <a:r>
              <a:rPr lang="en-US" sz="2000" dirty="0">
                <a:latin typeface="Times New Roman" panose="02020603050405020304" pitchFamily="18" charset="0"/>
                <a:cs typeface="Times New Roman" panose="02020603050405020304" pitchFamily="18" charset="0"/>
              </a:rPr>
              <a:t>                     Detailed design, design review</a:t>
            </a:r>
          </a:p>
          <a:p>
            <a:r>
              <a:rPr lang="en-US" sz="2000" b="1" dirty="0">
                <a:latin typeface="Times New Roman" panose="02020603050405020304" pitchFamily="18" charset="0"/>
                <a:cs typeface="Times New Roman" panose="02020603050405020304" pitchFamily="18" charset="0"/>
              </a:rPr>
              <a:t>                                    </a:t>
            </a:r>
            <a:r>
              <a:rPr lang="en-US" sz="2000" b="1" dirty="0">
                <a:solidFill>
                  <a:srgbClr val="FF0000"/>
                </a:solidFill>
                <a:latin typeface="Times New Roman" panose="02020603050405020304" pitchFamily="18" charset="0"/>
                <a:cs typeface="Times New Roman" panose="02020603050405020304" pitchFamily="18" charset="0"/>
              </a:rPr>
              <a:t>PART II</a:t>
            </a:r>
          </a:p>
          <a:p>
            <a:r>
              <a:rPr lang="en-US" sz="2000" b="1" dirty="0">
                <a:latin typeface="Times New Roman" panose="02020603050405020304" pitchFamily="18" charset="0"/>
                <a:cs typeface="Times New Roman" panose="02020603050405020304" pitchFamily="18" charset="0"/>
              </a:rPr>
              <a:t>3.Object-oriented software design</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UML diagrams</a:t>
            </a:r>
          </a:p>
          <a:p>
            <a:r>
              <a:rPr lang="en-US" sz="2000" dirty="0">
                <a:latin typeface="Times New Roman" panose="02020603050405020304" pitchFamily="18" charset="0"/>
                <a:cs typeface="Times New Roman" panose="02020603050405020304" pitchFamily="18" charset="0"/>
              </a:rPr>
              <a:t>                    Use case modeling</a:t>
            </a:r>
          </a:p>
          <a:p>
            <a:r>
              <a:rPr lang="en-US" sz="2000" dirty="0">
                <a:latin typeface="Times New Roman" panose="02020603050405020304" pitchFamily="18" charset="0"/>
                <a:cs typeface="Times New Roman" panose="02020603050405020304" pitchFamily="18" charset="0"/>
              </a:rPr>
              <a:t>                    Unified process</a:t>
            </a:r>
          </a:p>
          <a:p>
            <a:r>
              <a:rPr lang="en-US" sz="2000" dirty="0">
                <a:latin typeface="Times New Roman" panose="02020603050405020304" pitchFamily="18" charset="0"/>
                <a:cs typeface="Times New Roman" panose="02020603050405020304" pitchFamily="18" charset="0"/>
              </a:rPr>
              <a:t>                    OOD goodness criteria</a:t>
            </a:r>
          </a:p>
          <a:p>
            <a:r>
              <a:rPr lang="en-US" sz="2000" b="1" dirty="0">
                <a:latin typeface="Times New Roman" panose="02020603050405020304" pitchFamily="18" charset="0"/>
                <a:cs typeface="Times New Roman" panose="02020603050405020304" pitchFamily="18" charset="0"/>
              </a:rPr>
              <a:t>4.User interface design:</a:t>
            </a:r>
          </a:p>
          <a:p>
            <a:r>
              <a:rPr lang="en-US" sz="2000" dirty="0">
                <a:latin typeface="Times New Roman" panose="02020603050405020304" pitchFamily="18" charset="0"/>
                <a:cs typeface="Times New Roman" panose="02020603050405020304" pitchFamily="18" charset="0"/>
              </a:rPr>
              <a:t>                    Types of user interfaces</a:t>
            </a:r>
          </a:p>
          <a:p>
            <a:r>
              <a:rPr lang="en-US" sz="2000" dirty="0">
                <a:latin typeface="Times New Roman" panose="02020603050405020304" pitchFamily="18" charset="0"/>
                <a:cs typeface="Times New Roman" panose="02020603050405020304" pitchFamily="18" charset="0"/>
              </a:rPr>
              <a:t>                    Component-based GUI development</a:t>
            </a:r>
          </a:p>
          <a:p>
            <a:r>
              <a:rPr lang="en-US" sz="2000" b="1" dirty="0">
                <a:latin typeface="Times New Roman" panose="02020603050405020304" pitchFamily="18" charset="0"/>
                <a:cs typeface="Times New Roman" panose="02020603050405020304" pitchFamily="18" charset="0"/>
              </a:rPr>
              <a:t>5.Web Application </a:t>
            </a:r>
            <a:r>
              <a:rPr lang="en-US" sz="2000" b="1" dirty="0" err="1">
                <a:latin typeface="Times New Roman" panose="02020603050405020304" pitchFamily="18" charset="0"/>
                <a:cs typeface="Times New Roman" panose="02020603050405020304" pitchFamily="18" charset="0"/>
              </a:rPr>
              <a:t>Design</a:t>
            </a:r>
            <a:r>
              <a:rPr lang="en-US" sz="2000" dirty="0" err="1">
                <a:latin typeface="Times New Roman" panose="02020603050405020304" pitchFamily="18" charset="0"/>
                <a:cs typeface="Times New Roman" panose="02020603050405020304" pitchFamily="18" charset="0"/>
              </a:rPr>
              <a:t>.Exemplar</a:t>
            </a:r>
            <a:r>
              <a:rPr lang="en-US" sz="2000" dirty="0">
                <a:latin typeface="Times New Roman" panose="02020603050405020304" pitchFamily="18" charset="0"/>
                <a:cs typeface="Times New Roman" panose="02020603050405020304" pitchFamily="18" charset="0"/>
              </a:rPr>
              <a:t>/Case Studies: </a:t>
            </a:r>
          </a:p>
          <a:p>
            <a:r>
              <a:rPr lang="en-US" sz="2000" dirty="0">
                <a:latin typeface="Times New Roman" panose="02020603050405020304" pitchFamily="18" charset="0"/>
                <a:cs typeface="Times New Roman" panose="02020603050405020304" pitchFamily="18" charset="0"/>
              </a:rPr>
              <a:t>                    Study design of Library management system </a:t>
            </a:r>
            <a:endParaRPr lang="en-IN" sz="2000" dirty="0">
              <a:latin typeface="Times New Roman" panose="02020603050405020304" pitchFamily="18" charset="0"/>
              <a:cs typeface="Times New Roman" panose="02020603050405020304" pitchFamily="18" charset="0"/>
            </a:endParaRPr>
          </a:p>
        </p:txBody>
      </p:sp>
      <p:pic>
        <p:nvPicPr>
          <p:cNvPr id="3" name="Picture 2" descr="gitam_logo.png"/>
          <p:cNvPicPr>
            <a:picLocks noChangeAspect="1"/>
          </p:cNvPicPr>
          <p:nvPr/>
        </p:nvPicPr>
        <p:blipFill>
          <a:blip r:embed="rId4"/>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2421588995"/>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6" name="Text 4"/>
          <p:cNvSpPr/>
          <p:nvPr/>
        </p:nvSpPr>
        <p:spPr>
          <a:xfrm>
            <a:off x="11242599" y="5689176"/>
            <a:ext cx="502920" cy="329184"/>
          </a:xfrm>
          <a:prstGeom prst="rect">
            <a:avLst/>
          </a:prstGeom>
          <a:noFill/>
          <a:ln/>
        </p:spPr>
        <p:txBody>
          <a:bodyPr wrap="square" rtlCol="0" anchor="ctr"/>
          <a:lstStyle/>
          <a:p>
            <a:pPr marL="0" indent="0" algn="r">
              <a:buNone/>
            </a:pPr>
            <a:r>
              <a:rPr lang="en-US" sz="1100" b="1" dirty="0">
                <a:solidFill>
                  <a:srgbClr val="35618E"/>
                </a:solidFill>
                <a:latin typeface="Calibri" pitchFamily="34" charset="0"/>
                <a:ea typeface="Calibri" pitchFamily="34" charset="-122"/>
                <a:cs typeface="Calibri" pitchFamily="34" charset="-120"/>
              </a:rPr>
              <a:t>2</a:t>
            </a:r>
            <a:endParaRPr lang="en-US" sz="1100" dirty="0"/>
          </a:p>
        </p:txBody>
      </p:sp>
      <p:sp>
        <p:nvSpPr>
          <p:cNvPr id="7" name="Shape 5"/>
          <p:cNvSpPr/>
          <p:nvPr/>
        </p:nvSpPr>
        <p:spPr>
          <a:xfrm>
            <a:off x="516687" y="998304"/>
            <a:ext cx="2615184" cy="2084832"/>
          </a:xfrm>
          <a:prstGeom prst="roundRect">
            <a:avLst>
              <a:gd name="adj" fmla="val 6140"/>
            </a:avLst>
          </a:prstGeom>
          <a:solidFill>
            <a:srgbClr val="E1F1F1"/>
          </a:solidFill>
          <a:ln/>
          <a:effectLst>
            <a:outerShdw blurRad="1524" dist="889" dir="5400000" algn="bl" rotWithShape="0">
              <a:srgbClr val="1B3A5F">
                <a:alpha val="18000"/>
              </a:srgbClr>
            </a:outerShdw>
          </a:effectLst>
        </p:spPr>
        <p:txBody>
          <a:bodyPr/>
          <a:lstStyle/>
          <a:p>
            <a:endParaRPr lang="en-IN"/>
          </a:p>
        </p:txBody>
      </p:sp>
      <p:sp>
        <p:nvSpPr>
          <p:cNvPr id="8" name="Shape 6"/>
          <p:cNvSpPr/>
          <p:nvPr/>
        </p:nvSpPr>
        <p:spPr>
          <a:xfrm>
            <a:off x="736143" y="1272624"/>
            <a:ext cx="658368" cy="658368"/>
          </a:xfrm>
          <a:prstGeom prst="ellipse">
            <a:avLst/>
          </a:prstGeom>
          <a:solidFill>
            <a:srgbClr val="0E8F8F"/>
          </a:solidFill>
          <a:ln/>
          <a:effectLst>
            <a:outerShdw blurRad="1270" dist="635" dir="5400000" algn="bl" rotWithShape="0">
              <a:srgbClr val="1B3A5F">
                <a:alpha val="25000"/>
              </a:srgbClr>
            </a:outerShdw>
          </a:effectLst>
        </p:spPr>
      </p:sp>
      <p:pic>
        <p:nvPicPr>
          <p:cNvPr id="9" name="Image 0" descr="/home/claude/deck/icons/blueprint.png"/>
          <p:cNvPicPr>
            <a:picLocks noChangeAspect="1"/>
          </p:cNvPicPr>
          <p:nvPr/>
        </p:nvPicPr>
        <p:blipFill>
          <a:blip r:embed="rId4"/>
          <a:stretch>
            <a:fillRect/>
          </a:stretch>
        </p:blipFill>
        <p:spPr>
          <a:xfrm>
            <a:off x="907319" y="1443800"/>
            <a:ext cx="316017" cy="316017"/>
          </a:xfrm>
          <a:prstGeom prst="rect">
            <a:avLst/>
          </a:prstGeom>
        </p:spPr>
      </p:pic>
      <p:sp>
        <p:nvSpPr>
          <p:cNvPr id="12" name="Text 9"/>
          <p:cNvSpPr/>
          <p:nvPr/>
        </p:nvSpPr>
        <p:spPr>
          <a:xfrm>
            <a:off x="736143" y="2095584"/>
            <a:ext cx="2176272" cy="548640"/>
          </a:xfrm>
          <a:prstGeom prst="rect">
            <a:avLst/>
          </a:prstGeom>
          <a:noFill/>
          <a:ln/>
        </p:spPr>
        <p:txBody>
          <a:bodyPr wrap="square" lIns="0" tIns="0" rIns="0" bIns="0" rtlCol="0" anchor="t"/>
          <a:lstStyle/>
          <a:p>
            <a:pPr marL="0" indent="0" algn="l">
              <a:lnSpc>
                <a:spcPct val="100000"/>
              </a:lnSpc>
              <a:buNone/>
            </a:pPr>
            <a:r>
              <a:rPr lang="en-US" sz="1550" b="1" dirty="0">
                <a:solidFill>
                  <a:srgbClr val="13294B"/>
                </a:solidFill>
                <a:latin typeface="Cambria" pitchFamily="34" charset="0"/>
                <a:ea typeface="Cambria" pitchFamily="34" charset="-122"/>
                <a:cs typeface="Cambria" pitchFamily="34" charset="-120"/>
              </a:rPr>
              <a:t>Design Fundamentals</a:t>
            </a:r>
            <a:endParaRPr lang="en-US" sz="1550" dirty="0"/>
          </a:p>
        </p:txBody>
      </p:sp>
      <p:sp>
        <p:nvSpPr>
          <p:cNvPr id="13" name="Text 10"/>
          <p:cNvSpPr/>
          <p:nvPr/>
        </p:nvSpPr>
        <p:spPr>
          <a:xfrm>
            <a:off x="736143" y="2534496"/>
            <a:ext cx="2212848" cy="502920"/>
          </a:xfrm>
          <a:prstGeom prst="rect">
            <a:avLst/>
          </a:prstGeom>
          <a:noFill/>
          <a:ln/>
        </p:spPr>
        <p:txBody>
          <a:bodyPr wrap="square" lIns="0" tIns="0" rIns="0" bIns="0" rtlCol="0" anchor="t"/>
          <a:lstStyle/>
          <a:p>
            <a:pPr marL="0" indent="0" algn="l">
              <a:lnSpc>
                <a:spcPct val="102000"/>
              </a:lnSpc>
              <a:buNone/>
            </a:pPr>
            <a:r>
              <a:rPr lang="en-US" sz="1150" dirty="0">
                <a:solidFill>
                  <a:srgbClr val="5C6B82"/>
                </a:solidFill>
                <a:latin typeface="Calibri" pitchFamily="34" charset="0"/>
                <a:ea typeface="Calibri" pitchFamily="34" charset="-122"/>
                <a:cs typeface="Calibri" pitchFamily="34" charset="-120"/>
              </a:rPr>
              <a:t>Outcome of design, quality, core concepts</a:t>
            </a:r>
            <a:endParaRPr lang="en-US" sz="1150" dirty="0"/>
          </a:p>
        </p:txBody>
      </p:sp>
      <p:sp>
        <p:nvSpPr>
          <p:cNvPr id="14" name="Shape 11"/>
          <p:cNvSpPr/>
          <p:nvPr/>
        </p:nvSpPr>
        <p:spPr>
          <a:xfrm>
            <a:off x="3387903" y="998304"/>
            <a:ext cx="2615184" cy="2084832"/>
          </a:xfrm>
          <a:prstGeom prst="roundRect">
            <a:avLst>
              <a:gd name="adj" fmla="val 6140"/>
            </a:avLst>
          </a:prstGeom>
          <a:solidFill>
            <a:srgbClr val="FBEFDC"/>
          </a:solidFill>
          <a:ln/>
          <a:effectLst>
            <a:outerShdw blurRad="1524" dist="889" dir="5400000" algn="bl" rotWithShape="0">
              <a:srgbClr val="1B3A5F">
                <a:alpha val="18000"/>
              </a:srgbClr>
            </a:outerShdw>
          </a:effectLst>
        </p:spPr>
        <p:txBody>
          <a:bodyPr/>
          <a:lstStyle/>
          <a:p>
            <a:endParaRPr lang="en-IN"/>
          </a:p>
        </p:txBody>
      </p:sp>
      <p:sp>
        <p:nvSpPr>
          <p:cNvPr id="15" name="Shape 12"/>
          <p:cNvSpPr/>
          <p:nvPr/>
        </p:nvSpPr>
        <p:spPr>
          <a:xfrm>
            <a:off x="3607359" y="1272624"/>
            <a:ext cx="658368" cy="658368"/>
          </a:xfrm>
          <a:prstGeom prst="ellipse">
            <a:avLst/>
          </a:prstGeom>
          <a:solidFill>
            <a:srgbClr val="D98A28"/>
          </a:solidFill>
          <a:ln/>
          <a:effectLst>
            <a:outerShdw blurRad="1270" dist="635" dir="5400000" algn="bl" rotWithShape="0">
              <a:srgbClr val="1B3A5F">
                <a:alpha val="25000"/>
              </a:srgbClr>
            </a:outerShdw>
          </a:effectLst>
        </p:spPr>
      </p:sp>
      <p:pic>
        <p:nvPicPr>
          <p:cNvPr id="16" name="Image 1" descr="/home/claude/deck/icons/cohesion.png"/>
          <p:cNvPicPr>
            <a:picLocks noChangeAspect="1"/>
          </p:cNvPicPr>
          <p:nvPr/>
        </p:nvPicPr>
        <p:blipFill>
          <a:blip r:embed="rId5"/>
          <a:stretch>
            <a:fillRect/>
          </a:stretch>
        </p:blipFill>
        <p:spPr>
          <a:xfrm>
            <a:off x="3778535" y="1443800"/>
            <a:ext cx="316017" cy="316017"/>
          </a:xfrm>
          <a:prstGeom prst="rect">
            <a:avLst/>
          </a:prstGeom>
        </p:spPr>
      </p:pic>
      <p:sp>
        <p:nvSpPr>
          <p:cNvPr id="19" name="Text 15"/>
          <p:cNvSpPr/>
          <p:nvPr/>
        </p:nvSpPr>
        <p:spPr>
          <a:xfrm>
            <a:off x="3607359" y="2095584"/>
            <a:ext cx="2176272" cy="548640"/>
          </a:xfrm>
          <a:prstGeom prst="rect">
            <a:avLst/>
          </a:prstGeom>
          <a:noFill/>
          <a:ln/>
        </p:spPr>
        <p:txBody>
          <a:bodyPr wrap="square" lIns="0" tIns="0" rIns="0" bIns="0" rtlCol="0" anchor="t"/>
          <a:lstStyle/>
          <a:p>
            <a:pPr marL="0" indent="0" algn="l">
              <a:lnSpc>
                <a:spcPct val="100000"/>
              </a:lnSpc>
              <a:buNone/>
            </a:pPr>
            <a:r>
              <a:rPr lang="en-US" sz="1550" b="1" dirty="0">
                <a:solidFill>
                  <a:srgbClr val="13294B"/>
                </a:solidFill>
                <a:latin typeface="Cambria" pitchFamily="34" charset="0"/>
                <a:ea typeface="Cambria" pitchFamily="34" charset="-122"/>
                <a:cs typeface="Cambria" pitchFamily="34" charset="-120"/>
              </a:rPr>
              <a:t>Cohesion &amp; Coupling</a:t>
            </a:r>
            <a:endParaRPr lang="en-US" sz="1550" dirty="0"/>
          </a:p>
        </p:txBody>
      </p:sp>
      <p:sp>
        <p:nvSpPr>
          <p:cNvPr id="20" name="Text 16"/>
          <p:cNvSpPr/>
          <p:nvPr/>
        </p:nvSpPr>
        <p:spPr>
          <a:xfrm>
            <a:off x="3607359" y="2534496"/>
            <a:ext cx="2212848" cy="502920"/>
          </a:xfrm>
          <a:prstGeom prst="rect">
            <a:avLst/>
          </a:prstGeom>
          <a:noFill/>
          <a:ln/>
        </p:spPr>
        <p:txBody>
          <a:bodyPr wrap="square" lIns="0" tIns="0" rIns="0" bIns="0" rtlCol="0" anchor="t"/>
          <a:lstStyle/>
          <a:p>
            <a:pPr marL="0" indent="0" algn="l">
              <a:lnSpc>
                <a:spcPct val="102000"/>
              </a:lnSpc>
              <a:buNone/>
            </a:pPr>
            <a:r>
              <a:rPr lang="en-US" sz="1150" dirty="0">
                <a:solidFill>
                  <a:srgbClr val="5C6B82"/>
                </a:solidFill>
                <a:latin typeface="Calibri" pitchFamily="34" charset="0"/>
                <a:ea typeface="Calibri" pitchFamily="34" charset="-122"/>
                <a:cs typeface="Calibri" pitchFamily="34" charset="-120"/>
              </a:rPr>
              <a:t>Classification, high-cohesion / low-coupling</a:t>
            </a:r>
            <a:endParaRPr lang="en-US" sz="1150" dirty="0"/>
          </a:p>
        </p:txBody>
      </p:sp>
      <p:sp>
        <p:nvSpPr>
          <p:cNvPr id="21" name="Shape 17"/>
          <p:cNvSpPr/>
          <p:nvPr/>
        </p:nvSpPr>
        <p:spPr>
          <a:xfrm>
            <a:off x="6259119" y="998304"/>
            <a:ext cx="2615184" cy="2084832"/>
          </a:xfrm>
          <a:prstGeom prst="roundRect">
            <a:avLst>
              <a:gd name="adj" fmla="val 6140"/>
            </a:avLst>
          </a:prstGeom>
          <a:solidFill>
            <a:srgbClr val="DCE6F1"/>
          </a:solidFill>
          <a:ln/>
          <a:effectLst>
            <a:outerShdw blurRad="1524" dist="889" dir="5400000" algn="bl" rotWithShape="0">
              <a:srgbClr val="1B3A5F">
                <a:alpha val="18000"/>
              </a:srgbClr>
            </a:outerShdw>
          </a:effectLst>
        </p:spPr>
        <p:txBody>
          <a:bodyPr/>
          <a:lstStyle/>
          <a:p>
            <a:endParaRPr lang="en-IN"/>
          </a:p>
        </p:txBody>
      </p:sp>
      <p:sp>
        <p:nvSpPr>
          <p:cNvPr id="22" name="Shape 18"/>
          <p:cNvSpPr/>
          <p:nvPr/>
        </p:nvSpPr>
        <p:spPr>
          <a:xfrm>
            <a:off x="6478575" y="1272624"/>
            <a:ext cx="658368" cy="658368"/>
          </a:xfrm>
          <a:prstGeom prst="ellipse">
            <a:avLst/>
          </a:prstGeom>
          <a:solidFill>
            <a:srgbClr val="35618E"/>
          </a:solidFill>
          <a:ln/>
          <a:effectLst>
            <a:outerShdw blurRad="1270" dist="635" dir="5400000" algn="bl" rotWithShape="0">
              <a:srgbClr val="1B3A5F">
                <a:alpha val="25000"/>
              </a:srgbClr>
            </a:outerShdw>
          </a:effectLst>
        </p:spPr>
      </p:sp>
      <p:pic>
        <p:nvPicPr>
          <p:cNvPr id="23" name="Image 2" descr="/home/claude/deck/icons/sitemap.png"/>
          <p:cNvPicPr>
            <a:picLocks noChangeAspect="1"/>
          </p:cNvPicPr>
          <p:nvPr/>
        </p:nvPicPr>
        <p:blipFill>
          <a:blip r:embed="rId6"/>
          <a:stretch>
            <a:fillRect/>
          </a:stretch>
        </p:blipFill>
        <p:spPr>
          <a:xfrm>
            <a:off x="6649751" y="1443800"/>
            <a:ext cx="316017" cy="316017"/>
          </a:xfrm>
          <a:prstGeom prst="rect">
            <a:avLst/>
          </a:prstGeom>
        </p:spPr>
      </p:pic>
      <p:sp>
        <p:nvSpPr>
          <p:cNvPr id="26" name="Text 21"/>
          <p:cNvSpPr/>
          <p:nvPr/>
        </p:nvSpPr>
        <p:spPr>
          <a:xfrm>
            <a:off x="6478575" y="2095584"/>
            <a:ext cx="2176272" cy="548640"/>
          </a:xfrm>
          <a:prstGeom prst="rect">
            <a:avLst/>
          </a:prstGeom>
          <a:noFill/>
          <a:ln/>
        </p:spPr>
        <p:txBody>
          <a:bodyPr wrap="square" lIns="0" tIns="0" rIns="0" bIns="0" rtlCol="0" anchor="t"/>
          <a:lstStyle/>
          <a:p>
            <a:pPr marL="0" indent="0" algn="l">
              <a:lnSpc>
                <a:spcPct val="100000"/>
              </a:lnSpc>
              <a:buNone/>
            </a:pPr>
            <a:r>
              <a:rPr lang="en-US" sz="1550" b="1" dirty="0">
                <a:solidFill>
                  <a:srgbClr val="13294B"/>
                </a:solidFill>
                <a:latin typeface="Cambria" pitchFamily="34" charset="0"/>
                <a:ea typeface="Cambria" pitchFamily="34" charset="-122"/>
                <a:cs typeface="Cambria" pitchFamily="34" charset="-120"/>
              </a:rPr>
              <a:t>Structure &amp; Approaches</a:t>
            </a:r>
            <a:endParaRPr lang="en-US" sz="1550" dirty="0"/>
          </a:p>
        </p:txBody>
      </p:sp>
      <p:sp>
        <p:nvSpPr>
          <p:cNvPr id="27" name="Text 22"/>
          <p:cNvSpPr/>
          <p:nvPr/>
        </p:nvSpPr>
        <p:spPr>
          <a:xfrm>
            <a:off x="6478575" y="2534496"/>
            <a:ext cx="2212848" cy="502920"/>
          </a:xfrm>
          <a:prstGeom prst="rect">
            <a:avLst/>
          </a:prstGeom>
          <a:noFill/>
          <a:ln/>
        </p:spPr>
        <p:txBody>
          <a:bodyPr wrap="square" lIns="0" tIns="0" rIns="0" bIns="0" rtlCol="0" anchor="t"/>
          <a:lstStyle/>
          <a:p>
            <a:pPr marL="0" indent="0" algn="l">
              <a:lnSpc>
                <a:spcPct val="102000"/>
              </a:lnSpc>
              <a:buNone/>
            </a:pPr>
            <a:r>
              <a:rPr lang="en-US" sz="1150" dirty="0">
                <a:solidFill>
                  <a:srgbClr val="5C6B82"/>
                </a:solidFill>
                <a:latin typeface="Calibri" pitchFamily="34" charset="0"/>
                <a:ea typeface="Calibri" pitchFamily="34" charset="-122"/>
                <a:cs typeface="Calibri" pitchFamily="34" charset="-120"/>
              </a:rPr>
              <a:t>Layered modules · FOD vs OOD</a:t>
            </a:r>
            <a:endParaRPr lang="en-US" sz="1150" dirty="0"/>
          </a:p>
        </p:txBody>
      </p:sp>
      <p:sp>
        <p:nvSpPr>
          <p:cNvPr id="28" name="Shape 23"/>
          <p:cNvSpPr/>
          <p:nvPr/>
        </p:nvSpPr>
        <p:spPr>
          <a:xfrm>
            <a:off x="9130335" y="998304"/>
            <a:ext cx="2615184" cy="2084832"/>
          </a:xfrm>
          <a:prstGeom prst="roundRect">
            <a:avLst>
              <a:gd name="adj" fmla="val 6140"/>
            </a:avLst>
          </a:prstGeom>
          <a:solidFill>
            <a:srgbClr val="FBE7DF"/>
          </a:solidFill>
          <a:ln/>
          <a:effectLst>
            <a:outerShdw blurRad="1524" dist="889" dir="5400000" algn="bl" rotWithShape="0">
              <a:srgbClr val="1B3A5F">
                <a:alpha val="18000"/>
              </a:srgbClr>
            </a:outerShdw>
          </a:effectLst>
        </p:spPr>
        <p:txBody>
          <a:bodyPr/>
          <a:lstStyle/>
          <a:p>
            <a:endParaRPr lang="en-IN"/>
          </a:p>
        </p:txBody>
      </p:sp>
      <p:sp>
        <p:nvSpPr>
          <p:cNvPr id="29" name="Shape 24"/>
          <p:cNvSpPr/>
          <p:nvPr/>
        </p:nvSpPr>
        <p:spPr>
          <a:xfrm>
            <a:off x="9349791" y="1272624"/>
            <a:ext cx="658368" cy="658368"/>
          </a:xfrm>
          <a:prstGeom prst="ellipse">
            <a:avLst/>
          </a:prstGeom>
          <a:solidFill>
            <a:srgbClr val="D9542B"/>
          </a:solidFill>
          <a:ln/>
          <a:effectLst>
            <a:outerShdw blurRad="1270" dist="635" dir="5400000" algn="bl" rotWithShape="0">
              <a:srgbClr val="1B3A5F">
                <a:alpha val="25000"/>
              </a:srgbClr>
            </a:outerShdw>
          </a:effectLst>
        </p:spPr>
      </p:sp>
      <p:pic>
        <p:nvPicPr>
          <p:cNvPr id="30" name="Image 3" descr="/home/claude/deck/icons/flow.png"/>
          <p:cNvPicPr>
            <a:picLocks noChangeAspect="1"/>
          </p:cNvPicPr>
          <p:nvPr/>
        </p:nvPicPr>
        <p:blipFill>
          <a:blip r:embed="rId7"/>
          <a:stretch>
            <a:fillRect/>
          </a:stretch>
        </p:blipFill>
        <p:spPr>
          <a:xfrm>
            <a:off x="9520967" y="1443800"/>
            <a:ext cx="316017" cy="316017"/>
          </a:xfrm>
          <a:prstGeom prst="rect">
            <a:avLst/>
          </a:prstGeom>
        </p:spPr>
      </p:pic>
      <p:sp>
        <p:nvSpPr>
          <p:cNvPr id="33" name="Text 27"/>
          <p:cNvSpPr/>
          <p:nvPr/>
        </p:nvSpPr>
        <p:spPr>
          <a:xfrm>
            <a:off x="9349791" y="2095584"/>
            <a:ext cx="2176272" cy="548640"/>
          </a:xfrm>
          <a:prstGeom prst="rect">
            <a:avLst/>
          </a:prstGeom>
          <a:noFill/>
          <a:ln/>
        </p:spPr>
        <p:txBody>
          <a:bodyPr wrap="square" lIns="0" tIns="0" rIns="0" bIns="0" rtlCol="0" anchor="t"/>
          <a:lstStyle/>
          <a:p>
            <a:pPr marL="0" indent="0" algn="l">
              <a:lnSpc>
                <a:spcPct val="100000"/>
              </a:lnSpc>
              <a:buNone/>
            </a:pPr>
            <a:r>
              <a:rPr lang="en-US" sz="1550" b="1" dirty="0">
                <a:solidFill>
                  <a:srgbClr val="13294B"/>
                </a:solidFill>
                <a:latin typeface="Cambria" pitchFamily="34" charset="0"/>
                <a:ea typeface="Cambria" pitchFamily="34" charset="-122"/>
                <a:cs typeface="Cambria" pitchFamily="34" charset="-120"/>
              </a:rPr>
              <a:t>Function-Oriented Design</a:t>
            </a:r>
            <a:endParaRPr lang="en-US" sz="1550" dirty="0"/>
          </a:p>
        </p:txBody>
      </p:sp>
      <p:sp>
        <p:nvSpPr>
          <p:cNvPr id="34" name="Text 28"/>
          <p:cNvSpPr/>
          <p:nvPr/>
        </p:nvSpPr>
        <p:spPr>
          <a:xfrm>
            <a:off x="9349791" y="2534496"/>
            <a:ext cx="2212848" cy="502920"/>
          </a:xfrm>
          <a:prstGeom prst="rect">
            <a:avLst/>
          </a:prstGeom>
          <a:noFill/>
          <a:ln/>
        </p:spPr>
        <p:txBody>
          <a:bodyPr wrap="square" lIns="0" tIns="0" rIns="0" bIns="0" rtlCol="0" anchor="t"/>
          <a:lstStyle/>
          <a:p>
            <a:pPr marL="0" indent="0" algn="l">
              <a:lnSpc>
                <a:spcPct val="102000"/>
              </a:lnSpc>
              <a:buNone/>
            </a:pPr>
            <a:r>
              <a:rPr lang="en-US" sz="1150" dirty="0">
                <a:solidFill>
                  <a:srgbClr val="5C6B82"/>
                </a:solidFill>
                <a:latin typeface="Calibri" pitchFamily="34" charset="0"/>
                <a:ea typeface="Calibri" pitchFamily="34" charset="-122"/>
                <a:cs typeface="Calibri" pitchFamily="34" charset="-120"/>
              </a:rPr>
              <a:t>SA/SD, DFDs, structure charts, review</a:t>
            </a:r>
            <a:endParaRPr lang="en-US" sz="1150" dirty="0"/>
          </a:p>
        </p:txBody>
      </p:sp>
      <p:sp>
        <p:nvSpPr>
          <p:cNvPr id="35" name="Shape 29"/>
          <p:cNvSpPr/>
          <p:nvPr/>
        </p:nvSpPr>
        <p:spPr>
          <a:xfrm>
            <a:off x="516687" y="3403176"/>
            <a:ext cx="2615184" cy="2084832"/>
          </a:xfrm>
          <a:prstGeom prst="roundRect">
            <a:avLst>
              <a:gd name="adj" fmla="val 6140"/>
            </a:avLst>
          </a:prstGeom>
          <a:solidFill>
            <a:srgbClr val="ECE7F5"/>
          </a:solidFill>
          <a:ln/>
          <a:effectLst>
            <a:outerShdw blurRad="1524" dist="889" dir="5400000" algn="bl" rotWithShape="0">
              <a:srgbClr val="1B3A5F">
                <a:alpha val="18000"/>
              </a:srgbClr>
            </a:outerShdw>
          </a:effectLst>
        </p:spPr>
        <p:txBody>
          <a:bodyPr/>
          <a:lstStyle/>
          <a:p>
            <a:endParaRPr lang="en-IN"/>
          </a:p>
        </p:txBody>
      </p:sp>
      <p:sp>
        <p:nvSpPr>
          <p:cNvPr id="36" name="Shape 30"/>
          <p:cNvSpPr/>
          <p:nvPr/>
        </p:nvSpPr>
        <p:spPr>
          <a:xfrm>
            <a:off x="736143" y="3677496"/>
            <a:ext cx="658368" cy="658368"/>
          </a:xfrm>
          <a:prstGeom prst="ellipse">
            <a:avLst/>
          </a:prstGeom>
          <a:solidFill>
            <a:srgbClr val="6C5B9E"/>
          </a:solidFill>
          <a:ln/>
          <a:effectLst>
            <a:outerShdw blurRad="1270" dist="635" dir="5400000" algn="bl" rotWithShape="0">
              <a:srgbClr val="1B3A5F">
                <a:alpha val="25000"/>
              </a:srgbClr>
            </a:outerShdw>
          </a:effectLst>
        </p:spPr>
      </p:sp>
      <p:pic>
        <p:nvPicPr>
          <p:cNvPr id="37" name="Image 4" descr="/home/claude/deck/icons/cube.png"/>
          <p:cNvPicPr>
            <a:picLocks noChangeAspect="1"/>
          </p:cNvPicPr>
          <p:nvPr/>
        </p:nvPicPr>
        <p:blipFill>
          <a:blip r:embed="rId8"/>
          <a:stretch>
            <a:fillRect/>
          </a:stretch>
        </p:blipFill>
        <p:spPr>
          <a:xfrm>
            <a:off x="907319" y="3848672"/>
            <a:ext cx="316017" cy="316017"/>
          </a:xfrm>
          <a:prstGeom prst="rect">
            <a:avLst/>
          </a:prstGeom>
        </p:spPr>
      </p:pic>
      <p:sp>
        <p:nvSpPr>
          <p:cNvPr id="40" name="Text 33"/>
          <p:cNvSpPr/>
          <p:nvPr/>
        </p:nvSpPr>
        <p:spPr>
          <a:xfrm>
            <a:off x="736143" y="4500456"/>
            <a:ext cx="2176272" cy="548640"/>
          </a:xfrm>
          <a:prstGeom prst="rect">
            <a:avLst/>
          </a:prstGeom>
          <a:noFill/>
          <a:ln/>
        </p:spPr>
        <p:txBody>
          <a:bodyPr wrap="square" lIns="0" tIns="0" rIns="0" bIns="0" rtlCol="0" anchor="t"/>
          <a:lstStyle/>
          <a:p>
            <a:pPr marL="0" indent="0" algn="l">
              <a:lnSpc>
                <a:spcPct val="100000"/>
              </a:lnSpc>
              <a:buNone/>
            </a:pPr>
            <a:r>
              <a:rPr lang="en-US" sz="1550" b="1" dirty="0">
                <a:solidFill>
                  <a:srgbClr val="13294B"/>
                </a:solidFill>
                <a:latin typeface="Cambria" pitchFamily="34" charset="0"/>
                <a:ea typeface="Cambria" pitchFamily="34" charset="-122"/>
                <a:cs typeface="Cambria" pitchFamily="34" charset="-120"/>
              </a:rPr>
              <a:t>Object-Oriented Design</a:t>
            </a:r>
            <a:endParaRPr lang="en-US" sz="1550" dirty="0"/>
          </a:p>
        </p:txBody>
      </p:sp>
      <p:sp>
        <p:nvSpPr>
          <p:cNvPr id="41" name="Text 34"/>
          <p:cNvSpPr/>
          <p:nvPr/>
        </p:nvSpPr>
        <p:spPr>
          <a:xfrm>
            <a:off x="736143" y="4939368"/>
            <a:ext cx="2212848" cy="502920"/>
          </a:xfrm>
          <a:prstGeom prst="rect">
            <a:avLst/>
          </a:prstGeom>
          <a:noFill/>
          <a:ln/>
        </p:spPr>
        <p:txBody>
          <a:bodyPr wrap="square" lIns="0" tIns="0" rIns="0" bIns="0" rtlCol="0" anchor="t"/>
          <a:lstStyle/>
          <a:p>
            <a:pPr marL="0" indent="0" algn="l">
              <a:lnSpc>
                <a:spcPct val="102000"/>
              </a:lnSpc>
              <a:buNone/>
            </a:pPr>
            <a:r>
              <a:rPr lang="en-US" sz="1150" dirty="0">
                <a:solidFill>
                  <a:srgbClr val="5C6B82"/>
                </a:solidFill>
                <a:latin typeface="Calibri" pitchFamily="34" charset="0"/>
                <a:ea typeface="Calibri" pitchFamily="34" charset="-122"/>
                <a:cs typeface="Calibri" pitchFamily="34" charset="-120"/>
              </a:rPr>
              <a:t>UML, use cases, Unified Process, OOD criteria</a:t>
            </a:r>
            <a:endParaRPr lang="en-US" sz="1150" dirty="0"/>
          </a:p>
        </p:txBody>
      </p:sp>
      <p:sp>
        <p:nvSpPr>
          <p:cNvPr id="42" name="Shape 35"/>
          <p:cNvSpPr/>
          <p:nvPr/>
        </p:nvSpPr>
        <p:spPr>
          <a:xfrm>
            <a:off x="3387903" y="3403176"/>
            <a:ext cx="2615184" cy="2084832"/>
          </a:xfrm>
          <a:prstGeom prst="roundRect">
            <a:avLst>
              <a:gd name="adj" fmla="val 6140"/>
            </a:avLst>
          </a:prstGeom>
          <a:solidFill>
            <a:srgbClr val="E4F1E9"/>
          </a:solidFill>
          <a:ln/>
          <a:effectLst>
            <a:outerShdw blurRad="1524" dist="889" dir="5400000" algn="bl" rotWithShape="0">
              <a:srgbClr val="1B3A5F">
                <a:alpha val="18000"/>
              </a:srgbClr>
            </a:outerShdw>
          </a:effectLst>
        </p:spPr>
        <p:txBody>
          <a:bodyPr/>
          <a:lstStyle/>
          <a:p>
            <a:endParaRPr lang="en-IN"/>
          </a:p>
        </p:txBody>
      </p:sp>
      <p:sp>
        <p:nvSpPr>
          <p:cNvPr id="43" name="Shape 36"/>
          <p:cNvSpPr/>
          <p:nvPr/>
        </p:nvSpPr>
        <p:spPr>
          <a:xfrm>
            <a:off x="3607359" y="3677496"/>
            <a:ext cx="658368" cy="658368"/>
          </a:xfrm>
          <a:prstGeom prst="ellipse">
            <a:avLst/>
          </a:prstGeom>
          <a:solidFill>
            <a:srgbClr val="2E8B57"/>
          </a:solidFill>
          <a:ln/>
          <a:effectLst>
            <a:outerShdw blurRad="1270" dist="635" dir="5400000" algn="bl" rotWithShape="0">
              <a:srgbClr val="1B3A5F">
                <a:alpha val="25000"/>
              </a:srgbClr>
            </a:outerShdw>
          </a:effectLst>
        </p:spPr>
      </p:sp>
      <p:pic>
        <p:nvPicPr>
          <p:cNvPr id="44" name="Image 5" descr="/home/claude/deck/icons/desktop.png"/>
          <p:cNvPicPr>
            <a:picLocks noChangeAspect="1"/>
          </p:cNvPicPr>
          <p:nvPr/>
        </p:nvPicPr>
        <p:blipFill>
          <a:blip r:embed="rId9"/>
          <a:stretch>
            <a:fillRect/>
          </a:stretch>
        </p:blipFill>
        <p:spPr>
          <a:xfrm>
            <a:off x="3778535" y="3848672"/>
            <a:ext cx="316017" cy="316017"/>
          </a:xfrm>
          <a:prstGeom prst="rect">
            <a:avLst/>
          </a:prstGeom>
        </p:spPr>
      </p:pic>
      <p:sp>
        <p:nvSpPr>
          <p:cNvPr id="47" name="Text 39"/>
          <p:cNvSpPr/>
          <p:nvPr/>
        </p:nvSpPr>
        <p:spPr>
          <a:xfrm>
            <a:off x="3607359" y="4500456"/>
            <a:ext cx="2176272" cy="548640"/>
          </a:xfrm>
          <a:prstGeom prst="rect">
            <a:avLst/>
          </a:prstGeom>
          <a:noFill/>
          <a:ln/>
        </p:spPr>
        <p:txBody>
          <a:bodyPr wrap="square" lIns="0" tIns="0" rIns="0" bIns="0" rtlCol="0" anchor="t"/>
          <a:lstStyle/>
          <a:p>
            <a:pPr marL="0" indent="0" algn="l">
              <a:lnSpc>
                <a:spcPct val="100000"/>
              </a:lnSpc>
              <a:buNone/>
            </a:pPr>
            <a:r>
              <a:rPr lang="en-US" sz="1550" b="1" dirty="0">
                <a:solidFill>
                  <a:srgbClr val="13294B"/>
                </a:solidFill>
                <a:latin typeface="Cambria" pitchFamily="34" charset="0"/>
                <a:ea typeface="Cambria" pitchFamily="34" charset="-122"/>
                <a:cs typeface="Cambria" pitchFamily="34" charset="-120"/>
              </a:rPr>
              <a:t>User Interface Design</a:t>
            </a:r>
            <a:endParaRPr lang="en-US" sz="1550" dirty="0"/>
          </a:p>
        </p:txBody>
      </p:sp>
      <p:sp>
        <p:nvSpPr>
          <p:cNvPr id="48" name="Text 40"/>
          <p:cNvSpPr/>
          <p:nvPr/>
        </p:nvSpPr>
        <p:spPr>
          <a:xfrm>
            <a:off x="3607359" y="4939368"/>
            <a:ext cx="2212848" cy="502920"/>
          </a:xfrm>
          <a:prstGeom prst="rect">
            <a:avLst/>
          </a:prstGeom>
          <a:noFill/>
          <a:ln/>
        </p:spPr>
        <p:txBody>
          <a:bodyPr wrap="square" lIns="0" tIns="0" rIns="0" bIns="0" rtlCol="0" anchor="t"/>
          <a:lstStyle/>
          <a:p>
            <a:pPr marL="0" indent="0" algn="l">
              <a:lnSpc>
                <a:spcPct val="102000"/>
              </a:lnSpc>
              <a:buNone/>
            </a:pPr>
            <a:r>
              <a:rPr lang="en-US" sz="1150" dirty="0">
                <a:solidFill>
                  <a:srgbClr val="5C6B82"/>
                </a:solidFill>
                <a:latin typeface="Calibri" pitchFamily="34" charset="0"/>
                <a:ea typeface="Calibri" pitchFamily="34" charset="-122"/>
                <a:cs typeface="Calibri" pitchFamily="34" charset="-120"/>
              </a:rPr>
              <a:t>Golden rules, UI types, component GUIs</a:t>
            </a:r>
            <a:endParaRPr lang="en-US" sz="1150" dirty="0"/>
          </a:p>
        </p:txBody>
      </p:sp>
      <p:sp>
        <p:nvSpPr>
          <p:cNvPr id="49" name="Shape 41"/>
          <p:cNvSpPr/>
          <p:nvPr/>
        </p:nvSpPr>
        <p:spPr>
          <a:xfrm>
            <a:off x="6259119" y="3403176"/>
            <a:ext cx="2615184" cy="2084832"/>
          </a:xfrm>
          <a:prstGeom prst="roundRect">
            <a:avLst>
              <a:gd name="adj" fmla="val 6140"/>
            </a:avLst>
          </a:prstGeom>
          <a:solidFill>
            <a:srgbClr val="E1F1F1"/>
          </a:solidFill>
          <a:ln/>
          <a:effectLst>
            <a:outerShdw blurRad="1524" dist="889" dir="5400000" algn="bl" rotWithShape="0">
              <a:srgbClr val="1B3A5F">
                <a:alpha val="18000"/>
              </a:srgbClr>
            </a:outerShdw>
          </a:effectLst>
        </p:spPr>
        <p:txBody>
          <a:bodyPr/>
          <a:lstStyle/>
          <a:p>
            <a:endParaRPr lang="en-IN"/>
          </a:p>
        </p:txBody>
      </p:sp>
      <p:sp>
        <p:nvSpPr>
          <p:cNvPr id="50" name="Shape 42"/>
          <p:cNvSpPr/>
          <p:nvPr/>
        </p:nvSpPr>
        <p:spPr>
          <a:xfrm>
            <a:off x="6478575" y="3677496"/>
            <a:ext cx="658368" cy="658368"/>
          </a:xfrm>
          <a:prstGeom prst="ellipse">
            <a:avLst/>
          </a:prstGeom>
          <a:solidFill>
            <a:srgbClr val="0A6E6E"/>
          </a:solidFill>
          <a:ln/>
          <a:effectLst>
            <a:outerShdw blurRad="1270" dist="635" dir="5400000" algn="bl" rotWithShape="0">
              <a:srgbClr val="1B3A5F">
                <a:alpha val="25000"/>
              </a:srgbClr>
            </a:outerShdw>
          </a:effectLst>
        </p:spPr>
      </p:sp>
      <p:pic>
        <p:nvPicPr>
          <p:cNvPr id="51" name="Image 6" descr="/home/claude/deck/icons/globe.png"/>
          <p:cNvPicPr>
            <a:picLocks noChangeAspect="1"/>
          </p:cNvPicPr>
          <p:nvPr/>
        </p:nvPicPr>
        <p:blipFill>
          <a:blip r:embed="rId10"/>
          <a:stretch>
            <a:fillRect/>
          </a:stretch>
        </p:blipFill>
        <p:spPr>
          <a:xfrm>
            <a:off x="6649751" y="3848672"/>
            <a:ext cx="316017" cy="316017"/>
          </a:xfrm>
          <a:prstGeom prst="rect">
            <a:avLst/>
          </a:prstGeom>
        </p:spPr>
      </p:pic>
      <p:sp>
        <p:nvSpPr>
          <p:cNvPr id="54" name="Text 45"/>
          <p:cNvSpPr/>
          <p:nvPr/>
        </p:nvSpPr>
        <p:spPr>
          <a:xfrm>
            <a:off x="6478575" y="4500456"/>
            <a:ext cx="2176272" cy="548640"/>
          </a:xfrm>
          <a:prstGeom prst="rect">
            <a:avLst/>
          </a:prstGeom>
          <a:noFill/>
          <a:ln/>
        </p:spPr>
        <p:txBody>
          <a:bodyPr wrap="square" lIns="0" tIns="0" rIns="0" bIns="0" rtlCol="0" anchor="t"/>
          <a:lstStyle/>
          <a:p>
            <a:pPr marL="0" indent="0" algn="l">
              <a:lnSpc>
                <a:spcPct val="100000"/>
              </a:lnSpc>
              <a:buNone/>
            </a:pPr>
            <a:r>
              <a:rPr lang="en-US" sz="1550" b="1" dirty="0">
                <a:solidFill>
                  <a:srgbClr val="13294B"/>
                </a:solidFill>
                <a:latin typeface="Cambria" pitchFamily="34" charset="0"/>
                <a:ea typeface="Cambria" pitchFamily="34" charset="-122"/>
                <a:cs typeface="Cambria" pitchFamily="34" charset="-120"/>
              </a:rPr>
              <a:t>Web Application Design</a:t>
            </a:r>
            <a:endParaRPr lang="en-US" sz="1550" dirty="0"/>
          </a:p>
        </p:txBody>
      </p:sp>
      <p:sp>
        <p:nvSpPr>
          <p:cNvPr id="55" name="Text 46"/>
          <p:cNvSpPr/>
          <p:nvPr/>
        </p:nvSpPr>
        <p:spPr>
          <a:xfrm>
            <a:off x="6478575" y="4939368"/>
            <a:ext cx="2212848" cy="502920"/>
          </a:xfrm>
          <a:prstGeom prst="rect">
            <a:avLst/>
          </a:prstGeom>
          <a:noFill/>
          <a:ln/>
        </p:spPr>
        <p:txBody>
          <a:bodyPr wrap="square" lIns="0" tIns="0" rIns="0" bIns="0" rtlCol="0" anchor="t"/>
          <a:lstStyle/>
          <a:p>
            <a:pPr marL="0" indent="0" algn="l">
              <a:lnSpc>
                <a:spcPct val="102000"/>
              </a:lnSpc>
              <a:buNone/>
            </a:pPr>
            <a:r>
              <a:rPr lang="en-US" sz="1150" dirty="0">
                <a:solidFill>
                  <a:srgbClr val="5C6B82"/>
                </a:solidFill>
                <a:latin typeface="Calibri" pitchFamily="34" charset="0"/>
                <a:ea typeface="Calibri" pitchFamily="34" charset="-122"/>
                <a:cs typeface="Calibri" pitchFamily="34" charset="-120"/>
              </a:rPr>
              <a:t>Design pyramid, MVC, navigation</a:t>
            </a:r>
            <a:endParaRPr lang="en-US" sz="1150" dirty="0"/>
          </a:p>
        </p:txBody>
      </p:sp>
      <p:sp>
        <p:nvSpPr>
          <p:cNvPr id="56" name="Shape 47"/>
          <p:cNvSpPr/>
          <p:nvPr/>
        </p:nvSpPr>
        <p:spPr>
          <a:xfrm>
            <a:off x="9130335" y="3403176"/>
            <a:ext cx="2615184" cy="2084832"/>
          </a:xfrm>
          <a:prstGeom prst="roundRect">
            <a:avLst>
              <a:gd name="adj" fmla="val 6140"/>
            </a:avLst>
          </a:prstGeom>
          <a:solidFill>
            <a:srgbClr val="DCE6F1"/>
          </a:solidFill>
          <a:ln/>
          <a:effectLst>
            <a:outerShdw blurRad="1524" dist="889" dir="5400000" algn="bl" rotWithShape="0">
              <a:srgbClr val="1B3A5F">
                <a:alpha val="18000"/>
              </a:srgbClr>
            </a:outerShdw>
          </a:effectLst>
        </p:spPr>
        <p:txBody>
          <a:bodyPr/>
          <a:lstStyle/>
          <a:p>
            <a:endParaRPr lang="en-IN"/>
          </a:p>
        </p:txBody>
      </p:sp>
      <p:sp>
        <p:nvSpPr>
          <p:cNvPr id="57" name="Shape 48"/>
          <p:cNvSpPr/>
          <p:nvPr/>
        </p:nvSpPr>
        <p:spPr>
          <a:xfrm>
            <a:off x="9349791" y="3677496"/>
            <a:ext cx="658368" cy="658368"/>
          </a:xfrm>
          <a:prstGeom prst="ellipse">
            <a:avLst/>
          </a:prstGeom>
          <a:solidFill>
            <a:srgbClr val="1B3A5F"/>
          </a:solidFill>
          <a:ln/>
          <a:effectLst>
            <a:outerShdw blurRad="1270" dist="635" dir="5400000" algn="bl" rotWithShape="0">
              <a:srgbClr val="1B3A5F">
                <a:alpha val="25000"/>
              </a:srgbClr>
            </a:outerShdw>
          </a:effectLst>
        </p:spPr>
      </p:sp>
      <p:pic>
        <p:nvPicPr>
          <p:cNvPr id="58" name="Image 7" descr="/home/claude/deck/icons/graduation.png"/>
          <p:cNvPicPr>
            <a:picLocks noChangeAspect="1"/>
          </p:cNvPicPr>
          <p:nvPr/>
        </p:nvPicPr>
        <p:blipFill>
          <a:blip r:embed="rId11"/>
          <a:stretch>
            <a:fillRect/>
          </a:stretch>
        </p:blipFill>
        <p:spPr>
          <a:xfrm>
            <a:off x="9520967" y="3848672"/>
            <a:ext cx="316017" cy="316017"/>
          </a:xfrm>
          <a:prstGeom prst="rect">
            <a:avLst/>
          </a:prstGeom>
        </p:spPr>
      </p:pic>
      <p:sp>
        <p:nvSpPr>
          <p:cNvPr id="61" name="Text 51"/>
          <p:cNvSpPr/>
          <p:nvPr/>
        </p:nvSpPr>
        <p:spPr>
          <a:xfrm>
            <a:off x="9349791" y="4500456"/>
            <a:ext cx="2176272" cy="548640"/>
          </a:xfrm>
          <a:prstGeom prst="rect">
            <a:avLst/>
          </a:prstGeom>
          <a:noFill/>
          <a:ln/>
        </p:spPr>
        <p:txBody>
          <a:bodyPr wrap="square" lIns="0" tIns="0" rIns="0" bIns="0" rtlCol="0" anchor="t"/>
          <a:lstStyle/>
          <a:p>
            <a:pPr marL="0" indent="0" algn="l">
              <a:lnSpc>
                <a:spcPct val="100000"/>
              </a:lnSpc>
              <a:buNone/>
            </a:pPr>
            <a:r>
              <a:rPr lang="en-US" sz="1550" b="1" dirty="0">
                <a:solidFill>
                  <a:srgbClr val="13294B"/>
                </a:solidFill>
                <a:latin typeface="Cambria" pitchFamily="34" charset="0"/>
                <a:ea typeface="Cambria" pitchFamily="34" charset="-122"/>
                <a:cs typeface="Cambria" pitchFamily="34" charset="-120"/>
              </a:rPr>
              <a:t>Synthesis &amp; Review</a:t>
            </a:r>
            <a:endParaRPr lang="en-US" sz="1550" dirty="0"/>
          </a:p>
        </p:txBody>
      </p:sp>
      <p:sp>
        <p:nvSpPr>
          <p:cNvPr id="62" name="Text 52"/>
          <p:cNvSpPr/>
          <p:nvPr/>
        </p:nvSpPr>
        <p:spPr>
          <a:xfrm>
            <a:off x="9349791" y="4939368"/>
            <a:ext cx="2212848" cy="502920"/>
          </a:xfrm>
          <a:prstGeom prst="rect">
            <a:avLst/>
          </a:prstGeom>
          <a:noFill/>
          <a:ln/>
        </p:spPr>
        <p:txBody>
          <a:bodyPr wrap="square" lIns="0" tIns="0" rIns="0" bIns="0" rtlCol="0" anchor="t"/>
          <a:lstStyle/>
          <a:p>
            <a:pPr marL="0" indent="0" algn="l">
              <a:lnSpc>
                <a:spcPct val="102000"/>
              </a:lnSpc>
              <a:buNone/>
            </a:pPr>
            <a:r>
              <a:rPr lang="en-US" sz="1150" dirty="0">
                <a:solidFill>
                  <a:srgbClr val="5C6B82"/>
                </a:solidFill>
                <a:latin typeface="Calibri" pitchFamily="34" charset="0"/>
                <a:ea typeface="Calibri" pitchFamily="34" charset="-122"/>
                <a:cs typeface="Calibri" pitchFamily="34" charset="-120"/>
              </a:rPr>
              <a:t>Principles cheat-sheet &amp; takeaways</a:t>
            </a:r>
            <a:endParaRPr lang="en-US" sz="1150" dirty="0"/>
          </a:p>
        </p:txBody>
      </p:sp>
      <p:pic>
        <p:nvPicPr>
          <p:cNvPr id="45" name="Picture 44" descr="gitam_logo.png"/>
          <p:cNvPicPr>
            <a:picLocks noChangeAspect="1"/>
          </p:cNvPicPr>
          <p:nvPr/>
        </p:nvPicPr>
        <p:blipFill>
          <a:blip r:embed="rId12"/>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4204520012"/>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2" name="Rectangle 1"/>
          <p:cNvSpPr/>
          <p:nvPr/>
        </p:nvSpPr>
        <p:spPr>
          <a:xfrm>
            <a:off x="169333" y="1116898"/>
            <a:ext cx="11700934" cy="1661993"/>
          </a:xfrm>
          <a:prstGeom prst="rect">
            <a:avLst/>
          </a:prstGeom>
        </p:spPr>
        <p:txBody>
          <a:bodyPr wrap="square">
            <a:spAutoFit/>
          </a:bodyPr>
          <a:lstStyle/>
          <a:p>
            <a:endParaRPr lang="en-US" b="1" dirty="0">
              <a:latin typeface="Times New Roman" panose="02020603050405020304" pitchFamily="18" charset="0"/>
              <a:cs typeface="Times New Roman" panose="02020603050405020304" pitchFamily="18" charset="0"/>
            </a:endParaRPr>
          </a:p>
          <a:p>
            <a:pPr>
              <a:tabLst>
                <a:tab pos="11031538" algn="l"/>
                <a:tab pos="11574463" algn="l"/>
              </a:tabLst>
            </a:pPr>
            <a:r>
              <a:rPr lang="en-US" sz="2800" dirty="0">
                <a:latin typeface="Times New Roman" panose="02020603050405020304" pitchFamily="18" charset="0"/>
                <a:cs typeface="Times New Roman" panose="02020603050405020304" pitchFamily="18" charset="0"/>
              </a:rPr>
              <a:t>Software design deals with transforming the customer requirements, as described in the SRS document,into a form (a set of documents) that is suitable for implementation in a programming language. </a:t>
            </a:r>
            <a:endParaRPr lang="en-IN" sz="28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stretch>
            <a:fillRect/>
          </a:stretch>
        </p:blipFill>
        <p:spPr>
          <a:xfrm>
            <a:off x="80920" y="2963334"/>
            <a:ext cx="11044280" cy="2719788"/>
          </a:xfrm>
          <a:prstGeom prst="rect">
            <a:avLst/>
          </a:prstGeom>
        </p:spPr>
      </p:pic>
      <p:pic>
        <p:nvPicPr>
          <p:cNvPr id="5" name="Picture 4"/>
          <p:cNvPicPr>
            <a:picLocks noChangeAspect="1"/>
          </p:cNvPicPr>
          <p:nvPr/>
        </p:nvPicPr>
        <p:blipFill>
          <a:blip r:embed="rId4"/>
          <a:stretch>
            <a:fillRect/>
          </a:stretch>
        </p:blipFill>
        <p:spPr>
          <a:xfrm>
            <a:off x="2645663" y="576856"/>
            <a:ext cx="5304537" cy="711200"/>
          </a:xfrm>
          <a:prstGeom prst="rect">
            <a:avLst/>
          </a:prstGeom>
        </p:spPr>
      </p:pic>
      <p:pic>
        <p:nvPicPr>
          <p:cNvPr id="6" name="Picture 5" descr="gitam_logo.png"/>
          <p:cNvPicPr>
            <a:picLocks noChangeAspect="1"/>
          </p:cNvPicPr>
          <p:nvPr/>
        </p:nvPicPr>
        <p:blipFill>
          <a:blip r:embed="rId5"/>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2569401241"/>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3" name="Text 1"/>
          <p:cNvSpPr/>
          <p:nvPr/>
        </p:nvSpPr>
        <p:spPr>
          <a:xfrm>
            <a:off x="548640" y="658368"/>
            <a:ext cx="10881360" cy="822960"/>
          </a:xfrm>
          <a:prstGeom prst="rect">
            <a:avLst/>
          </a:prstGeom>
          <a:noFill/>
          <a:ln/>
        </p:spPr>
        <p:txBody>
          <a:bodyPr wrap="square" rtlCol="0" anchor="t"/>
          <a:lstStyle/>
          <a:p>
            <a:pPr marL="0" indent="0" algn="l">
              <a:buNone/>
            </a:pPr>
            <a:r>
              <a:rPr lang="en-US" sz="3100" b="1" dirty="0">
                <a:solidFill>
                  <a:srgbClr val="13294B"/>
                </a:solidFill>
                <a:latin typeface="Cambria" pitchFamily="34" charset="0"/>
                <a:ea typeface="Cambria" pitchFamily="34" charset="-122"/>
                <a:cs typeface="Cambria" pitchFamily="34" charset="-120"/>
              </a:rPr>
              <a:t>1.What is software design?</a:t>
            </a:r>
            <a:endParaRPr lang="en-US" sz="3100" dirty="0"/>
          </a:p>
        </p:txBody>
      </p:sp>
      <p:sp>
        <p:nvSpPr>
          <p:cNvPr id="6" name="Text 4"/>
          <p:cNvSpPr/>
          <p:nvPr/>
        </p:nvSpPr>
        <p:spPr>
          <a:xfrm>
            <a:off x="11292840" y="6382512"/>
            <a:ext cx="502920" cy="329184"/>
          </a:xfrm>
          <a:prstGeom prst="rect">
            <a:avLst/>
          </a:prstGeom>
          <a:noFill/>
          <a:ln/>
        </p:spPr>
        <p:txBody>
          <a:bodyPr wrap="square" rtlCol="0" anchor="ctr"/>
          <a:lstStyle/>
          <a:p>
            <a:pPr marL="0" indent="0" algn="r">
              <a:buNone/>
            </a:pPr>
            <a:r>
              <a:rPr lang="en-US" sz="1100" b="1" dirty="0">
                <a:solidFill>
                  <a:srgbClr val="35618E"/>
                </a:solidFill>
                <a:latin typeface="Calibri" pitchFamily="34" charset="0"/>
                <a:ea typeface="Calibri" pitchFamily="34" charset="-122"/>
                <a:cs typeface="Calibri" pitchFamily="34" charset="-120"/>
              </a:rPr>
              <a:t>4</a:t>
            </a:r>
            <a:endParaRPr lang="en-US" sz="1100" dirty="0"/>
          </a:p>
        </p:txBody>
      </p:sp>
      <p:sp>
        <p:nvSpPr>
          <p:cNvPr id="7" name="Shape 5"/>
          <p:cNvSpPr/>
          <p:nvPr/>
        </p:nvSpPr>
        <p:spPr>
          <a:xfrm>
            <a:off x="182880" y="1316736"/>
            <a:ext cx="5870448" cy="2267712"/>
          </a:xfrm>
          <a:prstGeom prst="roundRect">
            <a:avLst>
              <a:gd name="adj" fmla="val 5581"/>
            </a:avLst>
          </a:prstGeom>
          <a:solidFill>
            <a:srgbClr val="13294B"/>
          </a:solidFill>
          <a:ln/>
          <a:effectLst>
            <a:outerShdw blurRad="1524" dist="889" dir="5400000" algn="bl" rotWithShape="0">
              <a:srgbClr val="1B3A5F">
                <a:alpha val="18000"/>
              </a:srgbClr>
            </a:outerShdw>
          </a:effectLst>
        </p:spPr>
        <p:txBody>
          <a:bodyPr/>
          <a:lstStyle/>
          <a:p>
            <a:endParaRPr lang="en-IN"/>
          </a:p>
        </p:txBody>
      </p:sp>
      <p:sp>
        <p:nvSpPr>
          <p:cNvPr id="8" name="Text 6"/>
          <p:cNvSpPr/>
          <p:nvPr/>
        </p:nvSpPr>
        <p:spPr>
          <a:xfrm>
            <a:off x="868680" y="1920240"/>
            <a:ext cx="4937760" cy="457200"/>
          </a:xfrm>
          <a:prstGeom prst="rect">
            <a:avLst/>
          </a:prstGeom>
          <a:noFill/>
          <a:ln/>
        </p:spPr>
        <p:txBody>
          <a:bodyPr wrap="square" lIns="0" tIns="0" rIns="0" bIns="0" rtlCol="0" anchor="t"/>
          <a:lstStyle/>
          <a:p>
            <a:pPr marL="0" indent="0" algn="l">
              <a:lnSpc>
                <a:spcPct val="100000"/>
              </a:lnSpc>
              <a:buNone/>
            </a:pPr>
            <a:r>
              <a:rPr lang="en-US" sz="1700" b="1" dirty="0">
                <a:solidFill>
                  <a:srgbClr val="FFFFFF"/>
                </a:solidFill>
                <a:latin typeface="Cambria" pitchFamily="34" charset="0"/>
                <a:ea typeface="Cambria" pitchFamily="34" charset="-122"/>
                <a:cs typeface="Cambria" pitchFamily="34" charset="-120"/>
              </a:rPr>
              <a:t>Design bridges requirements and code</a:t>
            </a:r>
            <a:endParaRPr lang="en-US" sz="1700" dirty="0"/>
          </a:p>
        </p:txBody>
      </p:sp>
      <p:sp>
        <p:nvSpPr>
          <p:cNvPr id="9" name="Text 7"/>
          <p:cNvSpPr/>
          <p:nvPr/>
        </p:nvSpPr>
        <p:spPr>
          <a:xfrm>
            <a:off x="868680" y="2395728"/>
            <a:ext cx="4937760" cy="1097280"/>
          </a:xfrm>
          <a:prstGeom prst="rect">
            <a:avLst/>
          </a:prstGeom>
          <a:noFill/>
          <a:ln/>
        </p:spPr>
        <p:txBody>
          <a:bodyPr wrap="square" lIns="0" tIns="0" rIns="0" bIns="0" rtlCol="0" anchor="t"/>
          <a:lstStyle/>
          <a:p>
            <a:pPr marL="0" indent="0" algn="l">
              <a:lnSpc>
                <a:spcPct val="112000"/>
              </a:lnSpc>
              <a:buNone/>
            </a:pPr>
            <a:r>
              <a:rPr lang="en-US" sz="1350" dirty="0">
                <a:solidFill>
                  <a:srgbClr val="C6D2E6"/>
                </a:solidFill>
                <a:latin typeface="Calibri" pitchFamily="34" charset="0"/>
                <a:ea typeface="Calibri" pitchFamily="34" charset="-122"/>
                <a:cs typeface="Calibri" pitchFamily="34" charset="-120"/>
              </a:rPr>
              <a:t>Software design is the creative process of transforming the "what" captured in the requirements (SRS) into the "how" — a blueprint precise enough to be built, tested, and maintained.</a:t>
            </a:r>
            <a:endParaRPr lang="en-US" sz="1350" dirty="0"/>
          </a:p>
        </p:txBody>
      </p:sp>
      <p:sp>
        <p:nvSpPr>
          <p:cNvPr id="10" name="Shape 8"/>
          <p:cNvSpPr/>
          <p:nvPr/>
        </p:nvSpPr>
        <p:spPr>
          <a:xfrm>
            <a:off x="6501384" y="1417320"/>
            <a:ext cx="1481328" cy="2002536"/>
          </a:xfrm>
          <a:prstGeom prst="roundRect">
            <a:avLst>
              <a:gd name="adj" fmla="val 6173"/>
            </a:avLst>
          </a:prstGeom>
          <a:solidFill>
            <a:srgbClr val="DCE6F1"/>
          </a:solidFill>
          <a:ln/>
          <a:effectLst>
            <a:outerShdw blurRad="1524" dist="889" dir="5400000" algn="bl" rotWithShape="0">
              <a:srgbClr val="1B3A5F">
                <a:alpha val="18000"/>
              </a:srgbClr>
            </a:outerShdw>
          </a:effectLst>
        </p:spPr>
        <p:txBody>
          <a:bodyPr/>
          <a:lstStyle/>
          <a:p>
            <a:endParaRPr lang="en-IN"/>
          </a:p>
        </p:txBody>
      </p:sp>
      <p:sp>
        <p:nvSpPr>
          <p:cNvPr id="11" name="Shape 9"/>
          <p:cNvSpPr/>
          <p:nvPr/>
        </p:nvSpPr>
        <p:spPr>
          <a:xfrm>
            <a:off x="7095744" y="2029968"/>
            <a:ext cx="274320" cy="274320"/>
          </a:xfrm>
          <a:prstGeom prst="ellipse">
            <a:avLst/>
          </a:prstGeom>
          <a:solidFill>
            <a:srgbClr val="35618E"/>
          </a:solidFill>
          <a:ln/>
        </p:spPr>
      </p:sp>
      <p:sp>
        <p:nvSpPr>
          <p:cNvPr id="12" name="Text 10"/>
          <p:cNvSpPr/>
          <p:nvPr/>
        </p:nvSpPr>
        <p:spPr>
          <a:xfrm>
            <a:off x="6601968" y="2359152"/>
            <a:ext cx="1280160" cy="365760"/>
          </a:xfrm>
          <a:prstGeom prst="rect">
            <a:avLst/>
          </a:prstGeom>
          <a:noFill/>
          <a:ln/>
        </p:spPr>
        <p:txBody>
          <a:bodyPr wrap="square" lIns="0" tIns="0" rIns="0" bIns="0" rtlCol="0" anchor="t"/>
          <a:lstStyle/>
          <a:p>
            <a:pPr marL="0" indent="0" algn="ctr">
              <a:lnSpc>
                <a:spcPct val="100000"/>
              </a:lnSpc>
              <a:buNone/>
            </a:pPr>
            <a:r>
              <a:rPr lang="en-US" sz="1400" b="1" dirty="0">
                <a:solidFill>
                  <a:srgbClr val="13294B"/>
                </a:solidFill>
                <a:latin typeface="Cambria" pitchFamily="34" charset="0"/>
                <a:ea typeface="Cambria" pitchFamily="34" charset="-122"/>
                <a:cs typeface="Cambria" pitchFamily="34" charset="-120"/>
              </a:rPr>
              <a:t>Requirements</a:t>
            </a:r>
            <a:endParaRPr lang="en-US" sz="1400" dirty="0"/>
          </a:p>
        </p:txBody>
      </p:sp>
      <p:sp>
        <p:nvSpPr>
          <p:cNvPr id="13" name="Text 11"/>
          <p:cNvSpPr/>
          <p:nvPr/>
        </p:nvSpPr>
        <p:spPr>
          <a:xfrm>
            <a:off x="6583680" y="2761488"/>
            <a:ext cx="1316736" cy="658368"/>
          </a:xfrm>
          <a:prstGeom prst="rect">
            <a:avLst/>
          </a:prstGeom>
          <a:noFill/>
          <a:ln/>
        </p:spPr>
        <p:txBody>
          <a:bodyPr wrap="square" lIns="0" tIns="0" rIns="0" bIns="0" rtlCol="0" anchor="t"/>
          <a:lstStyle/>
          <a:p>
            <a:pPr marL="0" indent="0" algn="ctr">
              <a:lnSpc>
                <a:spcPct val="105000"/>
              </a:lnSpc>
              <a:buNone/>
            </a:pPr>
            <a:r>
              <a:rPr lang="en-US" sz="1050" dirty="0">
                <a:solidFill>
                  <a:srgbClr val="5C6B82"/>
                </a:solidFill>
                <a:latin typeface="Calibri" pitchFamily="34" charset="0"/>
                <a:ea typeface="Calibri" pitchFamily="34" charset="-122"/>
                <a:cs typeface="Calibri" pitchFamily="34" charset="-120"/>
              </a:rPr>
              <a:t>SRS · the problem</a:t>
            </a:r>
            <a:endParaRPr lang="en-US" sz="1050" dirty="0"/>
          </a:p>
        </p:txBody>
      </p:sp>
      <p:sp>
        <p:nvSpPr>
          <p:cNvPr id="14" name="Shape 12"/>
          <p:cNvSpPr/>
          <p:nvPr/>
        </p:nvSpPr>
        <p:spPr>
          <a:xfrm rot="5400000">
            <a:off x="8010144" y="2514600"/>
            <a:ext cx="256032" cy="310896"/>
          </a:xfrm>
          <a:prstGeom prst="triangle">
            <a:avLst/>
          </a:prstGeom>
          <a:solidFill>
            <a:srgbClr val="8A97AC"/>
          </a:solidFill>
          <a:ln/>
        </p:spPr>
      </p:sp>
      <p:sp>
        <p:nvSpPr>
          <p:cNvPr id="15" name="Shape 13"/>
          <p:cNvSpPr/>
          <p:nvPr/>
        </p:nvSpPr>
        <p:spPr>
          <a:xfrm>
            <a:off x="8330184" y="1481327"/>
            <a:ext cx="1481328" cy="1868775"/>
          </a:xfrm>
          <a:prstGeom prst="roundRect">
            <a:avLst>
              <a:gd name="adj" fmla="val 6173"/>
            </a:avLst>
          </a:prstGeom>
          <a:solidFill>
            <a:srgbClr val="E1F1F1"/>
          </a:solidFill>
          <a:ln/>
          <a:effectLst>
            <a:outerShdw blurRad="1524" dist="889" dir="5400000" algn="bl" rotWithShape="0">
              <a:srgbClr val="1B3A5F">
                <a:alpha val="18000"/>
              </a:srgbClr>
            </a:outerShdw>
          </a:effectLst>
        </p:spPr>
        <p:txBody>
          <a:bodyPr/>
          <a:lstStyle/>
          <a:p>
            <a:endParaRPr lang="en-IN"/>
          </a:p>
        </p:txBody>
      </p:sp>
      <p:sp>
        <p:nvSpPr>
          <p:cNvPr id="16" name="Shape 14"/>
          <p:cNvSpPr/>
          <p:nvPr/>
        </p:nvSpPr>
        <p:spPr>
          <a:xfrm>
            <a:off x="8906256" y="2029968"/>
            <a:ext cx="274320" cy="274320"/>
          </a:xfrm>
          <a:prstGeom prst="ellipse">
            <a:avLst/>
          </a:prstGeom>
          <a:solidFill>
            <a:srgbClr val="0E8F8F"/>
          </a:solidFill>
          <a:ln/>
        </p:spPr>
        <p:txBody>
          <a:bodyPr/>
          <a:lstStyle/>
          <a:p>
            <a:endParaRPr lang="en-IN"/>
          </a:p>
        </p:txBody>
      </p:sp>
      <p:sp>
        <p:nvSpPr>
          <p:cNvPr id="17" name="Text 15"/>
          <p:cNvSpPr/>
          <p:nvPr/>
        </p:nvSpPr>
        <p:spPr>
          <a:xfrm>
            <a:off x="8412480" y="2359152"/>
            <a:ext cx="1280160" cy="365760"/>
          </a:xfrm>
          <a:prstGeom prst="rect">
            <a:avLst/>
          </a:prstGeom>
          <a:noFill/>
          <a:ln/>
        </p:spPr>
        <p:txBody>
          <a:bodyPr wrap="square" lIns="0" tIns="0" rIns="0" bIns="0" rtlCol="0" anchor="t"/>
          <a:lstStyle/>
          <a:p>
            <a:pPr marL="0" indent="0" algn="ctr">
              <a:lnSpc>
                <a:spcPct val="100000"/>
              </a:lnSpc>
              <a:buNone/>
            </a:pPr>
            <a:r>
              <a:rPr lang="en-US" sz="1400" b="1" dirty="0">
                <a:solidFill>
                  <a:srgbClr val="13294B"/>
                </a:solidFill>
                <a:latin typeface="Cambria" pitchFamily="34" charset="0"/>
                <a:ea typeface="Cambria" pitchFamily="34" charset="-122"/>
                <a:cs typeface="Cambria" pitchFamily="34" charset="-120"/>
              </a:rPr>
              <a:t>Design</a:t>
            </a:r>
            <a:endParaRPr lang="en-US" sz="1400" dirty="0"/>
          </a:p>
        </p:txBody>
      </p:sp>
      <p:sp>
        <p:nvSpPr>
          <p:cNvPr id="18" name="Text 16"/>
          <p:cNvSpPr/>
          <p:nvPr/>
        </p:nvSpPr>
        <p:spPr>
          <a:xfrm>
            <a:off x="8394192" y="2761488"/>
            <a:ext cx="1316736" cy="658368"/>
          </a:xfrm>
          <a:prstGeom prst="rect">
            <a:avLst/>
          </a:prstGeom>
          <a:noFill/>
          <a:ln/>
        </p:spPr>
        <p:txBody>
          <a:bodyPr wrap="square" lIns="0" tIns="0" rIns="0" bIns="0" rtlCol="0" anchor="t"/>
          <a:lstStyle/>
          <a:p>
            <a:pPr marL="0" indent="0" algn="ctr">
              <a:lnSpc>
                <a:spcPct val="105000"/>
              </a:lnSpc>
              <a:buNone/>
            </a:pPr>
            <a:r>
              <a:rPr lang="en-US" sz="1050" dirty="0">
                <a:solidFill>
                  <a:srgbClr val="5C6B82"/>
                </a:solidFill>
                <a:latin typeface="Calibri" pitchFamily="34" charset="0"/>
                <a:ea typeface="Calibri" pitchFamily="34" charset="-122"/>
                <a:cs typeface="Calibri" pitchFamily="34" charset="-120"/>
              </a:rPr>
              <a:t>blueprint · the solution shape</a:t>
            </a:r>
            <a:endParaRPr lang="en-US" sz="1050" dirty="0"/>
          </a:p>
        </p:txBody>
      </p:sp>
      <p:sp>
        <p:nvSpPr>
          <p:cNvPr id="19" name="Shape 17"/>
          <p:cNvSpPr/>
          <p:nvPr/>
        </p:nvSpPr>
        <p:spPr>
          <a:xfrm rot="5400000">
            <a:off x="9820656" y="2514600"/>
            <a:ext cx="256032" cy="310896"/>
          </a:xfrm>
          <a:prstGeom prst="triangle">
            <a:avLst/>
          </a:prstGeom>
          <a:solidFill>
            <a:srgbClr val="8A97AC"/>
          </a:solidFill>
          <a:ln/>
        </p:spPr>
      </p:sp>
      <p:sp>
        <p:nvSpPr>
          <p:cNvPr id="20" name="Shape 18"/>
          <p:cNvSpPr/>
          <p:nvPr/>
        </p:nvSpPr>
        <p:spPr>
          <a:xfrm>
            <a:off x="10113264" y="1481328"/>
            <a:ext cx="1481328" cy="1868774"/>
          </a:xfrm>
          <a:prstGeom prst="roundRect">
            <a:avLst>
              <a:gd name="adj" fmla="val 6173"/>
            </a:avLst>
          </a:prstGeom>
          <a:solidFill>
            <a:srgbClr val="FBEFDC"/>
          </a:solidFill>
          <a:ln/>
          <a:effectLst>
            <a:outerShdw blurRad="1524" dist="889" dir="5400000" algn="bl" rotWithShape="0">
              <a:srgbClr val="1B3A5F">
                <a:alpha val="18000"/>
              </a:srgbClr>
            </a:outerShdw>
          </a:effectLst>
        </p:spPr>
        <p:txBody>
          <a:bodyPr/>
          <a:lstStyle/>
          <a:p>
            <a:endParaRPr lang="en-IN"/>
          </a:p>
        </p:txBody>
      </p:sp>
      <p:sp>
        <p:nvSpPr>
          <p:cNvPr id="21" name="Shape 19"/>
          <p:cNvSpPr/>
          <p:nvPr/>
        </p:nvSpPr>
        <p:spPr>
          <a:xfrm>
            <a:off x="10716768" y="2029968"/>
            <a:ext cx="274320" cy="274320"/>
          </a:xfrm>
          <a:prstGeom prst="ellipse">
            <a:avLst/>
          </a:prstGeom>
          <a:solidFill>
            <a:srgbClr val="D98A28"/>
          </a:solidFill>
          <a:ln/>
        </p:spPr>
      </p:sp>
      <p:sp>
        <p:nvSpPr>
          <p:cNvPr id="22" name="Text 20"/>
          <p:cNvSpPr/>
          <p:nvPr/>
        </p:nvSpPr>
        <p:spPr>
          <a:xfrm>
            <a:off x="10222992" y="2359152"/>
            <a:ext cx="1280160" cy="365760"/>
          </a:xfrm>
          <a:prstGeom prst="rect">
            <a:avLst/>
          </a:prstGeom>
          <a:noFill/>
          <a:ln/>
        </p:spPr>
        <p:txBody>
          <a:bodyPr wrap="square" lIns="0" tIns="0" rIns="0" bIns="0" rtlCol="0" anchor="t"/>
          <a:lstStyle/>
          <a:p>
            <a:pPr marL="0" indent="0" algn="ctr">
              <a:lnSpc>
                <a:spcPct val="100000"/>
              </a:lnSpc>
              <a:buNone/>
            </a:pPr>
            <a:r>
              <a:rPr lang="en-US" sz="1400" b="1" dirty="0">
                <a:solidFill>
                  <a:srgbClr val="13294B"/>
                </a:solidFill>
                <a:latin typeface="Cambria" pitchFamily="34" charset="0"/>
                <a:ea typeface="Cambria" pitchFamily="34" charset="-122"/>
                <a:cs typeface="Cambria" pitchFamily="34" charset="-120"/>
              </a:rPr>
              <a:t>Construction</a:t>
            </a:r>
            <a:endParaRPr lang="en-US" sz="1400" dirty="0"/>
          </a:p>
        </p:txBody>
      </p:sp>
      <p:sp>
        <p:nvSpPr>
          <p:cNvPr id="23" name="Text 21"/>
          <p:cNvSpPr/>
          <p:nvPr/>
        </p:nvSpPr>
        <p:spPr>
          <a:xfrm>
            <a:off x="10204704" y="2904919"/>
            <a:ext cx="1316736" cy="658368"/>
          </a:xfrm>
          <a:prstGeom prst="rect">
            <a:avLst/>
          </a:prstGeom>
          <a:noFill/>
          <a:ln/>
        </p:spPr>
        <p:txBody>
          <a:bodyPr wrap="square" lIns="0" tIns="0" rIns="0" bIns="0" rtlCol="0" anchor="t"/>
          <a:lstStyle/>
          <a:p>
            <a:pPr marL="0" indent="0" algn="ctr">
              <a:lnSpc>
                <a:spcPct val="105000"/>
              </a:lnSpc>
              <a:buNone/>
            </a:pPr>
            <a:r>
              <a:rPr lang="en-US" sz="1050" dirty="0">
                <a:solidFill>
                  <a:srgbClr val="5C6B82"/>
                </a:solidFill>
                <a:latin typeface="Calibri" pitchFamily="34" charset="0"/>
                <a:ea typeface="Calibri" pitchFamily="34" charset="-122"/>
                <a:cs typeface="Calibri" pitchFamily="34" charset="-120"/>
              </a:rPr>
              <a:t>code · the working system</a:t>
            </a:r>
            <a:endParaRPr lang="en-US" sz="1050" dirty="0"/>
          </a:p>
        </p:txBody>
      </p:sp>
      <p:sp>
        <p:nvSpPr>
          <p:cNvPr id="24" name="Text 22"/>
          <p:cNvSpPr/>
          <p:nvPr/>
        </p:nvSpPr>
        <p:spPr>
          <a:xfrm>
            <a:off x="566928" y="3977640"/>
            <a:ext cx="5486400" cy="365760"/>
          </a:xfrm>
          <a:prstGeom prst="rect">
            <a:avLst/>
          </a:prstGeom>
          <a:noFill/>
          <a:ln/>
        </p:spPr>
        <p:txBody>
          <a:bodyPr wrap="square" lIns="0" tIns="0" rIns="0" bIns="0" rtlCol="0" anchor="t"/>
          <a:lstStyle/>
          <a:p>
            <a:pPr marL="0" indent="0" algn="l">
              <a:lnSpc>
                <a:spcPct val="100000"/>
              </a:lnSpc>
              <a:buNone/>
            </a:pPr>
            <a:r>
              <a:rPr lang="en-US" sz="1600" b="1" dirty="0">
                <a:solidFill>
                  <a:srgbClr val="1B3A5F"/>
                </a:solidFill>
                <a:latin typeface="Cambria" pitchFamily="34" charset="0"/>
                <a:ea typeface="Cambria" pitchFamily="34" charset="-122"/>
                <a:cs typeface="Cambria" pitchFamily="34" charset="-120"/>
              </a:rPr>
              <a:t>Two levels of design</a:t>
            </a:r>
            <a:endParaRPr lang="en-US" sz="1600" dirty="0"/>
          </a:p>
        </p:txBody>
      </p:sp>
      <p:sp>
        <p:nvSpPr>
          <p:cNvPr id="25" name="Shape 23"/>
          <p:cNvSpPr/>
          <p:nvPr/>
        </p:nvSpPr>
        <p:spPr>
          <a:xfrm>
            <a:off x="182880" y="4434840"/>
            <a:ext cx="5779008" cy="1600200"/>
          </a:xfrm>
          <a:prstGeom prst="roundRect">
            <a:avLst>
              <a:gd name="adj" fmla="val 5714"/>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txBody>
          <a:bodyPr/>
          <a:lstStyle/>
          <a:p>
            <a:endParaRPr lang="en-IN"/>
          </a:p>
        </p:txBody>
      </p:sp>
      <p:sp>
        <p:nvSpPr>
          <p:cNvPr id="26" name="Shape 24"/>
          <p:cNvSpPr/>
          <p:nvPr/>
        </p:nvSpPr>
        <p:spPr>
          <a:xfrm>
            <a:off x="768096" y="4617720"/>
            <a:ext cx="566928" cy="566928"/>
          </a:xfrm>
          <a:prstGeom prst="ellipse">
            <a:avLst/>
          </a:prstGeom>
          <a:solidFill>
            <a:srgbClr val="0E8F8F"/>
          </a:solidFill>
          <a:ln/>
          <a:effectLst>
            <a:outerShdw blurRad="1270" dist="635" dir="5400000" algn="bl" rotWithShape="0">
              <a:srgbClr val="1B3A5F">
                <a:alpha val="25000"/>
              </a:srgbClr>
            </a:outerShdw>
          </a:effectLst>
        </p:spPr>
      </p:sp>
      <p:pic>
        <p:nvPicPr>
          <p:cNvPr id="27" name="Image 0" descr="/home/claude/deck/icons/layers.png"/>
          <p:cNvPicPr>
            <a:picLocks noChangeAspect="1"/>
          </p:cNvPicPr>
          <p:nvPr/>
        </p:nvPicPr>
        <p:blipFill>
          <a:blip r:embed="rId4"/>
          <a:stretch>
            <a:fillRect/>
          </a:stretch>
        </p:blipFill>
        <p:spPr>
          <a:xfrm>
            <a:off x="915497" y="4765121"/>
            <a:ext cx="272125" cy="272125"/>
          </a:xfrm>
          <a:prstGeom prst="rect">
            <a:avLst/>
          </a:prstGeom>
        </p:spPr>
      </p:pic>
      <p:sp>
        <p:nvSpPr>
          <p:cNvPr id="28" name="Text 25"/>
          <p:cNvSpPr/>
          <p:nvPr/>
        </p:nvSpPr>
        <p:spPr>
          <a:xfrm>
            <a:off x="1499616" y="4617720"/>
            <a:ext cx="4297680" cy="548640"/>
          </a:xfrm>
          <a:prstGeom prst="rect">
            <a:avLst/>
          </a:prstGeom>
          <a:noFill/>
          <a:ln/>
        </p:spPr>
        <p:txBody>
          <a:bodyPr wrap="square" lIns="0" tIns="0" rIns="0" bIns="0" rtlCol="0" anchor="t"/>
          <a:lstStyle/>
          <a:p>
            <a:pPr marL="0" indent="0" algn="l">
              <a:lnSpc>
                <a:spcPct val="100000"/>
              </a:lnSpc>
              <a:buNone/>
            </a:pPr>
            <a:r>
              <a:rPr lang="en-US" sz="1380" b="1" dirty="0">
                <a:solidFill>
                  <a:srgbClr val="13294B"/>
                </a:solidFill>
                <a:latin typeface="Cambria" pitchFamily="34" charset="0"/>
                <a:ea typeface="Cambria" pitchFamily="34" charset="-122"/>
                <a:cs typeface="Cambria" pitchFamily="34" charset="-120"/>
              </a:rPr>
              <a:t>Architectural / high-level design</a:t>
            </a:r>
            <a:endParaRPr lang="en-US" sz="1380" dirty="0"/>
          </a:p>
        </p:txBody>
      </p:sp>
      <p:sp>
        <p:nvSpPr>
          <p:cNvPr id="29" name="Text 26"/>
          <p:cNvSpPr/>
          <p:nvPr/>
        </p:nvSpPr>
        <p:spPr>
          <a:xfrm>
            <a:off x="1499616" y="5138928"/>
            <a:ext cx="4343400" cy="822960"/>
          </a:xfrm>
          <a:prstGeom prst="rect">
            <a:avLst/>
          </a:prstGeom>
          <a:noFill/>
          <a:ln/>
        </p:spPr>
        <p:txBody>
          <a:bodyPr wrap="square" lIns="0" tIns="0" rIns="0" bIns="0" rtlCol="0" anchor="t"/>
          <a:lstStyle/>
          <a:p>
            <a:pPr marL="0" indent="0" algn="l">
              <a:lnSpc>
                <a:spcPct val="110000"/>
              </a:lnSpc>
              <a:buNone/>
            </a:pPr>
            <a:r>
              <a:rPr lang="en-US" sz="1200" dirty="0">
                <a:solidFill>
                  <a:srgbClr val="5C6B82"/>
                </a:solidFill>
                <a:latin typeface="Calibri" pitchFamily="34" charset="0"/>
                <a:ea typeface="Calibri" pitchFamily="34" charset="-122"/>
                <a:cs typeface="Calibri" pitchFamily="34" charset="-120"/>
              </a:rPr>
              <a:t>Decompose the system into modules and define their relationships &amp; interfaces — the "top-level" structure.</a:t>
            </a:r>
            <a:endParaRPr lang="en-US" sz="1200" dirty="0"/>
          </a:p>
        </p:txBody>
      </p:sp>
      <p:sp>
        <p:nvSpPr>
          <p:cNvPr id="30" name="Shape 27"/>
          <p:cNvSpPr/>
          <p:nvPr/>
        </p:nvSpPr>
        <p:spPr>
          <a:xfrm>
            <a:off x="6099048" y="4434840"/>
            <a:ext cx="5394960" cy="1600200"/>
          </a:xfrm>
          <a:prstGeom prst="roundRect">
            <a:avLst>
              <a:gd name="adj" fmla="val 5714"/>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sp>
      <p:sp>
        <p:nvSpPr>
          <p:cNvPr id="31" name="Shape 28"/>
          <p:cNvSpPr/>
          <p:nvPr/>
        </p:nvSpPr>
        <p:spPr>
          <a:xfrm>
            <a:off x="6300216" y="4617720"/>
            <a:ext cx="566928" cy="566928"/>
          </a:xfrm>
          <a:prstGeom prst="ellipse">
            <a:avLst/>
          </a:prstGeom>
          <a:solidFill>
            <a:srgbClr val="D98A28"/>
          </a:solidFill>
          <a:ln/>
          <a:effectLst>
            <a:outerShdw blurRad="1270" dist="635" dir="5400000" algn="bl" rotWithShape="0">
              <a:srgbClr val="1B3A5F">
                <a:alpha val="25000"/>
              </a:srgbClr>
            </a:outerShdw>
          </a:effectLst>
        </p:spPr>
      </p:sp>
      <p:pic>
        <p:nvPicPr>
          <p:cNvPr id="32" name="Image 1" descr="/home/claude/deck/icons/code.png"/>
          <p:cNvPicPr>
            <a:picLocks noChangeAspect="1"/>
          </p:cNvPicPr>
          <p:nvPr/>
        </p:nvPicPr>
        <p:blipFill>
          <a:blip r:embed="rId5"/>
          <a:stretch>
            <a:fillRect/>
          </a:stretch>
        </p:blipFill>
        <p:spPr>
          <a:xfrm>
            <a:off x="6447617" y="4765121"/>
            <a:ext cx="272125" cy="272125"/>
          </a:xfrm>
          <a:prstGeom prst="rect">
            <a:avLst/>
          </a:prstGeom>
        </p:spPr>
      </p:pic>
      <p:sp>
        <p:nvSpPr>
          <p:cNvPr id="33" name="Text 29"/>
          <p:cNvSpPr/>
          <p:nvPr/>
        </p:nvSpPr>
        <p:spPr>
          <a:xfrm>
            <a:off x="7031736" y="4617720"/>
            <a:ext cx="4297680" cy="548640"/>
          </a:xfrm>
          <a:prstGeom prst="rect">
            <a:avLst/>
          </a:prstGeom>
          <a:noFill/>
          <a:ln/>
        </p:spPr>
        <p:txBody>
          <a:bodyPr wrap="square" lIns="0" tIns="0" rIns="0" bIns="0" rtlCol="0" anchor="t"/>
          <a:lstStyle/>
          <a:p>
            <a:pPr marL="0" indent="0" algn="l">
              <a:lnSpc>
                <a:spcPct val="100000"/>
              </a:lnSpc>
              <a:buNone/>
            </a:pPr>
            <a:r>
              <a:rPr lang="en-US" sz="1380" b="1" dirty="0">
                <a:solidFill>
                  <a:srgbClr val="13294B"/>
                </a:solidFill>
                <a:latin typeface="Cambria" pitchFamily="34" charset="0"/>
                <a:ea typeface="Cambria" pitchFamily="34" charset="-122"/>
                <a:cs typeface="Cambria" pitchFamily="34" charset="-120"/>
              </a:rPr>
              <a:t>Detailed / low-level design</a:t>
            </a:r>
            <a:endParaRPr lang="en-US" sz="1380" dirty="0"/>
          </a:p>
        </p:txBody>
      </p:sp>
      <p:sp>
        <p:nvSpPr>
          <p:cNvPr id="34" name="Text 30"/>
          <p:cNvSpPr/>
          <p:nvPr/>
        </p:nvSpPr>
        <p:spPr>
          <a:xfrm>
            <a:off x="7031736" y="5138928"/>
            <a:ext cx="4343400" cy="822960"/>
          </a:xfrm>
          <a:prstGeom prst="rect">
            <a:avLst/>
          </a:prstGeom>
          <a:noFill/>
          <a:ln/>
        </p:spPr>
        <p:txBody>
          <a:bodyPr wrap="square" lIns="0" tIns="0" rIns="0" bIns="0" rtlCol="0" anchor="t"/>
          <a:lstStyle/>
          <a:p>
            <a:pPr marL="0" indent="0" algn="l">
              <a:lnSpc>
                <a:spcPct val="110000"/>
              </a:lnSpc>
              <a:buNone/>
            </a:pPr>
            <a:r>
              <a:rPr lang="en-US" sz="1200" dirty="0">
                <a:solidFill>
                  <a:srgbClr val="5C6B82"/>
                </a:solidFill>
                <a:latin typeface="Calibri" pitchFamily="34" charset="0"/>
                <a:ea typeface="Calibri" pitchFamily="34" charset="-122"/>
                <a:cs typeface="Calibri" pitchFamily="34" charset="-120"/>
              </a:rPr>
              <a:t>Specify the internal logic, data structures and algorithms of each module so it can be coded directly.</a:t>
            </a:r>
            <a:endParaRPr lang="en-US" sz="1200" dirty="0"/>
          </a:p>
        </p:txBody>
      </p:sp>
      <p:pic>
        <p:nvPicPr>
          <p:cNvPr id="35" name="Picture 34" descr="gitam_logo.png"/>
          <p:cNvPicPr>
            <a:picLocks noChangeAspect="1"/>
          </p:cNvPicPr>
          <p:nvPr/>
        </p:nvPicPr>
        <p:blipFill>
          <a:blip r:embed="rId6"/>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1740061891"/>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2" name="Rectangle 1"/>
          <p:cNvSpPr/>
          <p:nvPr/>
        </p:nvSpPr>
        <p:spPr>
          <a:xfrm>
            <a:off x="406400" y="104858"/>
            <a:ext cx="11404599" cy="584775"/>
          </a:xfrm>
          <a:prstGeom prst="rect">
            <a:avLst/>
          </a:prstGeom>
        </p:spPr>
        <p:txBody>
          <a:bodyPr wrap="square">
            <a:spAutoFit/>
          </a:bodyPr>
          <a:lstStyle/>
          <a:p>
            <a:r>
              <a:rPr lang="en-US" sz="3200" b="1" dirty="0">
                <a:solidFill>
                  <a:srgbClr val="FF0000"/>
                </a:solidFill>
                <a:latin typeface="STIXMathJax_Main-Bold-SC750"/>
              </a:rPr>
              <a:t>         </a:t>
            </a:r>
            <a:r>
              <a:rPr lang="en-US" sz="3200" b="1" dirty="0">
                <a:solidFill>
                  <a:srgbClr val="FF0000"/>
                </a:solidFill>
                <a:latin typeface="Times New Roman" panose="02020603050405020304" pitchFamily="18" charset="0"/>
                <a:cs typeface="Times New Roman" panose="02020603050405020304" pitchFamily="18" charset="0"/>
              </a:rPr>
              <a:t>Design Within the Context of Software  </a:t>
            </a:r>
            <a:r>
              <a:rPr lang="en-IN" sz="3200" b="1" dirty="0">
                <a:solidFill>
                  <a:srgbClr val="FF0000"/>
                </a:solidFill>
                <a:latin typeface="Times New Roman" panose="02020603050405020304" pitchFamily="18" charset="0"/>
                <a:cs typeface="Times New Roman" panose="02020603050405020304" pitchFamily="18" charset="0"/>
              </a:rPr>
              <a:t>Engineering</a:t>
            </a:r>
          </a:p>
        </p:txBody>
      </p:sp>
      <p:sp>
        <p:nvSpPr>
          <p:cNvPr id="31" name="Rectangle 3"/>
          <p:cNvSpPr txBox="1">
            <a:spLocks noChangeArrowheads="1"/>
          </p:cNvSpPr>
          <p:nvPr/>
        </p:nvSpPr>
        <p:spPr>
          <a:xfrm>
            <a:off x="355599" y="795866"/>
            <a:ext cx="11455400" cy="5604933"/>
          </a:xfr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39725" indent="-339725">
              <a:lnSpc>
                <a:spcPct val="90000"/>
              </a:lnSpc>
              <a:spcBef>
                <a:spcPts val="50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Times New Roman" panose="02020603050405020304" pitchFamily="18" charset="0"/>
                <a:cs typeface="Times New Roman" panose="02020603050405020304" pitchFamily="18" charset="0"/>
              </a:rPr>
              <a:t>Each element of the analysis model provides information that is necessary to create the </a:t>
            </a:r>
            <a:r>
              <a:rPr lang="en-GB" altLang="en-US" sz="2400" u="sng" dirty="0">
                <a:latin typeface="Times New Roman" panose="02020603050405020304" pitchFamily="18" charset="0"/>
                <a:cs typeface="Times New Roman" panose="02020603050405020304" pitchFamily="18" charset="0"/>
              </a:rPr>
              <a:t>four</a:t>
            </a:r>
            <a:r>
              <a:rPr lang="en-GB" altLang="en-US" sz="2400" dirty="0">
                <a:latin typeface="Times New Roman" panose="02020603050405020304" pitchFamily="18" charset="0"/>
                <a:cs typeface="Times New Roman" panose="02020603050405020304" pitchFamily="18" charset="0"/>
              </a:rPr>
              <a:t> design models</a:t>
            </a:r>
          </a:p>
          <a:p>
            <a:pPr marL="739775" lvl="1" indent="-282575">
              <a:lnSpc>
                <a:spcPct val="90000"/>
              </a:lnSpc>
              <a:spcBef>
                <a:spcPts val="45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endParaRPr lang="en-GB" altLang="en-US" sz="2400" dirty="0">
              <a:latin typeface="Times New Roman" panose="02020603050405020304" pitchFamily="18" charset="0"/>
              <a:cs typeface="Times New Roman" panose="02020603050405020304" pitchFamily="18" charset="0"/>
            </a:endParaRPr>
          </a:p>
          <a:p>
            <a:pPr marL="739775" lvl="1" indent="-282575">
              <a:lnSpc>
                <a:spcPct val="90000"/>
              </a:lnSpc>
              <a:spcBef>
                <a:spcPts val="45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Times New Roman" panose="02020603050405020304" pitchFamily="18" charset="0"/>
                <a:cs typeface="Times New Roman" panose="02020603050405020304" pitchFamily="18" charset="0"/>
              </a:rPr>
              <a:t>The </a:t>
            </a:r>
            <a:r>
              <a:rPr lang="en-GB" altLang="en-US" sz="2400" u="sng" dirty="0">
                <a:latin typeface="Times New Roman" panose="02020603050405020304" pitchFamily="18" charset="0"/>
                <a:cs typeface="Times New Roman" panose="02020603050405020304" pitchFamily="18" charset="0"/>
              </a:rPr>
              <a:t>data/class design</a:t>
            </a:r>
            <a:r>
              <a:rPr lang="en-GB" altLang="en-US" sz="2400" dirty="0">
                <a:latin typeface="Times New Roman" panose="02020603050405020304" pitchFamily="18" charset="0"/>
                <a:cs typeface="Times New Roman" panose="02020603050405020304" pitchFamily="18" charset="0"/>
              </a:rPr>
              <a:t> transforms analysis classes into </a:t>
            </a:r>
            <a:r>
              <a:rPr lang="en-GB" altLang="en-US" sz="2400" u="sng" dirty="0">
                <a:latin typeface="Times New Roman" panose="02020603050405020304" pitchFamily="18" charset="0"/>
                <a:cs typeface="Times New Roman" panose="02020603050405020304" pitchFamily="18" charset="0"/>
              </a:rPr>
              <a:t>design classes</a:t>
            </a:r>
            <a:r>
              <a:rPr lang="en-GB" altLang="en-US" sz="2400" dirty="0">
                <a:latin typeface="Times New Roman" panose="02020603050405020304" pitchFamily="18" charset="0"/>
                <a:cs typeface="Times New Roman" panose="02020603050405020304" pitchFamily="18" charset="0"/>
              </a:rPr>
              <a:t> along with the </a:t>
            </a:r>
            <a:r>
              <a:rPr lang="en-GB" altLang="en-US" sz="2400" u="sng" dirty="0">
                <a:latin typeface="Times New Roman" panose="02020603050405020304" pitchFamily="18" charset="0"/>
                <a:cs typeface="Times New Roman" panose="02020603050405020304" pitchFamily="18" charset="0"/>
              </a:rPr>
              <a:t>data structures</a:t>
            </a:r>
            <a:r>
              <a:rPr lang="en-GB" altLang="en-US" sz="2400" dirty="0">
                <a:latin typeface="Times New Roman" panose="02020603050405020304" pitchFamily="18" charset="0"/>
                <a:cs typeface="Times New Roman" panose="02020603050405020304" pitchFamily="18" charset="0"/>
              </a:rPr>
              <a:t> required to implement the software</a:t>
            </a:r>
          </a:p>
          <a:p>
            <a:pPr marL="457200" lvl="1" indent="0">
              <a:lnSpc>
                <a:spcPct val="90000"/>
              </a:lnSpc>
              <a:spcBef>
                <a:spcPts val="450"/>
              </a:spcBef>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endParaRPr lang="en-GB" altLang="en-US" sz="2400" dirty="0">
              <a:latin typeface="Times New Roman" panose="02020603050405020304" pitchFamily="18" charset="0"/>
              <a:cs typeface="Times New Roman" panose="02020603050405020304" pitchFamily="18" charset="0"/>
            </a:endParaRPr>
          </a:p>
          <a:p>
            <a:pPr marL="739775" lvl="1" indent="-282575">
              <a:lnSpc>
                <a:spcPct val="90000"/>
              </a:lnSpc>
              <a:spcBef>
                <a:spcPts val="45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Times New Roman" panose="02020603050405020304" pitchFamily="18" charset="0"/>
                <a:cs typeface="Times New Roman" panose="02020603050405020304" pitchFamily="18" charset="0"/>
              </a:rPr>
              <a:t>The </a:t>
            </a:r>
            <a:r>
              <a:rPr lang="en-GB" altLang="en-US" sz="2400" u="sng" dirty="0">
                <a:latin typeface="Times New Roman" panose="02020603050405020304" pitchFamily="18" charset="0"/>
                <a:cs typeface="Times New Roman" panose="02020603050405020304" pitchFamily="18" charset="0"/>
              </a:rPr>
              <a:t>architectural design</a:t>
            </a:r>
            <a:r>
              <a:rPr lang="en-GB" altLang="en-US" sz="2400" dirty="0">
                <a:latin typeface="Times New Roman" panose="02020603050405020304" pitchFamily="18" charset="0"/>
                <a:cs typeface="Times New Roman" panose="02020603050405020304" pitchFamily="18" charset="0"/>
              </a:rPr>
              <a:t> defines the </a:t>
            </a:r>
            <a:r>
              <a:rPr lang="en-GB" altLang="en-US" sz="2400" u="sng" dirty="0">
                <a:latin typeface="Times New Roman" panose="02020603050405020304" pitchFamily="18" charset="0"/>
                <a:cs typeface="Times New Roman" panose="02020603050405020304" pitchFamily="18" charset="0"/>
              </a:rPr>
              <a:t>relationship</a:t>
            </a:r>
            <a:r>
              <a:rPr lang="en-GB" altLang="en-US" sz="2400" dirty="0">
                <a:latin typeface="Times New Roman" panose="02020603050405020304" pitchFamily="18" charset="0"/>
                <a:cs typeface="Times New Roman" panose="02020603050405020304" pitchFamily="18" charset="0"/>
              </a:rPr>
              <a:t> between major structural elements of the software; </a:t>
            </a:r>
            <a:r>
              <a:rPr lang="en-GB" altLang="en-US" sz="2400" u="sng" dirty="0">
                <a:latin typeface="Times New Roman" panose="02020603050405020304" pitchFamily="18" charset="0"/>
                <a:cs typeface="Times New Roman" panose="02020603050405020304" pitchFamily="18" charset="0"/>
              </a:rPr>
              <a:t>architectural styles</a:t>
            </a:r>
            <a:r>
              <a:rPr lang="en-GB" altLang="en-US" sz="2400" dirty="0">
                <a:latin typeface="Times New Roman" panose="02020603050405020304" pitchFamily="18" charset="0"/>
                <a:cs typeface="Times New Roman" panose="02020603050405020304" pitchFamily="18" charset="0"/>
              </a:rPr>
              <a:t> and </a:t>
            </a:r>
            <a:r>
              <a:rPr lang="en-GB" altLang="en-US" sz="2400" u="sng" dirty="0">
                <a:latin typeface="Times New Roman" panose="02020603050405020304" pitchFamily="18" charset="0"/>
                <a:cs typeface="Times New Roman" panose="02020603050405020304" pitchFamily="18" charset="0"/>
              </a:rPr>
              <a:t>design patterns</a:t>
            </a:r>
            <a:r>
              <a:rPr lang="en-GB" altLang="en-US" sz="2400" dirty="0">
                <a:latin typeface="Times New Roman" panose="02020603050405020304" pitchFamily="18" charset="0"/>
                <a:cs typeface="Times New Roman" panose="02020603050405020304" pitchFamily="18" charset="0"/>
              </a:rPr>
              <a:t> help achieve the requirements defined for the system</a:t>
            </a:r>
          </a:p>
          <a:p>
            <a:pPr marL="457200" lvl="1" indent="0">
              <a:lnSpc>
                <a:spcPct val="90000"/>
              </a:lnSpc>
              <a:spcBef>
                <a:spcPts val="450"/>
              </a:spcBef>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endParaRPr lang="en-GB" altLang="en-US" sz="2400" dirty="0">
              <a:latin typeface="Times New Roman" panose="02020603050405020304" pitchFamily="18" charset="0"/>
              <a:cs typeface="Times New Roman" panose="02020603050405020304" pitchFamily="18" charset="0"/>
            </a:endParaRPr>
          </a:p>
          <a:p>
            <a:pPr marL="739775" lvl="1" indent="-282575">
              <a:lnSpc>
                <a:spcPct val="90000"/>
              </a:lnSpc>
              <a:spcBef>
                <a:spcPts val="45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Times New Roman" panose="02020603050405020304" pitchFamily="18" charset="0"/>
                <a:cs typeface="Times New Roman" panose="02020603050405020304" pitchFamily="18" charset="0"/>
              </a:rPr>
              <a:t>The </a:t>
            </a:r>
            <a:r>
              <a:rPr lang="en-GB" altLang="en-US" sz="2400" u="sng" dirty="0">
                <a:latin typeface="Times New Roman" panose="02020603050405020304" pitchFamily="18" charset="0"/>
                <a:cs typeface="Times New Roman" panose="02020603050405020304" pitchFamily="18" charset="0"/>
              </a:rPr>
              <a:t>interface design</a:t>
            </a:r>
            <a:r>
              <a:rPr lang="en-GB" altLang="en-US" sz="2400" dirty="0">
                <a:latin typeface="Times New Roman" panose="02020603050405020304" pitchFamily="18" charset="0"/>
                <a:cs typeface="Times New Roman" panose="02020603050405020304" pitchFamily="18" charset="0"/>
              </a:rPr>
              <a:t> describes how the software </a:t>
            </a:r>
            <a:r>
              <a:rPr lang="en-GB" altLang="en-US" sz="2400" u="sng" dirty="0">
                <a:latin typeface="Times New Roman" panose="02020603050405020304" pitchFamily="18" charset="0"/>
                <a:cs typeface="Times New Roman" panose="02020603050405020304" pitchFamily="18" charset="0"/>
              </a:rPr>
              <a:t>communicates</a:t>
            </a:r>
            <a:r>
              <a:rPr lang="en-GB" altLang="en-US" sz="2400" dirty="0">
                <a:latin typeface="Times New Roman" panose="02020603050405020304" pitchFamily="18" charset="0"/>
                <a:cs typeface="Times New Roman" panose="02020603050405020304" pitchFamily="18" charset="0"/>
              </a:rPr>
              <a:t> with systems that </a:t>
            </a:r>
            <a:r>
              <a:rPr lang="en-GB" altLang="en-US" sz="2400" u="sng" dirty="0">
                <a:latin typeface="Times New Roman" panose="02020603050405020304" pitchFamily="18" charset="0"/>
                <a:cs typeface="Times New Roman" panose="02020603050405020304" pitchFamily="18" charset="0"/>
              </a:rPr>
              <a:t>interoperate</a:t>
            </a:r>
            <a:r>
              <a:rPr lang="en-GB" altLang="en-US" sz="2400" dirty="0">
                <a:latin typeface="Times New Roman" panose="02020603050405020304" pitchFamily="18" charset="0"/>
                <a:cs typeface="Times New Roman" panose="02020603050405020304" pitchFamily="18" charset="0"/>
              </a:rPr>
              <a:t> with it and with humans that use it.</a:t>
            </a:r>
          </a:p>
          <a:p>
            <a:pPr marL="457200" lvl="1" indent="0">
              <a:lnSpc>
                <a:spcPct val="90000"/>
              </a:lnSpc>
              <a:spcBef>
                <a:spcPts val="450"/>
              </a:spcBef>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endParaRPr lang="en-GB" altLang="en-US" sz="2400" dirty="0">
              <a:latin typeface="Times New Roman" panose="02020603050405020304" pitchFamily="18" charset="0"/>
              <a:cs typeface="Times New Roman" panose="02020603050405020304" pitchFamily="18" charset="0"/>
            </a:endParaRPr>
          </a:p>
          <a:p>
            <a:pPr marL="739775" lvl="1" indent="-282575">
              <a:lnSpc>
                <a:spcPct val="90000"/>
              </a:lnSpc>
              <a:spcBef>
                <a:spcPts val="45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Times New Roman" panose="02020603050405020304" pitchFamily="18" charset="0"/>
                <a:cs typeface="Times New Roman" panose="02020603050405020304" pitchFamily="18" charset="0"/>
              </a:rPr>
              <a:t>The </a:t>
            </a:r>
            <a:r>
              <a:rPr lang="en-GB" altLang="en-US" sz="2400" u="sng" dirty="0">
                <a:latin typeface="Times New Roman" panose="02020603050405020304" pitchFamily="18" charset="0"/>
                <a:cs typeface="Times New Roman" panose="02020603050405020304" pitchFamily="18" charset="0"/>
              </a:rPr>
              <a:t>component-level design</a:t>
            </a:r>
            <a:r>
              <a:rPr lang="en-GB" altLang="en-US" sz="2400" dirty="0">
                <a:latin typeface="Times New Roman" panose="02020603050405020304" pitchFamily="18" charset="0"/>
                <a:cs typeface="Times New Roman" panose="02020603050405020304" pitchFamily="18" charset="0"/>
              </a:rPr>
              <a:t> transforms structural elements of the software architecture into a </a:t>
            </a:r>
            <a:r>
              <a:rPr lang="en-GB" altLang="en-US" sz="2400" u="sng" dirty="0">
                <a:latin typeface="Times New Roman" panose="02020603050405020304" pitchFamily="18" charset="0"/>
                <a:cs typeface="Times New Roman" panose="02020603050405020304" pitchFamily="18" charset="0"/>
              </a:rPr>
              <a:t>procedural description</a:t>
            </a:r>
            <a:r>
              <a:rPr lang="en-GB" altLang="en-US" sz="2400" dirty="0">
                <a:latin typeface="Times New Roman" panose="02020603050405020304" pitchFamily="18" charset="0"/>
                <a:cs typeface="Times New Roman" panose="02020603050405020304" pitchFamily="18" charset="0"/>
              </a:rPr>
              <a:t> of software components</a:t>
            </a:r>
          </a:p>
          <a:p>
            <a:pPr marL="339725" indent="-339725">
              <a:lnSpc>
                <a:spcPct val="90000"/>
              </a:lnSpc>
              <a:spcBef>
                <a:spcPts val="450"/>
              </a:spcBef>
              <a:buFont typeface="Arial" pitchFamily="34" charset="0"/>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endParaRPr lang="en-GB"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8137848"/>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pic>
        <p:nvPicPr>
          <p:cNvPr id="2" name="Image 5"/>
          <p:cNvPicPr/>
          <p:nvPr/>
        </p:nvPicPr>
        <p:blipFill>
          <a:blip r:embed="rId3" cstate="print"/>
          <a:stretch>
            <a:fillRect/>
          </a:stretch>
        </p:blipFill>
        <p:spPr>
          <a:xfrm>
            <a:off x="248143" y="939800"/>
            <a:ext cx="11819467" cy="5113868"/>
          </a:xfrm>
          <a:prstGeom prst="rect">
            <a:avLst/>
          </a:prstGeom>
        </p:spPr>
      </p:pic>
      <p:sp>
        <p:nvSpPr>
          <p:cNvPr id="3" name="Rectangle 2"/>
          <p:cNvSpPr/>
          <p:nvPr/>
        </p:nvSpPr>
        <p:spPr>
          <a:xfrm>
            <a:off x="3361267" y="6219335"/>
            <a:ext cx="6371385" cy="369332"/>
          </a:xfrm>
          <a:prstGeom prst="rect">
            <a:avLst/>
          </a:prstGeom>
        </p:spPr>
        <p:txBody>
          <a:bodyPr wrap="square">
            <a:spAutoFit/>
          </a:bodyPr>
          <a:lstStyle/>
          <a:p>
            <a:r>
              <a:rPr lang="en-US" b="1" dirty="0">
                <a:latin typeface="Times New Roman" panose="02020603050405020304" pitchFamily="18" charset="0"/>
                <a:ea typeface="Times New Roman" panose="02020603050405020304" pitchFamily="18" charset="0"/>
              </a:rPr>
              <a:t>Fig:Translating</a:t>
            </a:r>
            <a:r>
              <a:rPr lang="en-US" b="1" spc="-30" dirty="0">
                <a:latin typeface="Times New Roman" panose="02020603050405020304" pitchFamily="18" charset="0"/>
                <a:ea typeface="Times New Roman" panose="02020603050405020304" pitchFamily="18" charset="0"/>
              </a:rPr>
              <a:t> </a:t>
            </a:r>
            <a:r>
              <a:rPr lang="en-US" b="1" dirty="0">
                <a:latin typeface="Times New Roman" panose="02020603050405020304" pitchFamily="18" charset="0"/>
                <a:ea typeface="Times New Roman" panose="02020603050405020304" pitchFamily="18" charset="0"/>
              </a:rPr>
              <a:t>the</a:t>
            </a:r>
            <a:r>
              <a:rPr lang="en-US" b="1" spc="-35" dirty="0">
                <a:latin typeface="Times New Roman" panose="02020603050405020304" pitchFamily="18" charset="0"/>
                <a:ea typeface="Times New Roman" panose="02020603050405020304" pitchFamily="18" charset="0"/>
              </a:rPr>
              <a:t> </a:t>
            </a:r>
            <a:r>
              <a:rPr lang="en-US" b="1" dirty="0">
                <a:latin typeface="Times New Roman" panose="02020603050405020304" pitchFamily="18" charset="0"/>
                <a:ea typeface="Times New Roman" panose="02020603050405020304" pitchFamily="18" charset="0"/>
              </a:rPr>
              <a:t>requirements</a:t>
            </a:r>
            <a:r>
              <a:rPr lang="en-US" b="1" spc="-15" dirty="0">
                <a:latin typeface="Times New Roman" panose="02020603050405020304" pitchFamily="18" charset="0"/>
                <a:ea typeface="Times New Roman" panose="02020603050405020304" pitchFamily="18" charset="0"/>
              </a:rPr>
              <a:t> </a:t>
            </a:r>
            <a:r>
              <a:rPr lang="en-US" b="1" dirty="0">
                <a:latin typeface="Times New Roman" panose="02020603050405020304" pitchFamily="18" charset="0"/>
                <a:ea typeface="Times New Roman" panose="02020603050405020304" pitchFamily="18" charset="0"/>
              </a:rPr>
              <a:t>model</a:t>
            </a:r>
            <a:r>
              <a:rPr lang="en-US" b="1" spc="-30" dirty="0">
                <a:latin typeface="Times New Roman" panose="02020603050405020304" pitchFamily="18" charset="0"/>
                <a:ea typeface="Times New Roman" panose="02020603050405020304" pitchFamily="18" charset="0"/>
              </a:rPr>
              <a:t> </a:t>
            </a:r>
            <a:r>
              <a:rPr lang="en-US" b="1" dirty="0">
                <a:latin typeface="Times New Roman" panose="02020603050405020304" pitchFamily="18" charset="0"/>
                <a:ea typeface="Times New Roman" panose="02020603050405020304" pitchFamily="18" charset="0"/>
              </a:rPr>
              <a:t>into</a:t>
            </a:r>
            <a:r>
              <a:rPr lang="en-US" b="1" spc="-65" dirty="0">
                <a:latin typeface="Times New Roman" panose="02020603050405020304" pitchFamily="18" charset="0"/>
                <a:ea typeface="Times New Roman" panose="02020603050405020304" pitchFamily="18" charset="0"/>
              </a:rPr>
              <a:t> </a:t>
            </a:r>
            <a:r>
              <a:rPr lang="en-US" b="1" dirty="0">
                <a:latin typeface="Times New Roman" panose="02020603050405020304" pitchFamily="18" charset="0"/>
                <a:ea typeface="Times New Roman" panose="02020603050405020304" pitchFamily="18" charset="0"/>
              </a:rPr>
              <a:t>the</a:t>
            </a:r>
            <a:r>
              <a:rPr lang="en-US" b="1" spc="-25" dirty="0">
                <a:latin typeface="Times New Roman" panose="02020603050405020304" pitchFamily="18" charset="0"/>
                <a:ea typeface="Times New Roman" panose="02020603050405020304" pitchFamily="18" charset="0"/>
              </a:rPr>
              <a:t> </a:t>
            </a:r>
            <a:r>
              <a:rPr lang="en-US" b="1" dirty="0">
                <a:latin typeface="Times New Roman" panose="02020603050405020304" pitchFamily="18" charset="0"/>
                <a:ea typeface="Times New Roman" panose="02020603050405020304" pitchFamily="18" charset="0"/>
              </a:rPr>
              <a:t>design</a:t>
            </a:r>
            <a:r>
              <a:rPr lang="en-US" b="1" spc="-35" dirty="0">
                <a:latin typeface="Times New Roman" panose="02020603050405020304" pitchFamily="18" charset="0"/>
                <a:ea typeface="Times New Roman" panose="02020603050405020304" pitchFamily="18" charset="0"/>
              </a:rPr>
              <a:t> </a:t>
            </a:r>
            <a:r>
              <a:rPr lang="en-US" b="1" spc="-10" dirty="0">
                <a:latin typeface="Times New Roman" panose="02020603050405020304" pitchFamily="18" charset="0"/>
                <a:ea typeface="Times New Roman" panose="02020603050405020304" pitchFamily="18" charset="0"/>
              </a:rPr>
              <a:t>model</a:t>
            </a:r>
            <a:endParaRPr lang="en-IN" b="1" dirty="0"/>
          </a:p>
        </p:txBody>
      </p:sp>
      <p:sp>
        <p:nvSpPr>
          <p:cNvPr id="4" name="Rectangle 3"/>
          <p:cNvSpPr/>
          <p:nvPr/>
        </p:nvSpPr>
        <p:spPr>
          <a:xfrm>
            <a:off x="2540000" y="72137"/>
            <a:ext cx="6460066" cy="523220"/>
          </a:xfrm>
          <a:prstGeom prst="rect">
            <a:avLst/>
          </a:prstGeom>
        </p:spPr>
        <p:txBody>
          <a:bodyPr wrap="square">
            <a:spAutoFit/>
          </a:bodyPr>
          <a:lstStyle/>
          <a:p>
            <a:r>
              <a:rPr lang="en-GB" altLang="en-US" sz="2800" b="1" dirty="0">
                <a:solidFill>
                  <a:srgbClr val="C00000"/>
                </a:solidFill>
                <a:latin typeface="Times New Roman" panose="02020603050405020304" pitchFamily="18" charset="0"/>
                <a:cs typeface="Times New Roman" panose="02020603050405020304" pitchFamily="18" charset="0"/>
              </a:rPr>
              <a:t>From Analysis Model to Design Model</a:t>
            </a:r>
            <a:endParaRPr lang="en-IN" sz="2800" dirty="0">
              <a:solidFill>
                <a:srgbClr val="C00000"/>
              </a:solidFill>
            </a:endParaRPr>
          </a:p>
        </p:txBody>
      </p:sp>
      <p:pic>
        <p:nvPicPr>
          <p:cNvPr id="5" name="Picture 4" descr="gitam_logo.png"/>
          <p:cNvPicPr>
            <a:picLocks noChangeAspect="1"/>
          </p:cNvPicPr>
          <p:nvPr/>
        </p:nvPicPr>
        <p:blipFill>
          <a:blip r:embed="rId4"/>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4044821184"/>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3" name="Text 1"/>
          <p:cNvSpPr/>
          <p:nvPr/>
        </p:nvSpPr>
        <p:spPr>
          <a:xfrm>
            <a:off x="1169334" y="164592"/>
            <a:ext cx="10881360" cy="822960"/>
          </a:xfrm>
          <a:prstGeom prst="rect">
            <a:avLst/>
          </a:prstGeom>
          <a:noFill/>
          <a:ln/>
        </p:spPr>
        <p:txBody>
          <a:bodyPr wrap="square" rtlCol="0" anchor="t"/>
          <a:lstStyle/>
          <a:p>
            <a:pPr marL="0" indent="0" algn="l">
              <a:buNone/>
            </a:pPr>
            <a:r>
              <a:rPr lang="en-US" sz="3100" b="1" dirty="0">
                <a:solidFill>
                  <a:srgbClr val="13294B"/>
                </a:solidFill>
                <a:latin typeface="Cambria" pitchFamily="34" charset="0"/>
                <a:ea typeface="Cambria" pitchFamily="34" charset="-122"/>
                <a:cs typeface="Cambria" pitchFamily="34" charset="-120"/>
              </a:rPr>
              <a:t>Characteristics of a good design</a:t>
            </a:r>
            <a:endParaRPr lang="en-US" sz="3100" dirty="0"/>
          </a:p>
        </p:txBody>
      </p:sp>
      <p:sp>
        <p:nvSpPr>
          <p:cNvPr id="6" name="Text 4"/>
          <p:cNvSpPr/>
          <p:nvPr/>
        </p:nvSpPr>
        <p:spPr>
          <a:xfrm>
            <a:off x="11292840" y="6382512"/>
            <a:ext cx="502920" cy="329184"/>
          </a:xfrm>
          <a:prstGeom prst="rect">
            <a:avLst/>
          </a:prstGeom>
          <a:noFill/>
          <a:ln/>
        </p:spPr>
        <p:txBody>
          <a:bodyPr wrap="square" rtlCol="0" anchor="ctr"/>
          <a:lstStyle/>
          <a:p>
            <a:pPr marL="0" indent="0" algn="r">
              <a:buNone/>
            </a:pPr>
            <a:r>
              <a:rPr lang="en-US" sz="1100" b="1" dirty="0">
                <a:solidFill>
                  <a:srgbClr val="35618E"/>
                </a:solidFill>
                <a:latin typeface="Calibri" pitchFamily="34" charset="0"/>
                <a:ea typeface="Calibri" pitchFamily="34" charset="-122"/>
                <a:cs typeface="Calibri" pitchFamily="34" charset="-120"/>
              </a:rPr>
              <a:t>6</a:t>
            </a:r>
            <a:endParaRPr lang="en-US" sz="1100" dirty="0"/>
          </a:p>
        </p:txBody>
      </p:sp>
      <p:sp>
        <p:nvSpPr>
          <p:cNvPr id="7" name="Shape 5"/>
          <p:cNvSpPr/>
          <p:nvPr/>
        </p:nvSpPr>
        <p:spPr>
          <a:xfrm>
            <a:off x="566928" y="1737360"/>
            <a:ext cx="5486400" cy="932688"/>
          </a:xfrm>
          <a:prstGeom prst="roundRect">
            <a:avLst>
              <a:gd name="adj" fmla="val 9804"/>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txBody>
          <a:bodyPr/>
          <a:lstStyle/>
          <a:p>
            <a:endParaRPr lang="en-IN"/>
          </a:p>
        </p:txBody>
      </p:sp>
      <p:sp>
        <p:nvSpPr>
          <p:cNvPr id="8" name="Shape 6"/>
          <p:cNvSpPr/>
          <p:nvPr/>
        </p:nvSpPr>
        <p:spPr>
          <a:xfrm>
            <a:off x="749808" y="1920240"/>
            <a:ext cx="566928" cy="566928"/>
          </a:xfrm>
          <a:prstGeom prst="ellipse">
            <a:avLst/>
          </a:prstGeom>
          <a:solidFill>
            <a:srgbClr val="2E8B57"/>
          </a:solidFill>
          <a:ln/>
          <a:effectLst>
            <a:outerShdw blurRad="1270" dist="635" dir="5400000" algn="bl" rotWithShape="0">
              <a:srgbClr val="1B3A5F">
                <a:alpha val="25000"/>
              </a:srgbClr>
            </a:outerShdw>
          </a:effectLst>
        </p:spPr>
        <p:txBody>
          <a:bodyPr/>
          <a:lstStyle/>
          <a:p>
            <a:endParaRPr lang="en-IN"/>
          </a:p>
        </p:txBody>
      </p:sp>
      <p:pic>
        <p:nvPicPr>
          <p:cNvPr id="9" name="Image 0" descr="/home/claude/deck/icons/check.png"/>
          <p:cNvPicPr>
            <a:picLocks noChangeAspect="1"/>
          </p:cNvPicPr>
          <p:nvPr/>
        </p:nvPicPr>
        <p:blipFill>
          <a:blip r:embed="rId4"/>
          <a:stretch>
            <a:fillRect/>
          </a:stretch>
        </p:blipFill>
        <p:spPr>
          <a:xfrm>
            <a:off x="897209" y="2067641"/>
            <a:ext cx="272125" cy="272125"/>
          </a:xfrm>
          <a:prstGeom prst="rect">
            <a:avLst/>
          </a:prstGeom>
        </p:spPr>
      </p:pic>
      <p:sp>
        <p:nvSpPr>
          <p:cNvPr id="10" name="Text 7"/>
          <p:cNvSpPr/>
          <p:nvPr/>
        </p:nvSpPr>
        <p:spPr>
          <a:xfrm>
            <a:off x="1481328" y="1883664"/>
            <a:ext cx="4389120" cy="365760"/>
          </a:xfrm>
          <a:prstGeom prst="rect">
            <a:avLst/>
          </a:prstGeom>
          <a:noFill/>
          <a:ln/>
        </p:spPr>
        <p:txBody>
          <a:bodyPr wrap="square" lIns="0" tIns="0" rIns="0" bIns="0" rtlCol="0" anchor="t"/>
          <a:lstStyle/>
          <a:p>
            <a:pPr marL="0" indent="0" algn="l">
              <a:lnSpc>
                <a:spcPct val="100000"/>
              </a:lnSpc>
              <a:buNone/>
            </a:pPr>
            <a:r>
              <a:rPr lang="en-US" sz="1450" b="1" dirty="0">
                <a:solidFill>
                  <a:srgbClr val="13294B"/>
                </a:solidFill>
                <a:latin typeface="Cambria" pitchFamily="34" charset="0"/>
                <a:ea typeface="Cambria" pitchFamily="34" charset="-122"/>
                <a:cs typeface="Cambria" pitchFamily="34" charset="-120"/>
              </a:rPr>
              <a:t>Correctness</a:t>
            </a:r>
            <a:endParaRPr lang="en-US" sz="1450" dirty="0"/>
          </a:p>
        </p:txBody>
      </p:sp>
      <p:sp>
        <p:nvSpPr>
          <p:cNvPr id="11" name="Text 8"/>
          <p:cNvSpPr/>
          <p:nvPr/>
        </p:nvSpPr>
        <p:spPr>
          <a:xfrm>
            <a:off x="1481328" y="2240280"/>
            <a:ext cx="4389120" cy="365760"/>
          </a:xfrm>
          <a:prstGeom prst="rect">
            <a:avLst/>
          </a:prstGeom>
          <a:noFill/>
          <a:ln/>
        </p:spPr>
        <p:txBody>
          <a:bodyPr wrap="square" lIns="0" tIns="0" rIns="0" bIns="0" rtlCol="0" anchor="t"/>
          <a:lstStyle/>
          <a:p>
            <a:pPr marL="0" indent="0" algn="l">
              <a:lnSpc>
                <a:spcPct val="102000"/>
              </a:lnSpc>
              <a:buNone/>
            </a:pPr>
            <a:r>
              <a:rPr lang="en-US" sz="1180" dirty="0">
                <a:solidFill>
                  <a:srgbClr val="5C6B82"/>
                </a:solidFill>
                <a:latin typeface="Calibri" pitchFamily="34" charset="0"/>
                <a:ea typeface="Calibri" pitchFamily="34" charset="-122"/>
                <a:cs typeface="Calibri" pitchFamily="34" charset="-120"/>
              </a:rPr>
              <a:t>Implements all of the requirements — and nothing that is not required.</a:t>
            </a:r>
            <a:endParaRPr lang="en-US" sz="1180" dirty="0"/>
          </a:p>
        </p:txBody>
      </p:sp>
      <p:sp>
        <p:nvSpPr>
          <p:cNvPr id="12" name="Shape 9"/>
          <p:cNvSpPr/>
          <p:nvPr/>
        </p:nvSpPr>
        <p:spPr>
          <a:xfrm>
            <a:off x="566928" y="2816352"/>
            <a:ext cx="5486400" cy="932688"/>
          </a:xfrm>
          <a:prstGeom prst="roundRect">
            <a:avLst>
              <a:gd name="adj" fmla="val 9804"/>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txBody>
          <a:bodyPr/>
          <a:lstStyle/>
          <a:p>
            <a:endParaRPr lang="en-IN"/>
          </a:p>
        </p:txBody>
      </p:sp>
      <p:sp>
        <p:nvSpPr>
          <p:cNvPr id="13" name="Shape 10"/>
          <p:cNvSpPr/>
          <p:nvPr/>
        </p:nvSpPr>
        <p:spPr>
          <a:xfrm>
            <a:off x="749808" y="2999232"/>
            <a:ext cx="566928" cy="566928"/>
          </a:xfrm>
          <a:prstGeom prst="ellipse">
            <a:avLst/>
          </a:prstGeom>
          <a:solidFill>
            <a:srgbClr val="2E8B57"/>
          </a:solidFill>
          <a:ln/>
          <a:effectLst>
            <a:outerShdw blurRad="1270" dist="635" dir="5400000" algn="bl" rotWithShape="0">
              <a:srgbClr val="1B3A5F">
                <a:alpha val="25000"/>
              </a:srgbClr>
            </a:outerShdw>
          </a:effectLst>
        </p:spPr>
      </p:sp>
      <p:pic>
        <p:nvPicPr>
          <p:cNvPr id="14" name="Image 1" descr="/home/claude/deck/icons/check.png"/>
          <p:cNvPicPr>
            <a:picLocks noChangeAspect="1"/>
          </p:cNvPicPr>
          <p:nvPr/>
        </p:nvPicPr>
        <p:blipFill>
          <a:blip r:embed="rId4"/>
          <a:stretch>
            <a:fillRect/>
          </a:stretch>
        </p:blipFill>
        <p:spPr>
          <a:xfrm>
            <a:off x="897209" y="3146633"/>
            <a:ext cx="272125" cy="272125"/>
          </a:xfrm>
          <a:prstGeom prst="rect">
            <a:avLst/>
          </a:prstGeom>
        </p:spPr>
      </p:pic>
      <p:sp>
        <p:nvSpPr>
          <p:cNvPr id="15" name="Text 11"/>
          <p:cNvSpPr/>
          <p:nvPr/>
        </p:nvSpPr>
        <p:spPr>
          <a:xfrm>
            <a:off x="1481328" y="2962656"/>
            <a:ext cx="4389120" cy="365760"/>
          </a:xfrm>
          <a:prstGeom prst="rect">
            <a:avLst/>
          </a:prstGeom>
          <a:noFill/>
          <a:ln/>
        </p:spPr>
        <p:txBody>
          <a:bodyPr wrap="square" lIns="0" tIns="0" rIns="0" bIns="0" rtlCol="0" anchor="t"/>
          <a:lstStyle/>
          <a:p>
            <a:pPr marL="0" indent="0" algn="l">
              <a:lnSpc>
                <a:spcPct val="100000"/>
              </a:lnSpc>
              <a:buNone/>
            </a:pPr>
            <a:r>
              <a:rPr lang="en-US" sz="1450" b="1" dirty="0">
                <a:solidFill>
                  <a:srgbClr val="13294B"/>
                </a:solidFill>
                <a:latin typeface="Cambria" pitchFamily="34" charset="0"/>
                <a:ea typeface="Cambria" pitchFamily="34" charset="-122"/>
                <a:cs typeface="Cambria" pitchFamily="34" charset="-120"/>
              </a:rPr>
              <a:t>Understandability</a:t>
            </a:r>
            <a:endParaRPr lang="en-US" sz="1450" dirty="0"/>
          </a:p>
        </p:txBody>
      </p:sp>
      <p:sp>
        <p:nvSpPr>
          <p:cNvPr id="16" name="Text 12"/>
          <p:cNvSpPr/>
          <p:nvPr/>
        </p:nvSpPr>
        <p:spPr>
          <a:xfrm>
            <a:off x="1481328" y="3319272"/>
            <a:ext cx="4389120" cy="365760"/>
          </a:xfrm>
          <a:prstGeom prst="rect">
            <a:avLst/>
          </a:prstGeom>
          <a:noFill/>
          <a:ln/>
        </p:spPr>
        <p:txBody>
          <a:bodyPr wrap="square" lIns="0" tIns="0" rIns="0" bIns="0" rtlCol="0" anchor="t"/>
          <a:lstStyle/>
          <a:p>
            <a:pPr marL="0" indent="0" algn="l">
              <a:lnSpc>
                <a:spcPct val="102000"/>
              </a:lnSpc>
              <a:buNone/>
            </a:pPr>
            <a:r>
              <a:rPr lang="en-US" sz="1180" dirty="0">
                <a:solidFill>
                  <a:srgbClr val="5C6B82"/>
                </a:solidFill>
                <a:latin typeface="Calibri" pitchFamily="34" charset="0"/>
                <a:ea typeface="Calibri" pitchFamily="34" charset="-122"/>
                <a:cs typeface="Calibri" pitchFamily="34" charset="-120"/>
              </a:rPr>
              <a:t>Uses a clean, consistent structure that another engineer can readily grasp.</a:t>
            </a:r>
            <a:endParaRPr lang="en-US" sz="1180" dirty="0"/>
          </a:p>
        </p:txBody>
      </p:sp>
      <p:sp>
        <p:nvSpPr>
          <p:cNvPr id="17" name="Shape 13"/>
          <p:cNvSpPr/>
          <p:nvPr/>
        </p:nvSpPr>
        <p:spPr>
          <a:xfrm>
            <a:off x="566928" y="3895344"/>
            <a:ext cx="5486400" cy="932688"/>
          </a:xfrm>
          <a:prstGeom prst="roundRect">
            <a:avLst>
              <a:gd name="adj" fmla="val 9804"/>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sp>
      <p:sp>
        <p:nvSpPr>
          <p:cNvPr id="18" name="Shape 14"/>
          <p:cNvSpPr/>
          <p:nvPr/>
        </p:nvSpPr>
        <p:spPr>
          <a:xfrm>
            <a:off x="749808" y="4078224"/>
            <a:ext cx="566928" cy="566928"/>
          </a:xfrm>
          <a:prstGeom prst="ellipse">
            <a:avLst/>
          </a:prstGeom>
          <a:solidFill>
            <a:srgbClr val="2E8B57"/>
          </a:solidFill>
          <a:ln/>
          <a:effectLst>
            <a:outerShdw blurRad="1270" dist="635" dir="5400000" algn="bl" rotWithShape="0">
              <a:srgbClr val="1B3A5F">
                <a:alpha val="25000"/>
              </a:srgbClr>
            </a:outerShdw>
          </a:effectLst>
        </p:spPr>
      </p:sp>
      <p:pic>
        <p:nvPicPr>
          <p:cNvPr id="19" name="Image 2" descr="/home/claude/deck/icons/check.png"/>
          <p:cNvPicPr>
            <a:picLocks noChangeAspect="1"/>
          </p:cNvPicPr>
          <p:nvPr/>
        </p:nvPicPr>
        <p:blipFill>
          <a:blip r:embed="rId4"/>
          <a:stretch>
            <a:fillRect/>
          </a:stretch>
        </p:blipFill>
        <p:spPr>
          <a:xfrm>
            <a:off x="897209" y="4225625"/>
            <a:ext cx="272125" cy="272125"/>
          </a:xfrm>
          <a:prstGeom prst="rect">
            <a:avLst/>
          </a:prstGeom>
        </p:spPr>
      </p:pic>
      <p:sp>
        <p:nvSpPr>
          <p:cNvPr id="20" name="Text 15"/>
          <p:cNvSpPr/>
          <p:nvPr/>
        </p:nvSpPr>
        <p:spPr>
          <a:xfrm>
            <a:off x="1481328" y="4041648"/>
            <a:ext cx="4389120" cy="365760"/>
          </a:xfrm>
          <a:prstGeom prst="rect">
            <a:avLst/>
          </a:prstGeom>
          <a:noFill/>
          <a:ln/>
        </p:spPr>
        <p:txBody>
          <a:bodyPr wrap="square" lIns="0" tIns="0" rIns="0" bIns="0" rtlCol="0" anchor="t"/>
          <a:lstStyle/>
          <a:p>
            <a:pPr marL="0" indent="0" algn="l">
              <a:lnSpc>
                <a:spcPct val="100000"/>
              </a:lnSpc>
              <a:buNone/>
            </a:pPr>
            <a:r>
              <a:rPr lang="en-US" sz="1450" b="1" dirty="0">
                <a:solidFill>
                  <a:srgbClr val="13294B"/>
                </a:solidFill>
                <a:latin typeface="Cambria" pitchFamily="34" charset="0"/>
                <a:ea typeface="Cambria" pitchFamily="34" charset="-122"/>
                <a:cs typeface="Cambria" pitchFamily="34" charset="-120"/>
              </a:rPr>
              <a:t>Efficiency</a:t>
            </a:r>
            <a:endParaRPr lang="en-US" sz="1450" dirty="0"/>
          </a:p>
        </p:txBody>
      </p:sp>
      <p:sp>
        <p:nvSpPr>
          <p:cNvPr id="21" name="Text 16"/>
          <p:cNvSpPr/>
          <p:nvPr/>
        </p:nvSpPr>
        <p:spPr>
          <a:xfrm>
            <a:off x="1481328" y="4398264"/>
            <a:ext cx="4389120" cy="365760"/>
          </a:xfrm>
          <a:prstGeom prst="rect">
            <a:avLst/>
          </a:prstGeom>
          <a:noFill/>
          <a:ln/>
        </p:spPr>
        <p:txBody>
          <a:bodyPr wrap="square" lIns="0" tIns="0" rIns="0" bIns="0" rtlCol="0" anchor="t"/>
          <a:lstStyle/>
          <a:p>
            <a:pPr marL="0" indent="0" algn="l">
              <a:lnSpc>
                <a:spcPct val="102000"/>
              </a:lnSpc>
              <a:buNone/>
            </a:pPr>
            <a:r>
              <a:rPr lang="en-US" sz="1180" dirty="0">
                <a:solidFill>
                  <a:srgbClr val="5C6B82"/>
                </a:solidFill>
                <a:latin typeface="Calibri" pitchFamily="34" charset="0"/>
                <a:ea typeface="Calibri" pitchFamily="34" charset="-122"/>
                <a:cs typeface="Calibri" pitchFamily="34" charset="-120"/>
              </a:rPr>
              <a:t>Makes good use of computing resources (time, memory, energy).</a:t>
            </a:r>
            <a:endParaRPr lang="en-US" sz="1180" dirty="0"/>
          </a:p>
        </p:txBody>
      </p:sp>
      <p:sp>
        <p:nvSpPr>
          <p:cNvPr id="22" name="Shape 17"/>
          <p:cNvSpPr/>
          <p:nvPr/>
        </p:nvSpPr>
        <p:spPr>
          <a:xfrm>
            <a:off x="566928" y="4974336"/>
            <a:ext cx="5486400" cy="932688"/>
          </a:xfrm>
          <a:prstGeom prst="roundRect">
            <a:avLst>
              <a:gd name="adj" fmla="val 9804"/>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sp>
      <p:sp>
        <p:nvSpPr>
          <p:cNvPr id="23" name="Shape 18"/>
          <p:cNvSpPr/>
          <p:nvPr/>
        </p:nvSpPr>
        <p:spPr>
          <a:xfrm>
            <a:off x="749808" y="5157216"/>
            <a:ext cx="566928" cy="566928"/>
          </a:xfrm>
          <a:prstGeom prst="ellipse">
            <a:avLst/>
          </a:prstGeom>
          <a:solidFill>
            <a:srgbClr val="2E8B57"/>
          </a:solidFill>
          <a:ln/>
          <a:effectLst>
            <a:outerShdw blurRad="1270" dist="635" dir="5400000" algn="bl" rotWithShape="0">
              <a:srgbClr val="1B3A5F">
                <a:alpha val="25000"/>
              </a:srgbClr>
            </a:outerShdw>
          </a:effectLst>
        </p:spPr>
      </p:sp>
      <p:pic>
        <p:nvPicPr>
          <p:cNvPr id="24" name="Image 3" descr="/home/claude/deck/icons/check.png"/>
          <p:cNvPicPr>
            <a:picLocks noChangeAspect="1"/>
          </p:cNvPicPr>
          <p:nvPr/>
        </p:nvPicPr>
        <p:blipFill>
          <a:blip r:embed="rId4"/>
          <a:stretch>
            <a:fillRect/>
          </a:stretch>
        </p:blipFill>
        <p:spPr>
          <a:xfrm>
            <a:off x="897209" y="5304617"/>
            <a:ext cx="272125" cy="272125"/>
          </a:xfrm>
          <a:prstGeom prst="rect">
            <a:avLst/>
          </a:prstGeom>
        </p:spPr>
      </p:pic>
      <p:sp>
        <p:nvSpPr>
          <p:cNvPr id="25" name="Text 19"/>
          <p:cNvSpPr/>
          <p:nvPr/>
        </p:nvSpPr>
        <p:spPr>
          <a:xfrm>
            <a:off x="1481328" y="5120640"/>
            <a:ext cx="4389120" cy="365760"/>
          </a:xfrm>
          <a:prstGeom prst="rect">
            <a:avLst/>
          </a:prstGeom>
          <a:noFill/>
          <a:ln/>
        </p:spPr>
        <p:txBody>
          <a:bodyPr wrap="square" lIns="0" tIns="0" rIns="0" bIns="0" rtlCol="0" anchor="t"/>
          <a:lstStyle/>
          <a:p>
            <a:pPr marL="0" indent="0" algn="l">
              <a:lnSpc>
                <a:spcPct val="100000"/>
              </a:lnSpc>
              <a:buNone/>
            </a:pPr>
            <a:r>
              <a:rPr lang="en-US" sz="1450" b="1" dirty="0">
                <a:solidFill>
                  <a:srgbClr val="13294B"/>
                </a:solidFill>
                <a:latin typeface="Cambria" pitchFamily="34" charset="0"/>
                <a:ea typeface="Cambria" pitchFamily="34" charset="-122"/>
                <a:cs typeface="Cambria" pitchFamily="34" charset="-120"/>
              </a:rPr>
              <a:t>Maintainability</a:t>
            </a:r>
            <a:endParaRPr lang="en-US" sz="1450" dirty="0"/>
          </a:p>
        </p:txBody>
      </p:sp>
      <p:sp>
        <p:nvSpPr>
          <p:cNvPr id="26" name="Text 20"/>
          <p:cNvSpPr/>
          <p:nvPr/>
        </p:nvSpPr>
        <p:spPr>
          <a:xfrm>
            <a:off x="1481328" y="5477256"/>
            <a:ext cx="4389120" cy="365760"/>
          </a:xfrm>
          <a:prstGeom prst="rect">
            <a:avLst/>
          </a:prstGeom>
          <a:noFill/>
          <a:ln/>
        </p:spPr>
        <p:txBody>
          <a:bodyPr wrap="square" lIns="0" tIns="0" rIns="0" bIns="0" rtlCol="0" anchor="t"/>
          <a:lstStyle/>
          <a:p>
            <a:pPr marL="0" indent="0" algn="l">
              <a:lnSpc>
                <a:spcPct val="102000"/>
              </a:lnSpc>
              <a:buNone/>
            </a:pPr>
            <a:r>
              <a:rPr lang="en-US" sz="1180" dirty="0">
                <a:solidFill>
                  <a:srgbClr val="5C6B82"/>
                </a:solidFill>
                <a:latin typeface="Calibri" pitchFamily="34" charset="0"/>
                <a:ea typeface="Calibri" pitchFamily="34" charset="-122"/>
                <a:cs typeface="Calibri" pitchFamily="34" charset="-120"/>
              </a:rPr>
              <a:t>Is easy to change, extend and repair as needs evolve.</a:t>
            </a:r>
            <a:endParaRPr lang="en-US" sz="1180" dirty="0"/>
          </a:p>
        </p:txBody>
      </p:sp>
      <p:sp>
        <p:nvSpPr>
          <p:cNvPr id="27" name="Shape 21"/>
          <p:cNvSpPr/>
          <p:nvPr/>
        </p:nvSpPr>
        <p:spPr>
          <a:xfrm>
            <a:off x="6629400" y="1609344"/>
            <a:ext cx="5472684" cy="4297680"/>
          </a:xfrm>
          <a:prstGeom prst="roundRect">
            <a:avLst>
              <a:gd name="adj" fmla="val 2553"/>
            </a:avLst>
          </a:prstGeom>
          <a:solidFill>
            <a:srgbClr val="13294B"/>
          </a:solidFill>
          <a:ln/>
          <a:effectLst>
            <a:outerShdw blurRad="1524" dist="889" dir="5400000" algn="bl" rotWithShape="0">
              <a:srgbClr val="1B3A5F">
                <a:alpha val="18000"/>
              </a:srgbClr>
            </a:outerShdw>
          </a:effectLst>
        </p:spPr>
        <p:txBody>
          <a:bodyPr/>
          <a:lstStyle/>
          <a:p>
            <a:endParaRPr lang="en-IN"/>
          </a:p>
        </p:txBody>
      </p:sp>
      <p:sp>
        <p:nvSpPr>
          <p:cNvPr id="28" name="Text 22"/>
          <p:cNvSpPr/>
          <p:nvPr/>
        </p:nvSpPr>
        <p:spPr>
          <a:xfrm>
            <a:off x="6629400" y="1993392"/>
            <a:ext cx="4754880" cy="457200"/>
          </a:xfrm>
          <a:prstGeom prst="rect">
            <a:avLst/>
          </a:prstGeom>
          <a:noFill/>
          <a:ln/>
        </p:spPr>
        <p:txBody>
          <a:bodyPr wrap="square" lIns="0" tIns="0" rIns="0" bIns="0" rtlCol="0" anchor="t"/>
          <a:lstStyle/>
          <a:p>
            <a:pPr marL="0" indent="0" algn="l">
              <a:lnSpc>
                <a:spcPct val="100000"/>
              </a:lnSpc>
              <a:buNone/>
            </a:pPr>
            <a:r>
              <a:rPr lang="en-US" sz="1650" b="1" dirty="0">
                <a:solidFill>
                  <a:srgbClr val="FFFFFF"/>
                </a:solidFill>
                <a:latin typeface="Cambria" pitchFamily="34" charset="0"/>
                <a:ea typeface="Cambria" pitchFamily="34" charset="-122"/>
                <a:cs typeface="Cambria" pitchFamily="34" charset="-120"/>
              </a:rPr>
              <a:t>Understandability rests on two pillars</a:t>
            </a:r>
            <a:endParaRPr lang="en-US" sz="1650" dirty="0"/>
          </a:p>
        </p:txBody>
      </p:sp>
      <p:sp>
        <p:nvSpPr>
          <p:cNvPr id="29" name="Shape 23"/>
          <p:cNvSpPr/>
          <p:nvPr/>
        </p:nvSpPr>
        <p:spPr>
          <a:xfrm>
            <a:off x="6629400" y="2697480"/>
            <a:ext cx="4754880" cy="1371600"/>
          </a:xfrm>
          <a:prstGeom prst="roundRect">
            <a:avLst>
              <a:gd name="adj" fmla="val 6667"/>
            </a:avLst>
          </a:prstGeom>
          <a:solidFill>
            <a:srgbClr val="1B3A5F"/>
          </a:solidFill>
          <a:ln/>
        </p:spPr>
        <p:txBody>
          <a:bodyPr/>
          <a:lstStyle/>
          <a:p>
            <a:endParaRPr lang="en-IN"/>
          </a:p>
        </p:txBody>
      </p:sp>
      <p:sp>
        <p:nvSpPr>
          <p:cNvPr id="30" name="Shape 24"/>
          <p:cNvSpPr/>
          <p:nvPr/>
        </p:nvSpPr>
        <p:spPr>
          <a:xfrm>
            <a:off x="6858000" y="2916936"/>
            <a:ext cx="658368" cy="658368"/>
          </a:xfrm>
          <a:prstGeom prst="ellipse">
            <a:avLst/>
          </a:prstGeom>
          <a:solidFill>
            <a:srgbClr val="0E8F8F"/>
          </a:solidFill>
          <a:ln/>
          <a:effectLst>
            <a:outerShdw blurRad="1270" dist="635" dir="5400000" algn="bl" rotWithShape="0">
              <a:srgbClr val="1B3A5F">
                <a:alpha val="25000"/>
              </a:srgbClr>
            </a:outerShdw>
          </a:effectLst>
        </p:spPr>
      </p:sp>
      <p:pic>
        <p:nvPicPr>
          <p:cNvPr id="31" name="Image 4" descr="/home/claude/deck/icons/cohesion.png"/>
          <p:cNvPicPr>
            <a:picLocks noChangeAspect="1"/>
          </p:cNvPicPr>
          <p:nvPr/>
        </p:nvPicPr>
        <p:blipFill>
          <a:blip r:embed="rId5"/>
          <a:stretch>
            <a:fillRect/>
          </a:stretch>
        </p:blipFill>
        <p:spPr>
          <a:xfrm>
            <a:off x="7029176" y="3088112"/>
            <a:ext cx="316017" cy="316017"/>
          </a:xfrm>
          <a:prstGeom prst="rect">
            <a:avLst/>
          </a:prstGeom>
        </p:spPr>
      </p:pic>
      <p:sp>
        <p:nvSpPr>
          <p:cNvPr id="32" name="Text 25"/>
          <p:cNvSpPr/>
          <p:nvPr/>
        </p:nvSpPr>
        <p:spPr>
          <a:xfrm>
            <a:off x="7699248" y="2916936"/>
            <a:ext cx="3474720" cy="457200"/>
          </a:xfrm>
          <a:prstGeom prst="rect">
            <a:avLst/>
          </a:prstGeom>
          <a:noFill/>
          <a:ln/>
        </p:spPr>
        <p:txBody>
          <a:bodyPr wrap="square" lIns="0" tIns="0" rIns="0" bIns="0" rtlCol="0" anchor="t"/>
          <a:lstStyle/>
          <a:p>
            <a:pPr marL="0" indent="0" algn="l">
              <a:lnSpc>
                <a:spcPct val="100000"/>
              </a:lnSpc>
              <a:buNone/>
            </a:pPr>
            <a:r>
              <a:rPr lang="en-US" sz="1550" b="1" dirty="0">
                <a:solidFill>
                  <a:srgbClr val="FFFFFF"/>
                </a:solidFill>
                <a:latin typeface="Cambria" pitchFamily="34" charset="0"/>
                <a:ea typeface="Cambria" pitchFamily="34" charset="-122"/>
                <a:cs typeface="Cambria" pitchFamily="34" charset="-120"/>
              </a:rPr>
              <a:t>High cohesion</a:t>
            </a:r>
            <a:endParaRPr lang="en-US" sz="1550" dirty="0"/>
          </a:p>
        </p:txBody>
      </p:sp>
      <p:sp>
        <p:nvSpPr>
          <p:cNvPr id="33" name="Text 26"/>
          <p:cNvSpPr/>
          <p:nvPr/>
        </p:nvSpPr>
        <p:spPr>
          <a:xfrm>
            <a:off x="7699248" y="3374136"/>
            <a:ext cx="3520440" cy="640080"/>
          </a:xfrm>
          <a:prstGeom prst="rect">
            <a:avLst/>
          </a:prstGeom>
          <a:noFill/>
          <a:ln/>
        </p:spPr>
        <p:txBody>
          <a:bodyPr wrap="square" lIns="0" tIns="0" rIns="0" bIns="0" rtlCol="0" anchor="t"/>
          <a:lstStyle/>
          <a:p>
            <a:pPr marL="0" indent="0" algn="l">
              <a:lnSpc>
                <a:spcPct val="110000"/>
              </a:lnSpc>
              <a:buNone/>
            </a:pPr>
            <a:r>
              <a:rPr lang="en-US" sz="1220" dirty="0">
                <a:solidFill>
                  <a:srgbClr val="C4D0E4"/>
                </a:solidFill>
                <a:latin typeface="Calibri" pitchFamily="34" charset="0"/>
                <a:ea typeface="Calibri" pitchFamily="34" charset="-122"/>
                <a:cs typeface="Calibri" pitchFamily="34" charset="-120"/>
              </a:rPr>
              <a:t>Each module does one well-defined job — it is "single-minded".</a:t>
            </a:r>
            <a:endParaRPr lang="en-US" sz="1220" dirty="0"/>
          </a:p>
        </p:txBody>
      </p:sp>
      <p:sp>
        <p:nvSpPr>
          <p:cNvPr id="34" name="Shape 27"/>
          <p:cNvSpPr/>
          <p:nvPr/>
        </p:nvSpPr>
        <p:spPr>
          <a:xfrm>
            <a:off x="6629400" y="4270248"/>
            <a:ext cx="4754880" cy="1371600"/>
          </a:xfrm>
          <a:prstGeom prst="roundRect">
            <a:avLst>
              <a:gd name="adj" fmla="val 6667"/>
            </a:avLst>
          </a:prstGeom>
          <a:solidFill>
            <a:srgbClr val="1B3A5F"/>
          </a:solidFill>
          <a:ln/>
        </p:spPr>
      </p:sp>
      <p:sp>
        <p:nvSpPr>
          <p:cNvPr id="35" name="Shape 28"/>
          <p:cNvSpPr/>
          <p:nvPr/>
        </p:nvSpPr>
        <p:spPr>
          <a:xfrm>
            <a:off x="6858000" y="4489704"/>
            <a:ext cx="658368" cy="658368"/>
          </a:xfrm>
          <a:prstGeom prst="ellipse">
            <a:avLst/>
          </a:prstGeom>
          <a:solidFill>
            <a:srgbClr val="D98A28"/>
          </a:solidFill>
          <a:ln/>
          <a:effectLst>
            <a:outerShdw blurRad="1270" dist="635" dir="5400000" algn="bl" rotWithShape="0">
              <a:srgbClr val="1B3A5F">
                <a:alpha val="25000"/>
              </a:srgbClr>
            </a:outerShdw>
          </a:effectLst>
        </p:spPr>
      </p:sp>
      <p:pic>
        <p:nvPicPr>
          <p:cNvPr id="36" name="Image 5" descr="/home/claude/deck/icons/unlink.png"/>
          <p:cNvPicPr>
            <a:picLocks noChangeAspect="1"/>
          </p:cNvPicPr>
          <p:nvPr/>
        </p:nvPicPr>
        <p:blipFill>
          <a:blip r:embed="rId6"/>
          <a:stretch>
            <a:fillRect/>
          </a:stretch>
        </p:blipFill>
        <p:spPr>
          <a:xfrm>
            <a:off x="7029176" y="4660880"/>
            <a:ext cx="316017" cy="316017"/>
          </a:xfrm>
          <a:prstGeom prst="rect">
            <a:avLst/>
          </a:prstGeom>
        </p:spPr>
      </p:pic>
      <p:sp>
        <p:nvSpPr>
          <p:cNvPr id="37" name="Text 29"/>
          <p:cNvSpPr/>
          <p:nvPr/>
        </p:nvSpPr>
        <p:spPr>
          <a:xfrm>
            <a:off x="7699248" y="4489704"/>
            <a:ext cx="3474720" cy="457200"/>
          </a:xfrm>
          <a:prstGeom prst="rect">
            <a:avLst/>
          </a:prstGeom>
          <a:noFill/>
          <a:ln/>
        </p:spPr>
        <p:txBody>
          <a:bodyPr wrap="square" lIns="0" tIns="0" rIns="0" bIns="0" rtlCol="0" anchor="t"/>
          <a:lstStyle/>
          <a:p>
            <a:pPr marL="0" indent="0" algn="l">
              <a:lnSpc>
                <a:spcPct val="100000"/>
              </a:lnSpc>
              <a:buNone/>
            </a:pPr>
            <a:r>
              <a:rPr lang="en-US" sz="1550" b="1" dirty="0">
                <a:solidFill>
                  <a:srgbClr val="FFFFFF"/>
                </a:solidFill>
                <a:latin typeface="Cambria" pitchFamily="34" charset="0"/>
                <a:ea typeface="Cambria" pitchFamily="34" charset="-122"/>
                <a:cs typeface="Cambria" pitchFamily="34" charset="-120"/>
              </a:rPr>
              <a:t>Low coupling</a:t>
            </a:r>
            <a:endParaRPr lang="en-US" sz="1550" dirty="0"/>
          </a:p>
        </p:txBody>
      </p:sp>
      <p:sp>
        <p:nvSpPr>
          <p:cNvPr id="38" name="Text 30"/>
          <p:cNvSpPr/>
          <p:nvPr/>
        </p:nvSpPr>
        <p:spPr>
          <a:xfrm>
            <a:off x="7699248" y="4946904"/>
            <a:ext cx="3520440" cy="640080"/>
          </a:xfrm>
          <a:prstGeom prst="rect">
            <a:avLst/>
          </a:prstGeom>
          <a:noFill/>
          <a:ln/>
        </p:spPr>
        <p:txBody>
          <a:bodyPr wrap="square" lIns="0" tIns="0" rIns="0" bIns="0" rtlCol="0" anchor="t"/>
          <a:lstStyle/>
          <a:p>
            <a:pPr marL="0" indent="0" algn="l">
              <a:lnSpc>
                <a:spcPct val="110000"/>
              </a:lnSpc>
              <a:buNone/>
            </a:pPr>
            <a:r>
              <a:rPr lang="en-US" sz="1220" dirty="0">
                <a:solidFill>
                  <a:srgbClr val="C4D0E4"/>
                </a:solidFill>
                <a:latin typeface="Calibri" pitchFamily="34" charset="0"/>
                <a:ea typeface="Calibri" pitchFamily="34" charset="-122"/>
                <a:cs typeface="Calibri" pitchFamily="34" charset="-120"/>
              </a:rPr>
              <a:t>Modules depend on each other as little as possible, through narrow interfaces.</a:t>
            </a:r>
            <a:endParaRPr lang="en-US" sz="1220" dirty="0"/>
          </a:p>
        </p:txBody>
      </p:sp>
      <p:pic>
        <p:nvPicPr>
          <p:cNvPr id="39" name="Picture 38" descr="gitam_logo.png"/>
          <p:cNvPicPr>
            <a:picLocks noChangeAspect="1"/>
          </p:cNvPicPr>
          <p:nvPr/>
        </p:nvPicPr>
        <p:blipFill>
          <a:blip r:embed="rId7"/>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1266361423"/>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8" name="Rectangle 7"/>
          <p:cNvSpPr/>
          <p:nvPr/>
        </p:nvSpPr>
        <p:spPr>
          <a:xfrm>
            <a:off x="534075" y="825388"/>
            <a:ext cx="11192260" cy="4535472"/>
          </a:xfrm>
          <a:prstGeom prst="rect">
            <a:avLst/>
          </a:prstGeom>
        </p:spPr>
        <p:txBody>
          <a:bodyPr wrap="square">
            <a:spAutoFit/>
          </a:bodyPr>
          <a:lstStyle/>
          <a:p>
            <a:pPr marL="227965" marR="1007110">
              <a:lnSpc>
                <a:spcPct val="151000"/>
              </a:lnSpc>
              <a:spcBef>
                <a:spcPts val="620"/>
              </a:spcBef>
              <a:spcAft>
                <a:spcPts val="0"/>
              </a:spcAft>
            </a:pPr>
            <a:r>
              <a:rPr lang="en-US" sz="2400" dirty="0">
                <a:latin typeface="Times New Roman" panose="02020603050405020304" pitchFamily="18" charset="0"/>
                <a:ea typeface="Times New Roman" panose="02020603050405020304" pitchFamily="18" charset="0"/>
              </a:rPr>
              <a:t>                                  </a:t>
            </a:r>
            <a:r>
              <a:rPr lang="en-US" sz="2400" b="1" dirty="0">
                <a:latin typeface="Times New Roman" panose="02020603050405020304" pitchFamily="18" charset="0"/>
                <a:ea typeface="Times New Roman" panose="02020603050405020304" pitchFamily="18" charset="0"/>
              </a:rPr>
              <a:t>Characteristics of Good Design </a:t>
            </a:r>
          </a:p>
          <a:p>
            <a:pPr marR="675005" lvl="0" algn="just">
              <a:lnSpc>
                <a:spcPct val="150000"/>
              </a:lnSpc>
              <a:spcAft>
                <a:spcPts val="0"/>
              </a:spcAft>
              <a:buSzPts val="500"/>
              <a:tabLst>
                <a:tab pos="843280" algn="l"/>
              </a:tabLst>
            </a:pPr>
            <a:r>
              <a:rPr lang="en-US" sz="2400" dirty="0">
                <a:latin typeface="Times New Roman" panose="02020603050405020304" pitchFamily="18" charset="0"/>
                <a:ea typeface="Times New Roman" panose="02020603050405020304" pitchFamily="18" charset="0"/>
              </a:rPr>
              <a:t>1)The design must implement all of the </a:t>
            </a:r>
            <a:r>
              <a:rPr lang="en-US" sz="2400" b="1" dirty="0">
                <a:latin typeface="Times New Roman" panose="02020603050405020304" pitchFamily="18" charset="0"/>
                <a:ea typeface="Times New Roman" panose="02020603050405020304" pitchFamily="18" charset="0"/>
              </a:rPr>
              <a:t>explicit requirements </a:t>
            </a:r>
            <a:r>
              <a:rPr lang="en-US" sz="2400" dirty="0">
                <a:latin typeface="Times New Roman" panose="02020603050405020304" pitchFamily="18" charset="0"/>
                <a:ea typeface="Times New Roman" panose="02020603050405020304" pitchFamily="18" charset="0"/>
              </a:rPr>
              <a:t>contained in the requirements model, and it must accommodate all of the implicit requirements desired by stakeholders.</a:t>
            </a:r>
            <a:endParaRPr lang="en-IN" sz="2400" dirty="0">
              <a:latin typeface="Times New Roman" panose="02020603050405020304" pitchFamily="18" charset="0"/>
              <a:ea typeface="Times New Roman" panose="02020603050405020304" pitchFamily="18" charset="0"/>
            </a:endParaRPr>
          </a:p>
          <a:p>
            <a:pPr marR="690880" lvl="0" algn="just">
              <a:lnSpc>
                <a:spcPct val="151000"/>
              </a:lnSpc>
              <a:spcAft>
                <a:spcPts val="0"/>
              </a:spcAft>
              <a:buSzPts val="500"/>
              <a:tabLst>
                <a:tab pos="788035" algn="l"/>
              </a:tabLst>
            </a:pPr>
            <a:r>
              <a:rPr lang="en-US" sz="2400" dirty="0">
                <a:latin typeface="Times New Roman" panose="02020603050405020304" pitchFamily="18" charset="0"/>
                <a:ea typeface="Times New Roman" panose="02020603050405020304" pitchFamily="18" charset="0"/>
              </a:rPr>
              <a:t>2)The design must be a </a:t>
            </a:r>
            <a:r>
              <a:rPr lang="en-US" sz="2400" b="1" dirty="0">
                <a:latin typeface="Times New Roman" panose="02020603050405020304" pitchFamily="18" charset="0"/>
                <a:ea typeface="Times New Roman" panose="02020603050405020304" pitchFamily="18" charset="0"/>
              </a:rPr>
              <a:t>readable, understandable </a:t>
            </a:r>
            <a:r>
              <a:rPr lang="en-US" sz="2400" dirty="0">
                <a:latin typeface="Times New Roman" panose="02020603050405020304" pitchFamily="18" charset="0"/>
                <a:ea typeface="Times New Roman" panose="02020603050405020304" pitchFamily="18" charset="0"/>
              </a:rPr>
              <a:t>guide for those who generate code and for those who test and subsequently support the software.</a:t>
            </a:r>
            <a:endParaRPr lang="en-IN" sz="2400" dirty="0">
              <a:latin typeface="Times New Roman" panose="02020603050405020304" pitchFamily="18" charset="0"/>
              <a:ea typeface="Times New Roman" panose="02020603050405020304" pitchFamily="18" charset="0"/>
            </a:endParaRPr>
          </a:p>
          <a:p>
            <a:pPr marR="685165" lvl="0" algn="just">
              <a:lnSpc>
                <a:spcPct val="150000"/>
              </a:lnSpc>
              <a:spcAft>
                <a:spcPts val="0"/>
              </a:spcAft>
              <a:buSzPts val="500"/>
              <a:tabLst>
                <a:tab pos="806450" algn="l"/>
              </a:tabLst>
            </a:pPr>
            <a:r>
              <a:rPr lang="en-US" sz="2400" dirty="0">
                <a:latin typeface="Times New Roman" panose="02020603050405020304" pitchFamily="18" charset="0"/>
                <a:ea typeface="Times New Roman" panose="02020603050405020304" pitchFamily="18" charset="0"/>
              </a:rPr>
              <a:t>3)The design should provide </a:t>
            </a:r>
            <a:r>
              <a:rPr lang="en-US" sz="2400" b="1" dirty="0">
                <a:latin typeface="Times New Roman" panose="02020603050405020304" pitchFamily="18" charset="0"/>
                <a:ea typeface="Times New Roman" panose="02020603050405020304" pitchFamily="18" charset="0"/>
              </a:rPr>
              <a:t>a complete picture of the software</a:t>
            </a:r>
            <a:r>
              <a:rPr lang="en-US" sz="2400" dirty="0">
                <a:latin typeface="Times New Roman" panose="02020603050405020304" pitchFamily="18" charset="0"/>
                <a:ea typeface="Times New Roman" panose="02020603050405020304" pitchFamily="18" charset="0"/>
              </a:rPr>
              <a:t>, addressing the data, functional, and behavioral domains from an implementation </a:t>
            </a:r>
            <a:r>
              <a:rPr lang="en-US" sz="2400" spc="-10" dirty="0">
                <a:latin typeface="Times New Roman" panose="02020603050405020304" pitchFamily="18" charset="0"/>
                <a:ea typeface="Times New Roman" panose="02020603050405020304" pitchFamily="18" charset="0"/>
              </a:rPr>
              <a:t>perspective.</a:t>
            </a:r>
            <a:endParaRPr lang="en-IN" sz="2400" dirty="0">
              <a:effectLst/>
              <a:latin typeface="Times New Roman" panose="02020603050405020304" pitchFamily="18" charset="0"/>
              <a:ea typeface="Times New Roman" panose="02020603050405020304" pitchFamily="18" charset="0"/>
            </a:endParaRPr>
          </a:p>
        </p:txBody>
      </p:sp>
      <p:pic>
        <p:nvPicPr>
          <p:cNvPr id="3" name="Picture 2" descr="gitam_logo.png"/>
          <p:cNvPicPr>
            <a:picLocks noChangeAspect="1"/>
          </p:cNvPicPr>
          <p:nvPr/>
        </p:nvPicPr>
        <p:blipFill>
          <a:blip r:embed="rId3"/>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3646132994"/>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14" name="Rectangle 13"/>
          <p:cNvSpPr/>
          <p:nvPr/>
        </p:nvSpPr>
        <p:spPr>
          <a:xfrm>
            <a:off x="-1" y="1"/>
            <a:ext cx="12105685" cy="7909718"/>
          </a:xfrm>
          <a:prstGeom prst="rect">
            <a:avLst/>
          </a:prstGeom>
        </p:spPr>
        <p:txBody>
          <a:bodyPr wrap="square">
            <a:spAutoFit/>
          </a:bodyPr>
          <a:lstStyle/>
          <a:p>
            <a:pPr marR="678180" lvl="0" algn="just">
              <a:lnSpc>
                <a:spcPct val="150000"/>
              </a:lnSpc>
              <a:spcAft>
                <a:spcPts val="0"/>
              </a:spcAft>
              <a:buSzPts val="1200"/>
              <a:tabLst>
                <a:tab pos="688340" algn="l"/>
                <a:tab pos="857885" algn="l"/>
              </a:tabLst>
            </a:pPr>
            <a:r>
              <a:rPr lang="en-US" sz="2000" b="1" dirty="0">
                <a:latin typeface="Times New Roman" panose="02020603050405020304" pitchFamily="18" charset="0"/>
                <a:ea typeface="Times New Roman" panose="02020603050405020304" pitchFamily="18" charset="0"/>
              </a:rPr>
              <a:t>                                                          Guidelines for Good Design </a:t>
            </a:r>
          </a:p>
          <a:p>
            <a:pPr marR="678180" lvl="0">
              <a:lnSpc>
                <a:spcPct val="150000"/>
              </a:lnSpc>
              <a:spcAft>
                <a:spcPts val="0"/>
              </a:spcAft>
              <a:buSzPts val="1200"/>
              <a:tabLst>
                <a:tab pos="688340" algn="l"/>
                <a:tab pos="857885" algn="l"/>
              </a:tabLst>
            </a:pPr>
            <a:r>
              <a:rPr lang="en-US" sz="2400" dirty="0">
                <a:latin typeface="Times New Roman" panose="02020603050405020304" pitchFamily="18" charset="0"/>
                <a:ea typeface="Times New Roman" panose="02020603050405020304" pitchFamily="18" charset="0"/>
              </a:rPr>
              <a:t>1)Design has been created using recognizable architectural styles or patterns</a:t>
            </a:r>
          </a:p>
          <a:p>
            <a:pPr marR="678180" lvl="0">
              <a:lnSpc>
                <a:spcPct val="150000"/>
              </a:lnSpc>
              <a:spcAft>
                <a:spcPts val="0"/>
              </a:spcAft>
              <a:buSzPts val="1200"/>
              <a:tabLst>
                <a:tab pos="688340" algn="l"/>
                <a:tab pos="857885" algn="l"/>
              </a:tabLst>
            </a:pPr>
            <a:r>
              <a:rPr lang="en-US" sz="2400" dirty="0">
                <a:latin typeface="Times New Roman" panose="02020603050405020304" pitchFamily="18" charset="0"/>
                <a:ea typeface="Times New Roman" panose="02020603050405020304" pitchFamily="18" charset="0"/>
              </a:rPr>
              <a:t>)Design is composed of components that</a:t>
            </a:r>
            <a:r>
              <a:rPr lang="en-US" sz="2400" spc="200" dirty="0">
                <a:latin typeface="Times New Roman" panose="02020603050405020304" pitchFamily="18" charset="0"/>
                <a:ea typeface="Times New Roman" panose="02020603050405020304" pitchFamily="18" charset="0"/>
              </a:rPr>
              <a:t> </a:t>
            </a:r>
            <a:r>
              <a:rPr lang="en-US" sz="2400" dirty="0">
                <a:latin typeface="Times New Roman" panose="02020603050405020304" pitchFamily="18" charset="0"/>
                <a:ea typeface="Times New Roman" panose="02020603050405020304" pitchFamily="18" charset="0"/>
              </a:rPr>
              <a:t>exhibit</a:t>
            </a:r>
            <a:r>
              <a:rPr lang="en-US" sz="2400" spc="170" dirty="0">
                <a:latin typeface="Times New Roman" panose="02020603050405020304" pitchFamily="18" charset="0"/>
                <a:ea typeface="Times New Roman" panose="02020603050405020304" pitchFamily="18" charset="0"/>
              </a:rPr>
              <a:t> </a:t>
            </a:r>
            <a:r>
              <a:rPr lang="en-US" sz="2400" dirty="0">
                <a:latin typeface="Times New Roman" panose="02020603050405020304" pitchFamily="18" charset="0"/>
                <a:ea typeface="Times New Roman" panose="02020603050405020304" pitchFamily="18" charset="0"/>
              </a:rPr>
              <a:t>good</a:t>
            </a:r>
            <a:r>
              <a:rPr lang="en-US" sz="2400" spc="195" dirty="0">
                <a:latin typeface="Times New Roman" panose="02020603050405020304" pitchFamily="18" charset="0"/>
                <a:ea typeface="Times New Roman" panose="02020603050405020304" pitchFamily="18" charset="0"/>
              </a:rPr>
              <a:t> </a:t>
            </a:r>
            <a:r>
              <a:rPr lang="en-US" sz="2400" dirty="0">
                <a:latin typeface="Times New Roman" panose="02020603050405020304" pitchFamily="18" charset="0"/>
                <a:ea typeface="Times New Roman" panose="02020603050405020304" pitchFamily="18" charset="0"/>
              </a:rPr>
              <a:t>design</a:t>
            </a:r>
            <a:r>
              <a:rPr lang="en-US" sz="2400" spc="170" dirty="0">
                <a:latin typeface="Times New Roman" panose="02020603050405020304" pitchFamily="18" charset="0"/>
                <a:ea typeface="Times New Roman" panose="02020603050405020304" pitchFamily="18" charset="0"/>
              </a:rPr>
              <a:t> </a:t>
            </a:r>
            <a:r>
              <a:rPr lang="en-US" sz="2400" dirty="0">
                <a:latin typeface="Times New Roman" panose="02020603050405020304" pitchFamily="18" charset="0"/>
                <a:ea typeface="Times New Roman" panose="02020603050405020304" pitchFamily="18" charset="0"/>
              </a:rPr>
              <a:t>characteristics</a:t>
            </a:r>
            <a:r>
              <a:rPr lang="en-US" sz="2400" spc="200" dirty="0">
                <a:latin typeface="Times New Roman" panose="02020603050405020304" pitchFamily="18" charset="0"/>
                <a:ea typeface="Times New Roman" panose="02020603050405020304" pitchFamily="18" charset="0"/>
              </a:rPr>
              <a:t> </a:t>
            </a:r>
            <a:endParaRPr lang="en-US" sz="2400" spc="185" dirty="0">
              <a:latin typeface="Times New Roman" panose="02020603050405020304" pitchFamily="18" charset="0"/>
              <a:ea typeface="Times New Roman" panose="02020603050405020304" pitchFamily="18" charset="0"/>
            </a:endParaRPr>
          </a:p>
          <a:p>
            <a:pPr lvl="0">
              <a:lnSpc>
                <a:spcPct val="150000"/>
              </a:lnSpc>
            </a:pPr>
            <a:r>
              <a:rPr lang="en-US" sz="2400" dirty="0">
                <a:latin typeface="Times New Roman" panose="02020603050405020304" pitchFamily="18" charset="0"/>
                <a:ea typeface="Times New Roman" panose="02020603050405020304" pitchFamily="18" charset="0"/>
              </a:rPr>
              <a:t>can be implemented in an evolutionary </a:t>
            </a:r>
          </a:p>
          <a:p>
            <a:pPr lvl="0">
              <a:lnSpc>
                <a:spcPct val="150000"/>
              </a:lnSpc>
            </a:pPr>
            <a:r>
              <a:rPr lang="en-US" sz="2400" dirty="0">
                <a:latin typeface="Times New Roman" panose="02020603050405020304" pitchFamily="18" charset="0"/>
                <a:ea typeface="Times New Roman" panose="02020603050405020304" pitchFamily="18" charset="0"/>
              </a:rPr>
              <a:t>3)A design should lead to data structures that are appropriate for the classes to be implemented and are drawn from recognizable data patterns.</a:t>
            </a:r>
            <a:endParaRPr lang="en-IN" sz="2400" dirty="0">
              <a:latin typeface="Times New Roman" panose="02020603050405020304" pitchFamily="18" charset="0"/>
              <a:ea typeface="Times New Roman" panose="02020603050405020304" pitchFamily="18" charset="0"/>
            </a:endParaRPr>
          </a:p>
          <a:p>
            <a:pPr lvl="0">
              <a:lnSpc>
                <a:spcPct val="150000"/>
              </a:lnSpc>
            </a:pPr>
            <a:r>
              <a:rPr lang="en-US" sz="2400" dirty="0">
                <a:latin typeface="Times New Roman" panose="02020603050405020304" pitchFamily="18" charset="0"/>
                <a:ea typeface="Times New Roman" panose="02020603050405020304" pitchFamily="18" charset="0"/>
              </a:rPr>
              <a:t>4)A design should lead to components that exhibit independent functional characteristics.</a:t>
            </a:r>
            <a:endParaRPr lang="en-IN" sz="2400" dirty="0">
              <a:latin typeface="Times New Roman" panose="02020603050405020304" pitchFamily="18" charset="0"/>
              <a:ea typeface="Times New Roman" panose="02020603050405020304" pitchFamily="18" charset="0"/>
            </a:endParaRPr>
          </a:p>
          <a:p>
            <a:pPr lvl="0">
              <a:lnSpc>
                <a:spcPct val="150000"/>
              </a:lnSpc>
            </a:pPr>
            <a:r>
              <a:rPr lang="en-US" sz="2400" dirty="0">
                <a:latin typeface="Times New Roman" panose="02020603050405020304" pitchFamily="18" charset="0"/>
                <a:ea typeface="Times New Roman" panose="02020603050405020304" pitchFamily="18" charset="0"/>
              </a:rPr>
              <a:t>5)A design should lead to interfaces that reduce the complexity	of connections between components and with the external environment.</a:t>
            </a:r>
            <a:endParaRPr lang="en-IN" sz="2400" dirty="0">
              <a:latin typeface="Times New Roman" panose="02020603050405020304" pitchFamily="18" charset="0"/>
              <a:ea typeface="Times New Roman" panose="02020603050405020304" pitchFamily="18" charset="0"/>
            </a:endParaRPr>
          </a:p>
          <a:p>
            <a:pPr lvl="0">
              <a:lnSpc>
                <a:spcPct val="150000"/>
              </a:lnSpc>
            </a:pPr>
            <a:r>
              <a:rPr lang="en-US" sz="2400" dirty="0">
                <a:latin typeface="Times New Roman" panose="02020603050405020304" pitchFamily="18" charset="0"/>
                <a:ea typeface="Times New Roman" panose="02020603050405020304" pitchFamily="18" charset="0"/>
              </a:rPr>
              <a:t>6)A design should be derived using a repeatable method that is driven by information obtained during software requirements analysis.</a:t>
            </a:r>
            <a:endParaRPr lang="en-IN" sz="2400" dirty="0">
              <a:latin typeface="Times New Roman" panose="02020603050405020304" pitchFamily="18" charset="0"/>
              <a:ea typeface="Times New Roman" panose="02020603050405020304" pitchFamily="18" charset="0"/>
            </a:endParaRPr>
          </a:p>
          <a:p>
            <a:pPr lvl="0">
              <a:lnSpc>
                <a:spcPct val="150000"/>
              </a:lnSpc>
            </a:pPr>
            <a:r>
              <a:rPr lang="en-US" sz="2400" dirty="0">
                <a:latin typeface="Times New Roman" panose="02020603050405020304" pitchFamily="18" charset="0"/>
                <a:ea typeface="Times New Roman" panose="02020603050405020304" pitchFamily="18" charset="0"/>
              </a:rPr>
              <a:t>7)A design should be represented using a notation that effectively communicates its meaning.</a:t>
            </a:r>
            <a:endParaRPr lang="en-IN" sz="2400" dirty="0">
              <a:latin typeface="Times New Roman" panose="02020603050405020304" pitchFamily="18" charset="0"/>
              <a:ea typeface="Times New Roman" panose="02020603050405020304" pitchFamily="18" charset="0"/>
            </a:endParaRPr>
          </a:p>
          <a:p>
            <a:pPr marL="342900" marR="678180" lvl="0" indent="-342900" algn="just">
              <a:lnSpc>
                <a:spcPct val="150000"/>
              </a:lnSpc>
              <a:spcAft>
                <a:spcPts val="0"/>
              </a:spcAft>
              <a:buSzPts val="1200"/>
              <a:buAutoNum type="arabicParenBoth"/>
              <a:tabLst>
                <a:tab pos="688340" algn="l"/>
                <a:tab pos="857885" algn="l"/>
              </a:tabLst>
            </a:pPr>
            <a:endParaRPr lang="en-US" sz="2400" dirty="0">
              <a:latin typeface="Times New Roman" panose="02020603050405020304" pitchFamily="18" charset="0"/>
              <a:ea typeface="Times New Roman" panose="02020603050405020304" pitchFamily="18" charset="0"/>
            </a:endParaRPr>
          </a:p>
          <a:p>
            <a:pPr marL="342900" marR="678180" lvl="0" indent="-342900" algn="just">
              <a:lnSpc>
                <a:spcPct val="150000"/>
              </a:lnSpc>
              <a:spcAft>
                <a:spcPts val="0"/>
              </a:spcAft>
              <a:buSzPts val="1200"/>
              <a:buAutoNum type="arabicParenBoth"/>
              <a:tabLst>
                <a:tab pos="688340" algn="l"/>
                <a:tab pos="857885" algn="l"/>
              </a:tabLst>
            </a:pPr>
            <a:endParaRPr lang="en-IN" sz="2400" dirty="0">
              <a:latin typeface="Times New Roman" panose="02020603050405020304" pitchFamily="18" charset="0"/>
              <a:ea typeface="Times New Roman" panose="02020603050405020304" pitchFamily="18" charset="0"/>
            </a:endParaRPr>
          </a:p>
        </p:txBody>
      </p:sp>
      <p:pic>
        <p:nvPicPr>
          <p:cNvPr id="3" name="Picture 2" descr="gitam_logo.png"/>
          <p:cNvPicPr>
            <a:picLocks noChangeAspect="1"/>
          </p:cNvPicPr>
          <p:nvPr/>
        </p:nvPicPr>
        <p:blipFill>
          <a:blip r:embed="rId3"/>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1742486921"/>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2" name="Rectangle 1"/>
          <p:cNvSpPr/>
          <p:nvPr/>
        </p:nvSpPr>
        <p:spPr>
          <a:xfrm>
            <a:off x="0" y="601134"/>
            <a:ext cx="12191999" cy="6093976"/>
          </a:xfrm>
          <a:prstGeom prst="rect">
            <a:avLst/>
          </a:prstGeom>
        </p:spPr>
        <p:txBody>
          <a:bodyPr wrap="square">
            <a:spAutoFit/>
          </a:bodyPr>
          <a:lstStyle/>
          <a:p>
            <a:pPr marL="227965" marR="685800">
              <a:lnSpc>
                <a:spcPct val="150000"/>
              </a:lnSpc>
              <a:spcBef>
                <a:spcPts val="25"/>
              </a:spcBef>
              <a:spcAft>
                <a:spcPts val="0"/>
              </a:spcAft>
            </a:pPr>
            <a:r>
              <a:rPr lang="en-US" sz="1400" b="1" dirty="0">
                <a:latin typeface="Times New Roman" panose="02020603050405020304" pitchFamily="18" charset="0"/>
                <a:ea typeface="Times New Roman" panose="02020603050405020304" pitchFamily="18" charset="0"/>
              </a:rPr>
              <a:t>                                                             </a:t>
            </a:r>
            <a:r>
              <a:rPr lang="en-US" sz="2800" b="1" dirty="0">
                <a:latin typeface="Times New Roman" panose="02020603050405020304" pitchFamily="18" charset="0"/>
                <a:ea typeface="Times New Roman" panose="02020603050405020304" pitchFamily="18" charset="0"/>
              </a:rPr>
              <a:t>Design Quality Attributes </a:t>
            </a:r>
          </a:p>
          <a:p>
            <a:pPr marL="227965" marR="685800" algn="just">
              <a:lnSpc>
                <a:spcPct val="150000"/>
              </a:lnSpc>
              <a:spcBef>
                <a:spcPts val="25"/>
              </a:spcBef>
              <a:spcAft>
                <a:spcPts val="0"/>
              </a:spcAft>
            </a:pPr>
            <a:r>
              <a:rPr lang="en-US" sz="1600" b="1" dirty="0">
                <a:latin typeface="Times New Roman" panose="02020603050405020304" pitchFamily="18" charset="0"/>
                <a:ea typeface="Times New Roman" panose="02020603050405020304" pitchFamily="18" charset="0"/>
              </a:rPr>
              <a:t>FURPS</a:t>
            </a:r>
            <a:r>
              <a:rPr lang="en-US" sz="1600" b="1" spc="200" dirty="0">
                <a:latin typeface="Times New Roman" panose="02020603050405020304" pitchFamily="18" charset="0"/>
                <a:ea typeface="Times New Roman" panose="02020603050405020304" pitchFamily="18" charset="0"/>
              </a:rPr>
              <a:t> </a:t>
            </a:r>
            <a:r>
              <a:rPr lang="en-US" sz="1600" b="1" dirty="0">
                <a:latin typeface="Times New Roman" panose="02020603050405020304" pitchFamily="18" charset="0"/>
                <a:ea typeface="Times New Roman" panose="02020603050405020304" pitchFamily="18" charset="0"/>
              </a:rPr>
              <a:t>functionality, usability, reliability, performance, and supportability</a:t>
            </a:r>
            <a:r>
              <a:rPr lang="en-US" sz="1600" dirty="0">
                <a:latin typeface="Times New Roman" panose="02020603050405020304" pitchFamily="18" charset="0"/>
                <a:ea typeface="Times New Roman" panose="02020603050405020304" pitchFamily="18" charset="0"/>
              </a:rPr>
              <a:t>. The </a:t>
            </a:r>
            <a:r>
              <a:rPr lang="en-US" sz="1600" b="1" dirty="0">
                <a:latin typeface="Times New Roman" panose="02020603050405020304" pitchFamily="18" charset="0"/>
                <a:ea typeface="Times New Roman" panose="02020603050405020304" pitchFamily="18" charset="0"/>
              </a:rPr>
              <a:t>FURPS </a:t>
            </a:r>
            <a:r>
              <a:rPr lang="en-US" sz="1600" dirty="0">
                <a:latin typeface="Times New Roman" panose="02020603050405020304" pitchFamily="18" charset="0"/>
                <a:ea typeface="Times New Roman" panose="02020603050405020304" pitchFamily="18" charset="0"/>
              </a:rPr>
              <a:t>quality attributes represent a target for all software design:</a:t>
            </a:r>
            <a:endParaRPr lang="en-IN" sz="1600" dirty="0">
              <a:latin typeface="Times New Roman" panose="02020603050405020304" pitchFamily="18" charset="0"/>
              <a:ea typeface="Times New Roman" panose="02020603050405020304" pitchFamily="18" charset="0"/>
            </a:endParaRPr>
          </a:p>
          <a:p>
            <a:pPr marL="742950" marR="692150" lvl="1" indent="-285750" algn="just">
              <a:lnSpc>
                <a:spcPct val="150000"/>
              </a:lnSpc>
              <a:spcAft>
                <a:spcPts val="0"/>
              </a:spcAft>
              <a:buSzPts val="500"/>
              <a:buFont typeface="Times New Roman" panose="02020603050405020304" pitchFamily="18" charset="0"/>
              <a:buBlip>
                <a:blip r:embed="rId3"/>
              </a:buBlip>
              <a:tabLst>
                <a:tab pos="788035" algn="l"/>
              </a:tabLst>
            </a:pPr>
            <a:r>
              <a:rPr lang="en-US" sz="2000" b="1" i="1" dirty="0">
                <a:solidFill>
                  <a:srgbClr val="FF0000"/>
                </a:solidFill>
                <a:latin typeface="Times New Roman" panose="02020603050405020304" pitchFamily="18" charset="0"/>
                <a:ea typeface="Times New Roman" panose="02020603050405020304" pitchFamily="18" charset="0"/>
              </a:rPr>
              <a:t>Functionality </a:t>
            </a:r>
            <a:r>
              <a:rPr lang="en-US" sz="2000" dirty="0">
                <a:latin typeface="Times New Roman" panose="02020603050405020304" pitchFamily="18" charset="0"/>
                <a:ea typeface="Times New Roman" panose="02020603050405020304" pitchFamily="18" charset="0"/>
              </a:rPr>
              <a:t>is assessed by evaluating the feature set and capabilities of the program, the generality of the functions that are delivered, and the security of the overall system..</a:t>
            </a:r>
            <a:endParaRPr lang="en-IN" sz="2000" dirty="0">
              <a:latin typeface="Times New Roman" panose="02020603050405020304" pitchFamily="18" charset="0"/>
              <a:ea typeface="Times New Roman" panose="02020603050405020304" pitchFamily="18" charset="0"/>
            </a:endParaRPr>
          </a:p>
          <a:p>
            <a:pPr marL="742950" marR="681990" lvl="1" indent="-285750" algn="just">
              <a:lnSpc>
                <a:spcPct val="150000"/>
              </a:lnSpc>
              <a:spcAft>
                <a:spcPts val="0"/>
              </a:spcAft>
              <a:buSzPts val="500"/>
              <a:buFont typeface="Times New Roman" panose="02020603050405020304" pitchFamily="18" charset="0"/>
              <a:buBlip>
                <a:blip r:embed="rId3"/>
              </a:buBlip>
              <a:tabLst>
                <a:tab pos="788035" algn="l"/>
              </a:tabLst>
            </a:pPr>
            <a:r>
              <a:rPr lang="en-US" sz="2000" b="1" i="1" dirty="0">
                <a:solidFill>
                  <a:srgbClr val="FF0000"/>
                </a:solidFill>
                <a:latin typeface="Times New Roman" panose="02020603050405020304" pitchFamily="18" charset="0"/>
                <a:ea typeface="Times New Roman" panose="02020603050405020304" pitchFamily="18" charset="0"/>
              </a:rPr>
              <a:t>Usability</a:t>
            </a:r>
            <a:r>
              <a:rPr lang="en-US" sz="2000" b="1" i="1" dirty="0">
                <a:latin typeface="Times New Roman" panose="02020603050405020304" pitchFamily="18" charset="0"/>
                <a:ea typeface="Times New Roman" panose="02020603050405020304" pitchFamily="18" charset="0"/>
              </a:rPr>
              <a:t> </a:t>
            </a:r>
            <a:r>
              <a:rPr lang="en-US" sz="2000" dirty="0">
                <a:latin typeface="Times New Roman" panose="02020603050405020304" pitchFamily="18" charset="0"/>
                <a:ea typeface="Times New Roman" panose="02020603050405020304" pitchFamily="18" charset="0"/>
              </a:rPr>
              <a:t>is assessed by considering human factors, overall aesthetics, consistency, and documentation.</a:t>
            </a:r>
            <a:endParaRPr lang="en-IN" sz="2000" dirty="0">
              <a:latin typeface="Times New Roman" panose="02020603050405020304" pitchFamily="18" charset="0"/>
              <a:ea typeface="Times New Roman" panose="02020603050405020304" pitchFamily="18" charset="0"/>
            </a:endParaRPr>
          </a:p>
          <a:p>
            <a:pPr marL="742950" marR="678180" lvl="1" indent="-285750" algn="just">
              <a:lnSpc>
                <a:spcPct val="150000"/>
              </a:lnSpc>
              <a:spcAft>
                <a:spcPts val="0"/>
              </a:spcAft>
              <a:buSzPts val="500"/>
              <a:buFont typeface="Times New Roman" panose="02020603050405020304" pitchFamily="18" charset="0"/>
              <a:buBlip>
                <a:blip r:embed="rId3"/>
              </a:buBlip>
              <a:tabLst>
                <a:tab pos="782320" algn="l"/>
              </a:tabLst>
            </a:pPr>
            <a:r>
              <a:rPr lang="en-US" sz="2000" b="1" i="1" dirty="0">
                <a:solidFill>
                  <a:srgbClr val="FF0000"/>
                </a:solidFill>
                <a:latin typeface="Times New Roman" panose="02020603050405020304" pitchFamily="18" charset="0"/>
                <a:ea typeface="Times New Roman" panose="02020603050405020304" pitchFamily="18" charset="0"/>
              </a:rPr>
              <a:t>Reliability</a:t>
            </a:r>
            <a:r>
              <a:rPr lang="en-US" sz="2000" b="1" i="1" dirty="0">
                <a:latin typeface="Times New Roman" panose="02020603050405020304" pitchFamily="18" charset="0"/>
                <a:ea typeface="Times New Roman" panose="02020603050405020304" pitchFamily="18" charset="0"/>
              </a:rPr>
              <a:t> </a:t>
            </a:r>
            <a:r>
              <a:rPr lang="en-US" sz="2000" dirty="0">
                <a:latin typeface="Times New Roman" panose="02020603050405020304" pitchFamily="18" charset="0"/>
                <a:ea typeface="Times New Roman" panose="02020603050405020304" pitchFamily="18" charset="0"/>
              </a:rPr>
              <a:t>is evaluated by measuring the frequency and severity of failure, the accuracy of output results, the </a:t>
            </a:r>
            <a:r>
              <a:rPr lang="en-US" sz="2000" b="1" dirty="0">
                <a:latin typeface="Times New Roman" panose="02020603050405020304" pitchFamily="18" charset="0"/>
                <a:ea typeface="Times New Roman" panose="02020603050405020304" pitchFamily="18" charset="0"/>
              </a:rPr>
              <a:t>mean-time-to-failure (MTTF</a:t>
            </a:r>
            <a:r>
              <a:rPr lang="en-US" sz="2000" dirty="0">
                <a:latin typeface="Times New Roman" panose="02020603050405020304" pitchFamily="18" charset="0"/>
                <a:ea typeface="Times New Roman" panose="02020603050405020304" pitchFamily="18" charset="0"/>
              </a:rPr>
              <a:t>), the ability to recover from failure, and the predictability of the</a:t>
            </a:r>
            <a:r>
              <a:rPr lang="en-US" sz="2000" spc="-40" dirty="0">
                <a:latin typeface="Times New Roman" panose="02020603050405020304" pitchFamily="18" charset="0"/>
                <a:ea typeface="Times New Roman" panose="02020603050405020304" pitchFamily="18" charset="0"/>
              </a:rPr>
              <a:t> </a:t>
            </a:r>
            <a:r>
              <a:rPr lang="en-US" sz="2000" dirty="0">
                <a:latin typeface="Times New Roman" panose="02020603050405020304" pitchFamily="18" charset="0"/>
                <a:ea typeface="Times New Roman" panose="02020603050405020304" pitchFamily="18" charset="0"/>
              </a:rPr>
              <a:t>program.</a:t>
            </a:r>
            <a:endParaRPr lang="en-IN" sz="2000" dirty="0">
              <a:latin typeface="Times New Roman" panose="02020603050405020304" pitchFamily="18" charset="0"/>
              <a:ea typeface="Times New Roman" panose="02020603050405020304" pitchFamily="18" charset="0"/>
            </a:endParaRPr>
          </a:p>
          <a:p>
            <a:pPr marL="742950" lvl="1" indent="-285750" algn="just">
              <a:lnSpc>
                <a:spcPct val="150000"/>
              </a:lnSpc>
              <a:buSzPts val="500"/>
              <a:buBlip>
                <a:blip r:embed="rId3"/>
              </a:buBlip>
              <a:tabLst>
                <a:tab pos="788035" algn="l"/>
              </a:tabLst>
            </a:pPr>
            <a:r>
              <a:rPr lang="en-US" sz="2000" b="1" dirty="0">
                <a:solidFill>
                  <a:srgbClr val="FF0000"/>
                </a:solidFill>
                <a:latin typeface="Times New Roman" panose="02020603050405020304" pitchFamily="18" charset="0"/>
                <a:ea typeface="Times New Roman" panose="02020603050405020304" pitchFamily="18" charset="0"/>
              </a:rPr>
              <a:t>Performance</a:t>
            </a:r>
            <a:r>
              <a:rPr lang="en-US" sz="2000" b="1" dirty="0">
                <a:latin typeface="Times New Roman" panose="02020603050405020304" pitchFamily="18" charset="0"/>
                <a:ea typeface="Times New Roman" panose="02020603050405020304" pitchFamily="18" charset="0"/>
              </a:rPr>
              <a:t> i</a:t>
            </a:r>
            <a:r>
              <a:rPr lang="en-US" sz="2000" dirty="0">
                <a:latin typeface="Times New Roman" panose="02020603050405020304" pitchFamily="18" charset="0"/>
                <a:ea typeface="Times New Roman" panose="02020603050405020304" pitchFamily="18" charset="0"/>
              </a:rPr>
              <a:t>s measured by considering processing speed, response time.</a:t>
            </a:r>
          </a:p>
          <a:p>
            <a:pPr marL="742950" lvl="1" indent="-285750" algn="just">
              <a:lnSpc>
                <a:spcPct val="150000"/>
              </a:lnSpc>
              <a:buSzPts val="500"/>
              <a:buBlip>
                <a:blip r:embed="rId3"/>
              </a:buBlip>
              <a:tabLst>
                <a:tab pos="788035" algn="l"/>
              </a:tabLst>
            </a:pPr>
            <a:r>
              <a:rPr lang="en-US" sz="2000" b="1" dirty="0">
                <a:solidFill>
                  <a:srgbClr val="FF0000"/>
                </a:solidFill>
                <a:latin typeface="Times New Roman" panose="02020603050405020304" pitchFamily="18" charset="0"/>
                <a:ea typeface="Times New Roman" panose="02020603050405020304" pitchFamily="18" charset="0"/>
              </a:rPr>
              <a:t>Supportability </a:t>
            </a:r>
            <a:r>
              <a:rPr lang="en-US" sz="2000" dirty="0">
                <a:latin typeface="Times New Roman" panose="02020603050405020304" pitchFamily="18" charset="0"/>
                <a:ea typeface="Times New Roman" panose="02020603050405020304" pitchFamily="18" charset="0"/>
              </a:rPr>
              <a:t>combines the ability to extend the program (extensibility), adaptability, serviceability these three attributes represent a more common term, maintainability and in addition, testability, compatibility, configurability</a:t>
            </a:r>
            <a:endParaRPr lang="en-IN" sz="2000" dirty="0">
              <a:latin typeface="Times New Roman" panose="02020603050405020304" pitchFamily="18" charset="0"/>
              <a:ea typeface="Times New Roman" panose="02020603050405020304" pitchFamily="18" charset="0"/>
            </a:endParaRPr>
          </a:p>
        </p:txBody>
      </p:sp>
      <p:pic>
        <p:nvPicPr>
          <p:cNvPr id="3" name="Picture 2" descr="gitam_logo.png"/>
          <p:cNvPicPr>
            <a:picLocks noChangeAspect="1"/>
          </p:cNvPicPr>
          <p:nvPr/>
        </p:nvPicPr>
        <p:blipFill>
          <a:blip r:embed="rId4"/>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92144084"/>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rtlCol="0" anchor="ctr"/>
          <a:lstStyle/>
          <a:p>
            <a:pPr marL="0" indent="0" algn="l">
              <a:buNone/>
            </a:pPr>
            <a:r>
              <a:rPr lang="en-US" sz="1250" b="1" kern="0" spc="200" dirty="0">
                <a:solidFill>
                  <a:srgbClr val="0E8F8F"/>
                </a:solidFill>
                <a:latin typeface="Calibri" pitchFamily="34" charset="0"/>
                <a:ea typeface="Calibri" pitchFamily="34" charset="-122"/>
                <a:cs typeface="Calibri" pitchFamily="34" charset="-120"/>
              </a:rPr>
              <a:t>DESIGN FUNDAMENTALS</a:t>
            </a:r>
            <a:endParaRPr lang="en-US" sz="1250" dirty="0"/>
          </a:p>
        </p:txBody>
      </p:sp>
      <p:sp>
        <p:nvSpPr>
          <p:cNvPr id="3" name="Text 1"/>
          <p:cNvSpPr/>
          <p:nvPr/>
        </p:nvSpPr>
        <p:spPr>
          <a:xfrm>
            <a:off x="548640" y="658368"/>
            <a:ext cx="10881360" cy="822960"/>
          </a:xfrm>
          <a:prstGeom prst="rect">
            <a:avLst/>
          </a:prstGeom>
          <a:noFill/>
          <a:ln/>
        </p:spPr>
        <p:txBody>
          <a:bodyPr wrap="square" rtlCol="0" anchor="t"/>
          <a:lstStyle/>
          <a:p>
            <a:pPr marL="0" indent="0" algn="l">
              <a:buNone/>
            </a:pPr>
            <a:r>
              <a:rPr lang="en-US" sz="3100" b="1" dirty="0">
                <a:solidFill>
                  <a:srgbClr val="13294B"/>
                </a:solidFill>
                <a:latin typeface="Cambria" pitchFamily="34" charset="0"/>
                <a:ea typeface="Cambria" pitchFamily="34" charset="-122"/>
                <a:cs typeface="Cambria" pitchFamily="34" charset="-120"/>
              </a:rPr>
              <a:t>Fundamental design concepts</a:t>
            </a:r>
            <a:endParaRPr lang="en-US" sz="3100" dirty="0"/>
          </a:p>
        </p:txBody>
      </p:sp>
      <p:sp>
        <p:nvSpPr>
          <p:cNvPr id="6" name="Text 4"/>
          <p:cNvSpPr/>
          <p:nvPr/>
        </p:nvSpPr>
        <p:spPr>
          <a:xfrm>
            <a:off x="11292840" y="6382512"/>
            <a:ext cx="502920" cy="329184"/>
          </a:xfrm>
          <a:prstGeom prst="rect">
            <a:avLst/>
          </a:prstGeom>
          <a:noFill/>
          <a:ln/>
        </p:spPr>
        <p:txBody>
          <a:bodyPr wrap="square" rtlCol="0" anchor="ctr"/>
          <a:lstStyle/>
          <a:p>
            <a:pPr marL="0" indent="0" algn="r">
              <a:buNone/>
            </a:pPr>
            <a:r>
              <a:rPr lang="en-US" sz="1100" b="1" dirty="0">
                <a:solidFill>
                  <a:srgbClr val="35618E"/>
                </a:solidFill>
                <a:latin typeface="Calibri" pitchFamily="34" charset="0"/>
                <a:ea typeface="Calibri" pitchFamily="34" charset="-122"/>
                <a:cs typeface="Calibri" pitchFamily="34" charset="-120"/>
              </a:rPr>
              <a:t>7</a:t>
            </a:r>
            <a:endParaRPr lang="en-US" sz="1100" dirty="0"/>
          </a:p>
        </p:txBody>
      </p:sp>
      <p:sp>
        <p:nvSpPr>
          <p:cNvPr id="7" name="Text 5"/>
          <p:cNvSpPr/>
          <p:nvPr/>
        </p:nvSpPr>
        <p:spPr>
          <a:xfrm>
            <a:off x="566928" y="1572768"/>
            <a:ext cx="10972800" cy="365760"/>
          </a:xfrm>
          <a:prstGeom prst="rect">
            <a:avLst/>
          </a:prstGeom>
          <a:noFill/>
          <a:ln/>
        </p:spPr>
        <p:txBody>
          <a:bodyPr wrap="square" lIns="0" tIns="0" rIns="0" bIns="0" rtlCol="0" anchor="t"/>
          <a:lstStyle/>
          <a:p>
            <a:pPr marL="0" indent="0" algn="l">
              <a:lnSpc>
                <a:spcPct val="100000"/>
              </a:lnSpc>
              <a:buNone/>
            </a:pPr>
            <a:r>
              <a:rPr lang="en-US" sz="1350" dirty="0">
                <a:solidFill>
                  <a:srgbClr val="5C6B82"/>
                </a:solidFill>
                <a:latin typeface="Calibri" pitchFamily="34" charset="0"/>
                <a:ea typeface="Calibri" pitchFamily="34" charset="-122"/>
                <a:cs typeface="Calibri" pitchFamily="34" charset="-120"/>
              </a:rPr>
              <a:t>A set of foundational ideas provides the software designer a vocabulary and a means of coping with complexity.</a:t>
            </a:r>
            <a:endParaRPr lang="en-US" sz="1350" dirty="0"/>
          </a:p>
        </p:txBody>
      </p:sp>
      <p:sp>
        <p:nvSpPr>
          <p:cNvPr id="8" name="Shape 6"/>
          <p:cNvSpPr/>
          <p:nvPr/>
        </p:nvSpPr>
        <p:spPr>
          <a:xfrm>
            <a:off x="566928" y="2084832"/>
            <a:ext cx="2651760" cy="1993392"/>
          </a:xfrm>
          <a:prstGeom prst="roundRect">
            <a:avLst>
              <a:gd name="adj" fmla="val 5046"/>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sp>
      <p:sp>
        <p:nvSpPr>
          <p:cNvPr id="9" name="Shape 7"/>
          <p:cNvSpPr/>
          <p:nvPr/>
        </p:nvSpPr>
        <p:spPr>
          <a:xfrm>
            <a:off x="786384" y="2304288"/>
            <a:ext cx="640080" cy="640080"/>
          </a:xfrm>
          <a:prstGeom prst="ellipse">
            <a:avLst/>
          </a:prstGeom>
          <a:solidFill>
            <a:srgbClr val="0E8F8F"/>
          </a:solidFill>
          <a:ln/>
          <a:effectLst>
            <a:outerShdw blurRad="1270" dist="635" dir="5400000" algn="bl" rotWithShape="0">
              <a:srgbClr val="1B3A5F">
                <a:alpha val="25000"/>
              </a:srgbClr>
            </a:outerShdw>
          </a:effectLst>
        </p:spPr>
      </p:sp>
      <p:pic>
        <p:nvPicPr>
          <p:cNvPr id="10" name="Image 0" descr="/home/claude/deck/icons/abstraction.png"/>
          <p:cNvPicPr>
            <a:picLocks noChangeAspect="1"/>
          </p:cNvPicPr>
          <p:nvPr/>
        </p:nvPicPr>
        <p:blipFill>
          <a:blip r:embed="rId4"/>
          <a:stretch>
            <a:fillRect/>
          </a:stretch>
        </p:blipFill>
        <p:spPr>
          <a:xfrm>
            <a:off x="952805" y="2470709"/>
            <a:ext cx="307238" cy="307238"/>
          </a:xfrm>
          <a:prstGeom prst="rect">
            <a:avLst/>
          </a:prstGeom>
        </p:spPr>
      </p:pic>
      <p:sp>
        <p:nvSpPr>
          <p:cNvPr id="11" name="Text 8"/>
          <p:cNvSpPr/>
          <p:nvPr/>
        </p:nvSpPr>
        <p:spPr>
          <a:xfrm>
            <a:off x="786384" y="3044952"/>
            <a:ext cx="2286000" cy="457200"/>
          </a:xfrm>
          <a:prstGeom prst="rect">
            <a:avLst/>
          </a:prstGeom>
          <a:noFill/>
          <a:ln/>
        </p:spPr>
        <p:txBody>
          <a:bodyPr wrap="square" lIns="0" tIns="0" rIns="0" bIns="0" rtlCol="0" anchor="t"/>
          <a:lstStyle/>
          <a:p>
            <a:pPr marL="0" indent="0" algn="l">
              <a:lnSpc>
                <a:spcPct val="100000"/>
              </a:lnSpc>
              <a:buNone/>
            </a:pPr>
            <a:r>
              <a:rPr lang="en-US" sz="1450" b="1" dirty="0">
                <a:solidFill>
                  <a:srgbClr val="13294B"/>
                </a:solidFill>
                <a:latin typeface="Cambria" pitchFamily="34" charset="0"/>
                <a:ea typeface="Cambria" pitchFamily="34" charset="-122"/>
                <a:cs typeface="Cambria" pitchFamily="34" charset="-120"/>
              </a:rPr>
              <a:t>Abstraction</a:t>
            </a:r>
            <a:endParaRPr lang="en-US" sz="1450" dirty="0"/>
          </a:p>
        </p:txBody>
      </p:sp>
      <p:sp>
        <p:nvSpPr>
          <p:cNvPr id="12" name="Text 9"/>
          <p:cNvSpPr/>
          <p:nvPr/>
        </p:nvSpPr>
        <p:spPr>
          <a:xfrm>
            <a:off x="786384" y="3456432"/>
            <a:ext cx="2249424" cy="566928"/>
          </a:xfrm>
          <a:prstGeom prst="rect">
            <a:avLst/>
          </a:prstGeom>
          <a:noFill/>
          <a:ln/>
        </p:spPr>
        <p:txBody>
          <a:bodyPr wrap="square" lIns="0" tIns="0" rIns="0" bIns="0" rtlCol="0" anchor="t"/>
          <a:lstStyle/>
          <a:p>
            <a:pPr marL="0" indent="0" algn="l">
              <a:lnSpc>
                <a:spcPct val="108000"/>
              </a:lnSpc>
              <a:buNone/>
            </a:pPr>
            <a:r>
              <a:rPr lang="en-US" sz="1150" dirty="0">
                <a:solidFill>
                  <a:srgbClr val="5C6B82"/>
                </a:solidFill>
                <a:latin typeface="Calibri" pitchFamily="34" charset="0"/>
                <a:ea typeface="Calibri" pitchFamily="34" charset="-122"/>
                <a:cs typeface="Calibri" pitchFamily="34" charset="-120"/>
              </a:rPr>
              <a:t>Focus on essentials; suppress detail — procedural &amp; data abstraction.</a:t>
            </a:r>
            <a:endParaRPr lang="en-US" sz="1150" dirty="0"/>
          </a:p>
        </p:txBody>
      </p:sp>
      <p:sp>
        <p:nvSpPr>
          <p:cNvPr id="13" name="Shape 10"/>
          <p:cNvSpPr/>
          <p:nvPr/>
        </p:nvSpPr>
        <p:spPr>
          <a:xfrm>
            <a:off x="3438144" y="2084832"/>
            <a:ext cx="2651760" cy="1993392"/>
          </a:xfrm>
          <a:prstGeom prst="roundRect">
            <a:avLst>
              <a:gd name="adj" fmla="val 5046"/>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txBody>
          <a:bodyPr/>
          <a:lstStyle/>
          <a:p>
            <a:endParaRPr lang="en-IN"/>
          </a:p>
        </p:txBody>
      </p:sp>
      <p:sp>
        <p:nvSpPr>
          <p:cNvPr id="14" name="Shape 11"/>
          <p:cNvSpPr/>
          <p:nvPr/>
        </p:nvSpPr>
        <p:spPr>
          <a:xfrm>
            <a:off x="3657600" y="2304288"/>
            <a:ext cx="640080" cy="640080"/>
          </a:xfrm>
          <a:prstGeom prst="ellipse">
            <a:avLst/>
          </a:prstGeom>
          <a:solidFill>
            <a:srgbClr val="35618E"/>
          </a:solidFill>
          <a:ln/>
          <a:effectLst>
            <a:outerShdw blurRad="1270" dist="635" dir="5400000" algn="bl" rotWithShape="0">
              <a:srgbClr val="1B3A5F">
                <a:alpha val="25000"/>
              </a:srgbClr>
            </a:outerShdw>
          </a:effectLst>
        </p:spPr>
      </p:sp>
      <p:pic>
        <p:nvPicPr>
          <p:cNvPr id="15" name="Image 1" descr="/home/claude/deck/icons/modularity.png"/>
          <p:cNvPicPr>
            <a:picLocks noChangeAspect="1"/>
          </p:cNvPicPr>
          <p:nvPr/>
        </p:nvPicPr>
        <p:blipFill>
          <a:blip r:embed="rId5"/>
          <a:stretch>
            <a:fillRect/>
          </a:stretch>
        </p:blipFill>
        <p:spPr>
          <a:xfrm>
            <a:off x="3824021" y="2470709"/>
            <a:ext cx="307238" cy="307238"/>
          </a:xfrm>
          <a:prstGeom prst="rect">
            <a:avLst/>
          </a:prstGeom>
        </p:spPr>
      </p:pic>
      <p:sp>
        <p:nvSpPr>
          <p:cNvPr id="16" name="Text 12"/>
          <p:cNvSpPr/>
          <p:nvPr/>
        </p:nvSpPr>
        <p:spPr>
          <a:xfrm>
            <a:off x="3657600" y="3044952"/>
            <a:ext cx="2286000" cy="457200"/>
          </a:xfrm>
          <a:prstGeom prst="rect">
            <a:avLst/>
          </a:prstGeom>
          <a:noFill/>
          <a:ln/>
        </p:spPr>
        <p:txBody>
          <a:bodyPr wrap="square" lIns="0" tIns="0" rIns="0" bIns="0" rtlCol="0" anchor="t"/>
          <a:lstStyle/>
          <a:p>
            <a:pPr marL="0" indent="0" algn="l">
              <a:lnSpc>
                <a:spcPct val="100000"/>
              </a:lnSpc>
              <a:buNone/>
            </a:pPr>
            <a:r>
              <a:rPr lang="en-US" sz="1450" b="1" dirty="0">
                <a:solidFill>
                  <a:srgbClr val="13294B"/>
                </a:solidFill>
                <a:latin typeface="Cambria" pitchFamily="34" charset="0"/>
                <a:ea typeface="Cambria" pitchFamily="34" charset="-122"/>
                <a:cs typeface="Cambria" pitchFamily="34" charset="-120"/>
              </a:rPr>
              <a:t>Modularity</a:t>
            </a:r>
            <a:endParaRPr lang="en-US" sz="1450" dirty="0"/>
          </a:p>
        </p:txBody>
      </p:sp>
      <p:sp>
        <p:nvSpPr>
          <p:cNvPr id="17" name="Text 13"/>
          <p:cNvSpPr/>
          <p:nvPr/>
        </p:nvSpPr>
        <p:spPr>
          <a:xfrm>
            <a:off x="3657600" y="3456432"/>
            <a:ext cx="2249424" cy="566928"/>
          </a:xfrm>
          <a:prstGeom prst="rect">
            <a:avLst/>
          </a:prstGeom>
          <a:noFill/>
          <a:ln/>
        </p:spPr>
        <p:txBody>
          <a:bodyPr wrap="square" lIns="0" tIns="0" rIns="0" bIns="0" rtlCol="0" anchor="t"/>
          <a:lstStyle/>
          <a:p>
            <a:pPr marL="0" indent="0" algn="l">
              <a:lnSpc>
                <a:spcPct val="108000"/>
              </a:lnSpc>
              <a:buNone/>
            </a:pPr>
            <a:r>
              <a:rPr lang="en-US" sz="1150" dirty="0">
                <a:solidFill>
                  <a:srgbClr val="5C6B82"/>
                </a:solidFill>
                <a:latin typeface="Calibri" pitchFamily="34" charset="0"/>
                <a:ea typeface="Calibri" pitchFamily="34" charset="-122"/>
                <a:cs typeface="Calibri" pitchFamily="34" charset="-120"/>
              </a:rPr>
              <a:t>Divide software into named, addressable components ("divide &amp; conquer").</a:t>
            </a:r>
            <a:endParaRPr lang="en-US" sz="1150" dirty="0"/>
          </a:p>
        </p:txBody>
      </p:sp>
      <p:sp>
        <p:nvSpPr>
          <p:cNvPr id="18" name="Shape 14"/>
          <p:cNvSpPr/>
          <p:nvPr/>
        </p:nvSpPr>
        <p:spPr>
          <a:xfrm>
            <a:off x="6309360" y="2084832"/>
            <a:ext cx="2651760" cy="1993392"/>
          </a:xfrm>
          <a:prstGeom prst="roundRect">
            <a:avLst>
              <a:gd name="adj" fmla="val 5046"/>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sp>
      <p:sp>
        <p:nvSpPr>
          <p:cNvPr id="19" name="Shape 15"/>
          <p:cNvSpPr/>
          <p:nvPr/>
        </p:nvSpPr>
        <p:spPr>
          <a:xfrm>
            <a:off x="6528816" y="2304288"/>
            <a:ext cx="640080" cy="640080"/>
          </a:xfrm>
          <a:prstGeom prst="ellipse">
            <a:avLst/>
          </a:prstGeom>
          <a:solidFill>
            <a:srgbClr val="D98A28"/>
          </a:solidFill>
          <a:ln/>
          <a:effectLst>
            <a:outerShdw blurRad="1270" dist="635" dir="5400000" algn="bl" rotWithShape="0">
              <a:srgbClr val="1B3A5F">
                <a:alpha val="25000"/>
              </a:srgbClr>
            </a:outerShdw>
          </a:effectLst>
        </p:spPr>
      </p:sp>
      <p:pic>
        <p:nvPicPr>
          <p:cNvPr id="20" name="Image 2" descr="/home/claude/deck/icons/infohide.png"/>
          <p:cNvPicPr>
            <a:picLocks noChangeAspect="1"/>
          </p:cNvPicPr>
          <p:nvPr/>
        </p:nvPicPr>
        <p:blipFill>
          <a:blip r:embed="rId6"/>
          <a:stretch>
            <a:fillRect/>
          </a:stretch>
        </p:blipFill>
        <p:spPr>
          <a:xfrm>
            <a:off x="6695237" y="2470709"/>
            <a:ext cx="307238" cy="307238"/>
          </a:xfrm>
          <a:prstGeom prst="rect">
            <a:avLst/>
          </a:prstGeom>
        </p:spPr>
      </p:pic>
      <p:sp>
        <p:nvSpPr>
          <p:cNvPr id="21" name="Text 16"/>
          <p:cNvSpPr/>
          <p:nvPr/>
        </p:nvSpPr>
        <p:spPr>
          <a:xfrm>
            <a:off x="6528816" y="3044952"/>
            <a:ext cx="2286000" cy="457200"/>
          </a:xfrm>
          <a:prstGeom prst="rect">
            <a:avLst/>
          </a:prstGeom>
          <a:noFill/>
          <a:ln/>
        </p:spPr>
        <p:txBody>
          <a:bodyPr wrap="square" lIns="0" tIns="0" rIns="0" bIns="0" rtlCol="0" anchor="t"/>
          <a:lstStyle/>
          <a:p>
            <a:pPr marL="0" indent="0" algn="l">
              <a:lnSpc>
                <a:spcPct val="100000"/>
              </a:lnSpc>
              <a:buNone/>
            </a:pPr>
            <a:r>
              <a:rPr lang="en-US" sz="1450" b="1" dirty="0">
                <a:solidFill>
                  <a:srgbClr val="13294B"/>
                </a:solidFill>
                <a:latin typeface="Cambria" pitchFamily="34" charset="0"/>
                <a:ea typeface="Cambria" pitchFamily="34" charset="-122"/>
                <a:cs typeface="Cambria" pitchFamily="34" charset="-120"/>
              </a:rPr>
              <a:t>Information hiding</a:t>
            </a:r>
            <a:endParaRPr lang="en-US" sz="1450" dirty="0"/>
          </a:p>
        </p:txBody>
      </p:sp>
      <p:sp>
        <p:nvSpPr>
          <p:cNvPr id="22" name="Text 17"/>
          <p:cNvSpPr/>
          <p:nvPr/>
        </p:nvSpPr>
        <p:spPr>
          <a:xfrm>
            <a:off x="6528816" y="3456432"/>
            <a:ext cx="2249424" cy="566928"/>
          </a:xfrm>
          <a:prstGeom prst="rect">
            <a:avLst/>
          </a:prstGeom>
          <a:noFill/>
          <a:ln/>
        </p:spPr>
        <p:txBody>
          <a:bodyPr wrap="square" lIns="0" tIns="0" rIns="0" bIns="0" rtlCol="0" anchor="t"/>
          <a:lstStyle/>
          <a:p>
            <a:pPr marL="0" indent="0" algn="l">
              <a:lnSpc>
                <a:spcPct val="108000"/>
              </a:lnSpc>
              <a:buNone/>
            </a:pPr>
            <a:r>
              <a:rPr lang="en-US" sz="1150" dirty="0">
                <a:solidFill>
                  <a:srgbClr val="5C6B82"/>
                </a:solidFill>
                <a:latin typeface="Calibri" pitchFamily="34" charset="0"/>
                <a:ea typeface="Calibri" pitchFamily="34" charset="-122"/>
                <a:cs typeface="Calibri" pitchFamily="34" charset="-120"/>
              </a:rPr>
              <a:t>Each module hides its internal decisions behind a stable interface.</a:t>
            </a:r>
            <a:endParaRPr lang="en-US" sz="1150" dirty="0"/>
          </a:p>
        </p:txBody>
      </p:sp>
      <p:sp>
        <p:nvSpPr>
          <p:cNvPr id="23" name="Shape 18"/>
          <p:cNvSpPr/>
          <p:nvPr/>
        </p:nvSpPr>
        <p:spPr>
          <a:xfrm>
            <a:off x="9180576" y="2084832"/>
            <a:ext cx="2651760" cy="1993392"/>
          </a:xfrm>
          <a:prstGeom prst="roundRect">
            <a:avLst>
              <a:gd name="adj" fmla="val 5046"/>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sp>
      <p:sp>
        <p:nvSpPr>
          <p:cNvPr id="24" name="Shape 19"/>
          <p:cNvSpPr/>
          <p:nvPr/>
        </p:nvSpPr>
        <p:spPr>
          <a:xfrm>
            <a:off x="9400032" y="2304288"/>
            <a:ext cx="640080" cy="640080"/>
          </a:xfrm>
          <a:prstGeom prst="ellipse">
            <a:avLst/>
          </a:prstGeom>
          <a:solidFill>
            <a:srgbClr val="6C5B9E"/>
          </a:solidFill>
          <a:ln/>
          <a:effectLst>
            <a:outerShdw blurRad="1270" dist="635" dir="5400000" algn="bl" rotWithShape="0">
              <a:srgbClr val="1B3A5F">
                <a:alpha val="25000"/>
              </a:srgbClr>
            </a:outerShdw>
          </a:effectLst>
        </p:spPr>
      </p:sp>
      <p:pic>
        <p:nvPicPr>
          <p:cNvPr id="25" name="Image 3" descr="/home/claude/deck/icons/independence.png"/>
          <p:cNvPicPr>
            <a:picLocks noChangeAspect="1"/>
          </p:cNvPicPr>
          <p:nvPr/>
        </p:nvPicPr>
        <p:blipFill>
          <a:blip r:embed="rId7"/>
          <a:stretch>
            <a:fillRect/>
          </a:stretch>
        </p:blipFill>
        <p:spPr>
          <a:xfrm>
            <a:off x="9566453" y="2470709"/>
            <a:ext cx="307238" cy="307238"/>
          </a:xfrm>
          <a:prstGeom prst="rect">
            <a:avLst/>
          </a:prstGeom>
        </p:spPr>
      </p:pic>
      <p:sp>
        <p:nvSpPr>
          <p:cNvPr id="26" name="Text 20"/>
          <p:cNvSpPr/>
          <p:nvPr/>
        </p:nvSpPr>
        <p:spPr>
          <a:xfrm>
            <a:off x="9400032" y="3044952"/>
            <a:ext cx="2286000" cy="457200"/>
          </a:xfrm>
          <a:prstGeom prst="rect">
            <a:avLst/>
          </a:prstGeom>
          <a:noFill/>
          <a:ln/>
        </p:spPr>
        <p:txBody>
          <a:bodyPr wrap="square" lIns="0" tIns="0" rIns="0" bIns="0" rtlCol="0" anchor="t"/>
          <a:lstStyle/>
          <a:p>
            <a:pPr marL="0" indent="0" algn="l">
              <a:lnSpc>
                <a:spcPct val="100000"/>
              </a:lnSpc>
              <a:buNone/>
            </a:pPr>
            <a:r>
              <a:rPr lang="en-US" sz="1450" b="1" dirty="0">
                <a:solidFill>
                  <a:srgbClr val="13294B"/>
                </a:solidFill>
                <a:latin typeface="Cambria" pitchFamily="34" charset="0"/>
                <a:ea typeface="Cambria" pitchFamily="34" charset="-122"/>
                <a:cs typeface="Cambria" pitchFamily="34" charset="-120"/>
              </a:rPr>
              <a:t>Functional independence</a:t>
            </a:r>
            <a:endParaRPr lang="en-US" sz="1450" dirty="0"/>
          </a:p>
        </p:txBody>
      </p:sp>
      <p:sp>
        <p:nvSpPr>
          <p:cNvPr id="27" name="Text 21"/>
          <p:cNvSpPr/>
          <p:nvPr/>
        </p:nvSpPr>
        <p:spPr>
          <a:xfrm>
            <a:off x="9400032" y="3456432"/>
            <a:ext cx="2249424" cy="566928"/>
          </a:xfrm>
          <a:prstGeom prst="rect">
            <a:avLst/>
          </a:prstGeom>
          <a:noFill/>
          <a:ln/>
        </p:spPr>
        <p:txBody>
          <a:bodyPr wrap="square" lIns="0" tIns="0" rIns="0" bIns="0" rtlCol="0" anchor="t"/>
          <a:lstStyle/>
          <a:p>
            <a:pPr marL="0" indent="0" algn="l">
              <a:lnSpc>
                <a:spcPct val="108000"/>
              </a:lnSpc>
              <a:buNone/>
            </a:pPr>
            <a:r>
              <a:rPr lang="en-US" sz="1150" dirty="0">
                <a:solidFill>
                  <a:srgbClr val="5C6B82"/>
                </a:solidFill>
                <a:latin typeface="Calibri" pitchFamily="34" charset="0"/>
                <a:ea typeface="Calibri" pitchFamily="34" charset="-122"/>
                <a:cs typeface="Calibri" pitchFamily="34" charset="-120"/>
              </a:rPr>
              <a:t>Modules with single purpose and minimal interaction (cohesion + coupling).</a:t>
            </a:r>
            <a:endParaRPr lang="en-US" sz="1150" dirty="0"/>
          </a:p>
        </p:txBody>
      </p:sp>
      <p:sp>
        <p:nvSpPr>
          <p:cNvPr id="28" name="Shape 22"/>
          <p:cNvSpPr/>
          <p:nvPr/>
        </p:nvSpPr>
        <p:spPr>
          <a:xfrm>
            <a:off x="566928" y="4315968"/>
            <a:ext cx="2651760" cy="1993392"/>
          </a:xfrm>
          <a:prstGeom prst="roundRect">
            <a:avLst>
              <a:gd name="adj" fmla="val 5046"/>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sp>
      <p:sp>
        <p:nvSpPr>
          <p:cNvPr id="29" name="Shape 23"/>
          <p:cNvSpPr/>
          <p:nvPr/>
        </p:nvSpPr>
        <p:spPr>
          <a:xfrm>
            <a:off x="786384" y="4535424"/>
            <a:ext cx="640080" cy="640080"/>
          </a:xfrm>
          <a:prstGeom prst="ellipse">
            <a:avLst/>
          </a:prstGeom>
          <a:solidFill>
            <a:srgbClr val="D9542B"/>
          </a:solidFill>
          <a:ln/>
          <a:effectLst>
            <a:outerShdw blurRad="1270" dist="635" dir="5400000" algn="bl" rotWithShape="0">
              <a:srgbClr val="1B3A5F">
                <a:alpha val="25000"/>
              </a:srgbClr>
            </a:outerShdw>
          </a:effectLst>
        </p:spPr>
      </p:sp>
      <p:pic>
        <p:nvPicPr>
          <p:cNvPr id="30" name="Image 4" descr="/home/claude/deck/icons/refine.png"/>
          <p:cNvPicPr>
            <a:picLocks noChangeAspect="1"/>
          </p:cNvPicPr>
          <p:nvPr/>
        </p:nvPicPr>
        <p:blipFill>
          <a:blip r:embed="rId8"/>
          <a:stretch>
            <a:fillRect/>
          </a:stretch>
        </p:blipFill>
        <p:spPr>
          <a:xfrm>
            <a:off x="952805" y="4701845"/>
            <a:ext cx="307238" cy="307238"/>
          </a:xfrm>
          <a:prstGeom prst="rect">
            <a:avLst/>
          </a:prstGeom>
        </p:spPr>
      </p:pic>
      <p:sp>
        <p:nvSpPr>
          <p:cNvPr id="31" name="Text 24"/>
          <p:cNvSpPr/>
          <p:nvPr/>
        </p:nvSpPr>
        <p:spPr>
          <a:xfrm>
            <a:off x="786384" y="5276088"/>
            <a:ext cx="2286000" cy="457200"/>
          </a:xfrm>
          <a:prstGeom prst="rect">
            <a:avLst/>
          </a:prstGeom>
          <a:noFill/>
          <a:ln/>
        </p:spPr>
        <p:txBody>
          <a:bodyPr wrap="square" lIns="0" tIns="0" rIns="0" bIns="0" rtlCol="0" anchor="t"/>
          <a:lstStyle/>
          <a:p>
            <a:pPr marL="0" indent="0" algn="l">
              <a:lnSpc>
                <a:spcPct val="100000"/>
              </a:lnSpc>
              <a:buNone/>
            </a:pPr>
            <a:r>
              <a:rPr lang="en-US" sz="1450" b="1" dirty="0">
                <a:solidFill>
                  <a:srgbClr val="13294B"/>
                </a:solidFill>
                <a:latin typeface="Cambria" pitchFamily="34" charset="0"/>
                <a:ea typeface="Cambria" pitchFamily="34" charset="-122"/>
                <a:cs typeface="Cambria" pitchFamily="34" charset="-120"/>
              </a:rPr>
              <a:t>Stepwise refinement</a:t>
            </a:r>
            <a:endParaRPr lang="en-US" sz="1450" dirty="0"/>
          </a:p>
        </p:txBody>
      </p:sp>
      <p:sp>
        <p:nvSpPr>
          <p:cNvPr id="32" name="Text 25"/>
          <p:cNvSpPr/>
          <p:nvPr/>
        </p:nvSpPr>
        <p:spPr>
          <a:xfrm>
            <a:off x="786384" y="5687568"/>
            <a:ext cx="2249424" cy="566928"/>
          </a:xfrm>
          <a:prstGeom prst="rect">
            <a:avLst/>
          </a:prstGeom>
          <a:noFill/>
          <a:ln/>
        </p:spPr>
        <p:txBody>
          <a:bodyPr wrap="square" lIns="0" tIns="0" rIns="0" bIns="0" rtlCol="0" anchor="t"/>
          <a:lstStyle/>
          <a:p>
            <a:pPr marL="0" indent="0" algn="l">
              <a:lnSpc>
                <a:spcPct val="108000"/>
              </a:lnSpc>
              <a:buNone/>
            </a:pPr>
            <a:r>
              <a:rPr lang="en-US" sz="1150" dirty="0">
                <a:solidFill>
                  <a:srgbClr val="5C6B82"/>
                </a:solidFill>
                <a:latin typeface="Calibri" pitchFamily="34" charset="0"/>
                <a:ea typeface="Calibri" pitchFamily="34" charset="-122"/>
                <a:cs typeface="Calibri" pitchFamily="34" charset="-120"/>
              </a:rPr>
              <a:t>Elaborate the design top-down, adding detail level by level.</a:t>
            </a:r>
            <a:endParaRPr lang="en-US" sz="1150" dirty="0"/>
          </a:p>
        </p:txBody>
      </p:sp>
      <p:sp>
        <p:nvSpPr>
          <p:cNvPr id="33" name="Shape 26"/>
          <p:cNvSpPr/>
          <p:nvPr/>
        </p:nvSpPr>
        <p:spPr>
          <a:xfrm>
            <a:off x="3438144" y="4315968"/>
            <a:ext cx="2651760" cy="1993392"/>
          </a:xfrm>
          <a:prstGeom prst="roundRect">
            <a:avLst>
              <a:gd name="adj" fmla="val 5046"/>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sp>
      <p:sp>
        <p:nvSpPr>
          <p:cNvPr id="34" name="Shape 27"/>
          <p:cNvSpPr/>
          <p:nvPr/>
        </p:nvSpPr>
        <p:spPr>
          <a:xfrm>
            <a:off x="3657600" y="4535424"/>
            <a:ext cx="640080" cy="640080"/>
          </a:xfrm>
          <a:prstGeom prst="ellipse">
            <a:avLst/>
          </a:prstGeom>
          <a:solidFill>
            <a:srgbClr val="2E8B57"/>
          </a:solidFill>
          <a:ln/>
          <a:effectLst>
            <a:outerShdw blurRad="1270" dist="635" dir="5400000" algn="bl" rotWithShape="0">
              <a:srgbClr val="1B3A5F">
                <a:alpha val="25000"/>
              </a:srgbClr>
            </a:outerShdw>
          </a:effectLst>
        </p:spPr>
      </p:sp>
      <p:pic>
        <p:nvPicPr>
          <p:cNvPr id="35" name="Image 5" descr="/home/claude/deck/icons/sitemap.png"/>
          <p:cNvPicPr>
            <a:picLocks noChangeAspect="1"/>
          </p:cNvPicPr>
          <p:nvPr/>
        </p:nvPicPr>
        <p:blipFill>
          <a:blip r:embed="rId9"/>
          <a:stretch>
            <a:fillRect/>
          </a:stretch>
        </p:blipFill>
        <p:spPr>
          <a:xfrm>
            <a:off x="3824021" y="4701845"/>
            <a:ext cx="307238" cy="307238"/>
          </a:xfrm>
          <a:prstGeom prst="rect">
            <a:avLst/>
          </a:prstGeom>
        </p:spPr>
      </p:pic>
      <p:sp>
        <p:nvSpPr>
          <p:cNvPr id="36" name="Text 28"/>
          <p:cNvSpPr/>
          <p:nvPr/>
        </p:nvSpPr>
        <p:spPr>
          <a:xfrm>
            <a:off x="3657600" y="5276088"/>
            <a:ext cx="2286000" cy="457200"/>
          </a:xfrm>
          <a:prstGeom prst="rect">
            <a:avLst/>
          </a:prstGeom>
          <a:noFill/>
          <a:ln/>
        </p:spPr>
        <p:txBody>
          <a:bodyPr wrap="square" lIns="0" tIns="0" rIns="0" bIns="0" rtlCol="0" anchor="t"/>
          <a:lstStyle/>
          <a:p>
            <a:pPr marL="0" indent="0" algn="l">
              <a:lnSpc>
                <a:spcPct val="100000"/>
              </a:lnSpc>
              <a:buNone/>
            </a:pPr>
            <a:r>
              <a:rPr lang="en-US" sz="1450" b="1" dirty="0">
                <a:solidFill>
                  <a:srgbClr val="13294B"/>
                </a:solidFill>
                <a:latin typeface="Cambria" pitchFamily="34" charset="0"/>
                <a:ea typeface="Cambria" pitchFamily="34" charset="-122"/>
                <a:cs typeface="Cambria" pitchFamily="34" charset="-120"/>
              </a:rPr>
              <a:t>Architecture</a:t>
            </a:r>
            <a:endParaRPr lang="en-US" sz="1450" dirty="0"/>
          </a:p>
        </p:txBody>
      </p:sp>
      <p:sp>
        <p:nvSpPr>
          <p:cNvPr id="37" name="Text 29"/>
          <p:cNvSpPr/>
          <p:nvPr/>
        </p:nvSpPr>
        <p:spPr>
          <a:xfrm>
            <a:off x="3657600" y="5687568"/>
            <a:ext cx="2249424" cy="566928"/>
          </a:xfrm>
          <a:prstGeom prst="rect">
            <a:avLst/>
          </a:prstGeom>
          <a:noFill/>
          <a:ln/>
        </p:spPr>
        <p:txBody>
          <a:bodyPr wrap="square" lIns="0" tIns="0" rIns="0" bIns="0" rtlCol="0" anchor="t"/>
          <a:lstStyle/>
          <a:p>
            <a:pPr marL="0" indent="0" algn="l">
              <a:lnSpc>
                <a:spcPct val="108000"/>
              </a:lnSpc>
              <a:buNone/>
            </a:pPr>
            <a:r>
              <a:rPr lang="en-US" sz="1150" dirty="0">
                <a:solidFill>
                  <a:srgbClr val="5C6B82"/>
                </a:solidFill>
                <a:latin typeface="Calibri" pitchFamily="34" charset="0"/>
                <a:ea typeface="Calibri" pitchFamily="34" charset="-122"/>
                <a:cs typeface="Calibri" pitchFamily="34" charset="-120"/>
              </a:rPr>
              <a:t>The overall structure — components and how they interact.</a:t>
            </a:r>
            <a:endParaRPr lang="en-US" sz="1150" dirty="0"/>
          </a:p>
        </p:txBody>
      </p:sp>
      <p:sp>
        <p:nvSpPr>
          <p:cNvPr id="38" name="Shape 30"/>
          <p:cNvSpPr/>
          <p:nvPr/>
        </p:nvSpPr>
        <p:spPr>
          <a:xfrm>
            <a:off x="6309360" y="4315968"/>
            <a:ext cx="2651760" cy="1993392"/>
          </a:xfrm>
          <a:prstGeom prst="roundRect">
            <a:avLst>
              <a:gd name="adj" fmla="val 5046"/>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sp>
      <p:sp>
        <p:nvSpPr>
          <p:cNvPr id="39" name="Shape 31"/>
          <p:cNvSpPr/>
          <p:nvPr/>
        </p:nvSpPr>
        <p:spPr>
          <a:xfrm>
            <a:off x="6528816" y="4535424"/>
            <a:ext cx="640080" cy="640080"/>
          </a:xfrm>
          <a:prstGeom prst="ellipse">
            <a:avLst/>
          </a:prstGeom>
          <a:solidFill>
            <a:srgbClr val="0A6E6E"/>
          </a:solidFill>
          <a:ln/>
          <a:effectLst>
            <a:outerShdw blurRad="1270" dist="635" dir="5400000" algn="bl" rotWithShape="0">
              <a:srgbClr val="1B3A5F">
                <a:alpha val="25000"/>
              </a:srgbClr>
            </a:outerShdw>
          </a:effectLst>
        </p:spPr>
      </p:sp>
      <p:pic>
        <p:nvPicPr>
          <p:cNvPr id="40" name="Image 6" descr="/home/claude/deck/icons/pattern.png"/>
          <p:cNvPicPr>
            <a:picLocks noChangeAspect="1"/>
          </p:cNvPicPr>
          <p:nvPr/>
        </p:nvPicPr>
        <p:blipFill>
          <a:blip r:embed="rId10"/>
          <a:stretch>
            <a:fillRect/>
          </a:stretch>
        </p:blipFill>
        <p:spPr>
          <a:xfrm>
            <a:off x="6695237" y="4701845"/>
            <a:ext cx="307238" cy="307238"/>
          </a:xfrm>
          <a:prstGeom prst="rect">
            <a:avLst/>
          </a:prstGeom>
        </p:spPr>
      </p:pic>
      <p:sp>
        <p:nvSpPr>
          <p:cNvPr id="41" name="Text 32"/>
          <p:cNvSpPr/>
          <p:nvPr/>
        </p:nvSpPr>
        <p:spPr>
          <a:xfrm>
            <a:off x="6528816" y="5276088"/>
            <a:ext cx="2286000" cy="457200"/>
          </a:xfrm>
          <a:prstGeom prst="rect">
            <a:avLst/>
          </a:prstGeom>
          <a:noFill/>
          <a:ln/>
        </p:spPr>
        <p:txBody>
          <a:bodyPr wrap="square" lIns="0" tIns="0" rIns="0" bIns="0" rtlCol="0" anchor="t"/>
          <a:lstStyle/>
          <a:p>
            <a:pPr marL="0" indent="0" algn="l">
              <a:lnSpc>
                <a:spcPct val="100000"/>
              </a:lnSpc>
              <a:buNone/>
            </a:pPr>
            <a:r>
              <a:rPr lang="en-US" sz="1450" b="1" dirty="0">
                <a:solidFill>
                  <a:srgbClr val="13294B"/>
                </a:solidFill>
                <a:latin typeface="Cambria" pitchFamily="34" charset="0"/>
                <a:ea typeface="Cambria" pitchFamily="34" charset="-122"/>
                <a:cs typeface="Cambria" pitchFamily="34" charset="-120"/>
              </a:rPr>
              <a:t>Design patterns</a:t>
            </a:r>
            <a:endParaRPr lang="en-US" sz="1450" dirty="0"/>
          </a:p>
        </p:txBody>
      </p:sp>
      <p:sp>
        <p:nvSpPr>
          <p:cNvPr id="42" name="Text 33"/>
          <p:cNvSpPr/>
          <p:nvPr/>
        </p:nvSpPr>
        <p:spPr>
          <a:xfrm>
            <a:off x="6528816" y="5687568"/>
            <a:ext cx="2249424" cy="566928"/>
          </a:xfrm>
          <a:prstGeom prst="rect">
            <a:avLst/>
          </a:prstGeom>
          <a:noFill/>
          <a:ln/>
        </p:spPr>
        <p:txBody>
          <a:bodyPr wrap="square" lIns="0" tIns="0" rIns="0" bIns="0" rtlCol="0" anchor="t"/>
          <a:lstStyle/>
          <a:p>
            <a:pPr marL="0" indent="0" algn="l">
              <a:lnSpc>
                <a:spcPct val="108000"/>
              </a:lnSpc>
              <a:buNone/>
            </a:pPr>
            <a:r>
              <a:rPr lang="en-US" sz="1150" dirty="0">
                <a:solidFill>
                  <a:srgbClr val="5C6B82"/>
                </a:solidFill>
                <a:latin typeface="Calibri" pitchFamily="34" charset="0"/>
                <a:ea typeface="Calibri" pitchFamily="34" charset="-122"/>
                <a:cs typeface="Calibri" pitchFamily="34" charset="-120"/>
              </a:rPr>
              <a:t>Proven, reusable solutions to recurring design problems.</a:t>
            </a:r>
            <a:endParaRPr lang="en-US" sz="1150" dirty="0"/>
          </a:p>
        </p:txBody>
      </p:sp>
      <p:sp>
        <p:nvSpPr>
          <p:cNvPr id="43" name="Shape 34"/>
          <p:cNvSpPr/>
          <p:nvPr/>
        </p:nvSpPr>
        <p:spPr>
          <a:xfrm>
            <a:off x="9180576" y="4315968"/>
            <a:ext cx="2651760" cy="1993392"/>
          </a:xfrm>
          <a:prstGeom prst="roundRect">
            <a:avLst>
              <a:gd name="adj" fmla="val 5046"/>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sp>
      <p:sp>
        <p:nvSpPr>
          <p:cNvPr id="44" name="Shape 35"/>
          <p:cNvSpPr/>
          <p:nvPr/>
        </p:nvSpPr>
        <p:spPr>
          <a:xfrm>
            <a:off x="9400032" y="4535424"/>
            <a:ext cx="640080" cy="640080"/>
          </a:xfrm>
          <a:prstGeom prst="ellipse">
            <a:avLst/>
          </a:prstGeom>
          <a:solidFill>
            <a:srgbClr val="1B3A5F"/>
          </a:solidFill>
          <a:ln/>
          <a:effectLst>
            <a:outerShdw blurRad="1270" dist="635" dir="5400000" algn="bl" rotWithShape="0">
              <a:srgbClr val="1B3A5F">
                <a:alpha val="25000"/>
              </a:srgbClr>
            </a:outerShdw>
          </a:effectLst>
        </p:spPr>
      </p:sp>
      <p:pic>
        <p:nvPicPr>
          <p:cNvPr id="45" name="Image 7" descr="/home/claude/deck/icons/wrench.png"/>
          <p:cNvPicPr>
            <a:picLocks noChangeAspect="1"/>
          </p:cNvPicPr>
          <p:nvPr/>
        </p:nvPicPr>
        <p:blipFill>
          <a:blip r:embed="rId11"/>
          <a:stretch>
            <a:fillRect/>
          </a:stretch>
        </p:blipFill>
        <p:spPr>
          <a:xfrm>
            <a:off x="9566453" y="4701845"/>
            <a:ext cx="307238" cy="307238"/>
          </a:xfrm>
          <a:prstGeom prst="rect">
            <a:avLst/>
          </a:prstGeom>
        </p:spPr>
      </p:pic>
      <p:sp>
        <p:nvSpPr>
          <p:cNvPr id="46" name="Text 36"/>
          <p:cNvSpPr/>
          <p:nvPr/>
        </p:nvSpPr>
        <p:spPr>
          <a:xfrm>
            <a:off x="9400032" y="5276088"/>
            <a:ext cx="2286000" cy="457200"/>
          </a:xfrm>
          <a:prstGeom prst="rect">
            <a:avLst/>
          </a:prstGeom>
          <a:noFill/>
          <a:ln/>
        </p:spPr>
        <p:txBody>
          <a:bodyPr wrap="square" lIns="0" tIns="0" rIns="0" bIns="0" rtlCol="0" anchor="t"/>
          <a:lstStyle/>
          <a:p>
            <a:pPr marL="0" indent="0" algn="l">
              <a:lnSpc>
                <a:spcPct val="100000"/>
              </a:lnSpc>
              <a:buNone/>
            </a:pPr>
            <a:r>
              <a:rPr lang="en-US" sz="1450" b="1" dirty="0">
                <a:solidFill>
                  <a:srgbClr val="13294B"/>
                </a:solidFill>
                <a:latin typeface="Cambria" pitchFamily="34" charset="0"/>
                <a:ea typeface="Cambria" pitchFamily="34" charset="-122"/>
                <a:cs typeface="Cambria" pitchFamily="34" charset="-120"/>
              </a:rPr>
              <a:t>Refactoring</a:t>
            </a:r>
            <a:endParaRPr lang="en-US" sz="1450" dirty="0"/>
          </a:p>
        </p:txBody>
      </p:sp>
      <p:sp>
        <p:nvSpPr>
          <p:cNvPr id="47" name="Text 37"/>
          <p:cNvSpPr/>
          <p:nvPr/>
        </p:nvSpPr>
        <p:spPr>
          <a:xfrm>
            <a:off x="9400032" y="5687568"/>
            <a:ext cx="2249424" cy="566928"/>
          </a:xfrm>
          <a:prstGeom prst="rect">
            <a:avLst/>
          </a:prstGeom>
          <a:noFill/>
          <a:ln/>
        </p:spPr>
        <p:txBody>
          <a:bodyPr wrap="square" lIns="0" tIns="0" rIns="0" bIns="0" rtlCol="0" anchor="t"/>
          <a:lstStyle/>
          <a:p>
            <a:pPr marL="0" indent="0" algn="l">
              <a:lnSpc>
                <a:spcPct val="108000"/>
              </a:lnSpc>
              <a:buNone/>
            </a:pPr>
            <a:r>
              <a:rPr lang="en-US" sz="1150" dirty="0">
                <a:solidFill>
                  <a:srgbClr val="5C6B82"/>
                </a:solidFill>
                <a:latin typeface="Calibri" pitchFamily="34" charset="0"/>
                <a:ea typeface="Calibri" pitchFamily="34" charset="-122"/>
                <a:cs typeface="Calibri" pitchFamily="34" charset="-120"/>
              </a:rPr>
              <a:t>Improve internal structure without changing external behaviour.</a:t>
            </a:r>
            <a:endParaRPr lang="en-US" sz="1150" dirty="0"/>
          </a:p>
        </p:txBody>
      </p:sp>
    </p:spTree>
    <p:extLst>
      <p:ext uri="{BB962C8B-B14F-4D97-AF65-F5344CB8AC3E}">
        <p14:creationId xmlns:p14="http://schemas.microsoft.com/office/powerpoint/2010/main" val="202474405"/>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62398" y="1384"/>
            <a:ext cx="9601196" cy="1303867"/>
          </a:xfrm>
        </p:spPr>
        <p:txBody>
          <a:bodyPr>
            <a:normAutofit fontScale="90000"/>
          </a:bodyPr>
          <a:lstStyle/>
          <a:p>
            <a:br>
              <a:rPr lang="en-US" dirty="0"/>
            </a:br>
            <a:r>
              <a:rPr lang="en-US" b="1" dirty="0">
                <a:solidFill>
                  <a:srgbClr val="FF0000"/>
                </a:solidFill>
              </a:rPr>
              <a:t>Design Concepts</a:t>
            </a:r>
            <a:endParaRPr lang="en-IN" b="1" dirty="0">
              <a:solidFill>
                <a:srgbClr val="FF0000"/>
              </a:solidFill>
            </a:endParaRPr>
          </a:p>
        </p:txBody>
      </p:sp>
      <p:graphicFrame>
        <p:nvGraphicFramePr>
          <p:cNvPr id="4" name="Diagram 3"/>
          <p:cNvGraphicFramePr/>
          <p:nvPr/>
        </p:nvGraphicFramePr>
        <p:xfrm>
          <a:off x="677333" y="1504604"/>
          <a:ext cx="10530598" cy="53011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descr="gitam_logo.png"/>
          <p:cNvPicPr>
            <a:picLocks noChangeAspect="1"/>
          </p:cNvPicPr>
          <p:nvPr/>
        </p:nvPicPr>
        <p:blipFill>
          <a:blip r:embed="rId8"/>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1529207749"/>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95402" y="982132"/>
            <a:ext cx="9601196" cy="635001"/>
          </a:xfrm>
        </p:spPr>
        <p:txBody>
          <a:bodyPr>
            <a:normAutofit fontScale="90000"/>
          </a:bodyPr>
          <a:lstStyle/>
          <a:p>
            <a:r>
              <a:rPr lang="en-US" b="1" dirty="0">
                <a:latin typeface="Times New Roman" panose="02020603050405020304" pitchFamily="18" charset="0"/>
                <a:cs typeface="Times New Roman" panose="02020603050405020304" pitchFamily="18" charset="0"/>
              </a:rPr>
              <a:t>1.Abstraction </a:t>
            </a:r>
            <a:endParaRPr lang="en-IN" b="1" dirty="0">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3"/>
          <a:stretch>
            <a:fillRect/>
          </a:stretch>
        </p:blipFill>
        <p:spPr>
          <a:xfrm>
            <a:off x="232665" y="1840944"/>
            <a:ext cx="9423399" cy="4517522"/>
          </a:xfrm>
          <a:prstGeom prst="rect">
            <a:avLst/>
          </a:prstGeom>
        </p:spPr>
      </p:pic>
      <p:pic>
        <p:nvPicPr>
          <p:cNvPr id="4" name="Picture 3" descr="gitam_logo.png"/>
          <p:cNvPicPr>
            <a:picLocks noChangeAspect="1"/>
          </p:cNvPicPr>
          <p:nvPr/>
        </p:nvPicPr>
        <p:blipFill>
          <a:blip r:embed="rId4"/>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438869459"/>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567266" y="584200"/>
            <a:ext cx="5562601" cy="5655733"/>
          </a:xfrm>
          <a:prstGeom prst="rect">
            <a:avLst/>
          </a:prstGeom>
        </p:spPr>
      </p:pic>
      <p:pic>
        <p:nvPicPr>
          <p:cNvPr id="7" name="Picture 6"/>
          <p:cNvPicPr>
            <a:picLocks noChangeAspect="1"/>
          </p:cNvPicPr>
          <p:nvPr/>
        </p:nvPicPr>
        <p:blipFill>
          <a:blip r:embed="rId4"/>
          <a:stretch>
            <a:fillRect/>
          </a:stretch>
        </p:blipFill>
        <p:spPr>
          <a:xfrm>
            <a:off x="6485467" y="584199"/>
            <a:ext cx="5223933" cy="5295277"/>
          </a:xfrm>
          <a:prstGeom prst="rect">
            <a:avLst/>
          </a:prstGeom>
        </p:spPr>
      </p:pic>
      <p:pic>
        <p:nvPicPr>
          <p:cNvPr id="5" name="Picture 4" descr="gitam_logo.png"/>
          <p:cNvPicPr>
            <a:picLocks noChangeAspect="1"/>
          </p:cNvPicPr>
          <p:nvPr/>
        </p:nvPicPr>
        <p:blipFill>
          <a:blip r:embed="rId5"/>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3388590958"/>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592667" y="533400"/>
            <a:ext cx="10947400" cy="5689600"/>
          </a:xfrm>
          <a:prstGeom prst="rect">
            <a:avLst/>
          </a:prstGeom>
        </p:spPr>
      </p:pic>
    </p:spTree>
    <p:extLst>
      <p:ext uri="{BB962C8B-B14F-4D97-AF65-F5344CB8AC3E}">
        <p14:creationId xmlns:p14="http://schemas.microsoft.com/office/powerpoint/2010/main" val="2143317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7196667" y="1253067"/>
            <a:ext cx="4995334" cy="4318000"/>
          </a:xfrm>
          <a:prstGeom prst="rect">
            <a:avLst/>
          </a:prstGeom>
        </p:spPr>
      </p:pic>
      <p:sp>
        <p:nvSpPr>
          <p:cNvPr id="3" name="Rectangle 2"/>
          <p:cNvSpPr/>
          <p:nvPr/>
        </p:nvSpPr>
        <p:spPr>
          <a:xfrm>
            <a:off x="270933" y="1072417"/>
            <a:ext cx="6815666" cy="3693319"/>
          </a:xfrm>
          <a:prstGeom prst="rect">
            <a:avLst/>
          </a:prstGeom>
        </p:spPr>
        <p:txBody>
          <a:bodyPr wrap="square">
            <a:spAutoFit/>
          </a:bodyPr>
          <a:lstStyle/>
          <a:p>
            <a:pPr algn="just">
              <a:spcAft>
                <a:spcPts val="600"/>
              </a:spcAft>
              <a:defRPr/>
            </a:pPr>
            <a:r>
              <a:rPr lang="en-US" sz="3200" b="1" dirty="0">
                <a:latin typeface="Times New Roman" panose="02020603050405020304" pitchFamily="18" charset="0"/>
                <a:cs typeface="Times New Roman" panose="02020603050405020304" pitchFamily="18" charset="0"/>
              </a:rPr>
              <a:t>                  Modularization </a:t>
            </a:r>
          </a:p>
          <a:p>
            <a:pPr algn="just">
              <a:spcAft>
                <a:spcPts val="600"/>
              </a:spcAft>
              <a:defRPr/>
            </a:pPr>
            <a:r>
              <a:rPr lang="en-US" sz="3200" dirty="0">
                <a:latin typeface="Times New Roman" panose="02020603050405020304" pitchFamily="18" charset="0"/>
                <a:cs typeface="Times New Roman" panose="02020603050405020304" pitchFamily="18" charset="0"/>
              </a:rPr>
              <a:t>is a software design concept to </a:t>
            </a:r>
            <a:r>
              <a:rPr lang="en-US" sz="3200" b="1" dirty="0">
                <a:latin typeface="Times New Roman" panose="02020603050405020304" pitchFamily="18" charset="0"/>
                <a:cs typeface="Times New Roman" panose="02020603050405020304" pitchFamily="18" charset="0"/>
              </a:rPr>
              <a:t>divide the software into modules</a:t>
            </a:r>
            <a:r>
              <a:rPr lang="en-US" sz="3200" dirty="0">
                <a:latin typeface="Times New Roman" panose="02020603050405020304" pitchFamily="18" charset="0"/>
                <a:cs typeface="Times New Roman" panose="02020603050405020304" pitchFamily="18" charset="0"/>
              </a:rPr>
              <a:t>, it follow “</a:t>
            </a:r>
            <a:r>
              <a:rPr lang="en-US" sz="3200" b="1" dirty="0">
                <a:latin typeface="Times New Roman" panose="02020603050405020304" pitchFamily="18" charset="0"/>
                <a:cs typeface="Times New Roman" panose="02020603050405020304" pitchFamily="18" charset="0"/>
              </a:rPr>
              <a:t>divide an conquer</a:t>
            </a:r>
            <a:r>
              <a:rPr lang="en-US" sz="3200" dirty="0">
                <a:latin typeface="Times New Roman" panose="02020603050405020304" pitchFamily="18" charset="0"/>
                <a:cs typeface="Times New Roman" panose="02020603050405020304" pitchFamily="18" charset="0"/>
              </a:rPr>
              <a:t>” strategy.</a:t>
            </a:r>
          </a:p>
          <a:p>
            <a:pPr algn="just">
              <a:spcAft>
                <a:spcPts val="600"/>
              </a:spcAft>
              <a:defRPr/>
            </a:pPr>
            <a:r>
              <a:rPr lang="en-US" sz="3200" b="1" dirty="0" err="1">
                <a:latin typeface="Times New Roman" panose="02020603050405020304" pitchFamily="18" charset="0"/>
                <a:cs typeface="Times New Roman" panose="02020603050405020304" pitchFamily="18" charset="0"/>
              </a:rPr>
              <a:t>Advantage:</a:t>
            </a:r>
            <a:r>
              <a:rPr lang="en-US" sz="3200" dirty="0" err="1">
                <a:latin typeface="Times New Roman" panose="02020603050405020304" pitchFamily="18" charset="0"/>
                <a:cs typeface="Times New Roman" panose="02020603050405020304" pitchFamily="18" charset="0"/>
              </a:rPr>
              <a:t>it’s</a:t>
            </a:r>
            <a:r>
              <a:rPr lang="en-US" sz="3200" dirty="0">
                <a:latin typeface="Times New Roman" panose="02020603050405020304" pitchFamily="18" charset="0"/>
                <a:cs typeface="Times New Roman" panose="02020603050405020304" pitchFamily="18" charset="0"/>
              </a:rPr>
              <a:t> easier to solve complex problem when you break it into manageable pieces.</a:t>
            </a:r>
          </a:p>
        </p:txBody>
      </p:sp>
      <p:pic>
        <p:nvPicPr>
          <p:cNvPr id="4" name="Picture 3" descr="gitam_logo.png"/>
          <p:cNvPicPr>
            <a:picLocks noChangeAspect="1"/>
          </p:cNvPicPr>
          <p:nvPr/>
        </p:nvPicPr>
        <p:blipFill>
          <a:blip r:embed="rId4"/>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2600302229"/>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2579688" y="151872"/>
            <a:ext cx="6705600" cy="633412"/>
          </a:xfrm>
        </p:spPr>
        <p:txBody>
          <a:bodyPr>
            <a:normAutofit fontScale="90000"/>
          </a:bodyPr>
          <a:lstStyle/>
          <a:p>
            <a:pPr eaLnBrk="1" hangingPunct="1"/>
            <a:r>
              <a:rPr lang="en-US" altLang="en-US" b="1" dirty="0">
                <a:latin typeface="Times New Roman" panose="02020603050405020304" pitchFamily="18" charset="0"/>
                <a:cs typeface="Times New Roman" panose="02020603050405020304" pitchFamily="18" charset="0"/>
              </a:rPr>
              <a:t>Separation of Concerns</a:t>
            </a:r>
          </a:p>
        </p:txBody>
      </p:sp>
      <p:sp>
        <p:nvSpPr>
          <p:cNvPr id="21507" name="Rectangle 3"/>
          <p:cNvSpPr>
            <a:spLocks noGrp="1" noChangeArrowheads="1"/>
          </p:cNvSpPr>
          <p:nvPr>
            <p:ph idx="1"/>
          </p:nvPr>
        </p:nvSpPr>
        <p:spPr>
          <a:xfrm>
            <a:off x="338667" y="1125538"/>
            <a:ext cx="10987881" cy="4572000"/>
          </a:xfrm>
        </p:spPr>
        <p:txBody>
          <a:bodyPr>
            <a:normAutofit/>
          </a:bodyPr>
          <a:lstStyle/>
          <a:p>
            <a:pPr marL="205740" indent="-205740" algn="just">
              <a:spcBef>
                <a:spcPts val="1200"/>
              </a:spcBef>
              <a:buClr>
                <a:schemeClr val="accent1">
                  <a:lumMod val="75000"/>
                </a:schemeClr>
              </a:buClr>
              <a:buFont typeface="Wingdings 2"/>
              <a:buChar char=""/>
              <a:defRPr/>
            </a:pPr>
            <a:r>
              <a:rPr lang="en-US" altLang="en-US" dirty="0">
                <a:latin typeface="Times New Roman" panose="02020603050405020304" pitchFamily="18" charset="0"/>
                <a:cs typeface="Times New Roman" panose="02020603050405020304" pitchFamily="18" charset="0"/>
              </a:rPr>
              <a:t>Any complex problem can be more easily handled if it is subdivided into pieces that can each be solved and/or optimized independently</a:t>
            </a:r>
          </a:p>
          <a:p>
            <a:pPr marL="205740" indent="-205740" algn="just">
              <a:spcBef>
                <a:spcPts val="1200"/>
              </a:spcBef>
              <a:buClr>
                <a:schemeClr val="accent1">
                  <a:lumMod val="75000"/>
                </a:schemeClr>
              </a:buClr>
              <a:buFont typeface="Wingdings 2"/>
              <a:buChar char=""/>
              <a:defRPr/>
            </a:pPr>
            <a:r>
              <a:rPr lang="en-US" altLang="en-US" dirty="0">
                <a:latin typeface="Times New Roman" panose="02020603050405020304" pitchFamily="18" charset="0"/>
                <a:cs typeface="Times New Roman" panose="02020603050405020304" pitchFamily="18" charset="0"/>
              </a:rPr>
              <a:t>A </a:t>
            </a:r>
            <a:r>
              <a:rPr lang="en-US" altLang="en-US" i="1" dirty="0">
                <a:solidFill>
                  <a:schemeClr val="folHlink"/>
                </a:solidFill>
                <a:latin typeface="Times New Roman" panose="02020603050405020304" pitchFamily="18" charset="0"/>
                <a:cs typeface="Times New Roman" panose="02020603050405020304" pitchFamily="18" charset="0"/>
              </a:rPr>
              <a:t>concern</a:t>
            </a:r>
            <a:r>
              <a:rPr lang="en-US" altLang="en-US" dirty="0">
                <a:latin typeface="Times New Roman" panose="02020603050405020304" pitchFamily="18" charset="0"/>
                <a:cs typeface="Times New Roman" panose="02020603050405020304" pitchFamily="18" charset="0"/>
              </a:rPr>
              <a:t> is a feature or behavior that is specified as part of the requirements model for the software</a:t>
            </a:r>
          </a:p>
          <a:p>
            <a:pPr marL="205740" indent="-205740" algn="just">
              <a:spcBef>
                <a:spcPts val="1200"/>
              </a:spcBef>
              <a:buClr>
                <a:schemeClr val="accent1">
                  <a:lumMod val="75000"/>
                </a:schemeClr>
              </a:buClr>
              <a:buFont typeface="Wingdings 2"/>
              <a:buChar char=""/>
              <a:defRPr/>
            </a:pPr>
            <a:r>
              <a:rPr lang="en-US" altLang="en-US" dirty="0">
                <a:latin typeface="Times New Roman" panose="02020603050405020304" pitchFamily="18" charset="0"/>
                <a:cs typeface="Times New Roman" panose="02020603050405020304" pitchFamily="18" charset="0"/>
              </a:rPr>
              <a:t>By separating concerns into smaller, and therefore more manageable pieces, a problem takes less effort and time to solve.</a:t>
            </a:r>
          </a:p>
        </p:txBody>
      </p:sp>
      <p:sp>
        <p:nvSpPr>
          <p:cNvPr id="21508"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defRPr/>
            </a:pPr>
            <a:fld id="{031FCF54-4467-45B6-ADAE-8DB3F976FC5E}" type="slidenum">
              <a:rPr lang="en-US" altLang="en-US" sz="900">
                <a:solidFill>
                  <a:schemeClr val="accent2"/>
                </a:solidFill>
              </a:rPr>
              <a:pPr>
                <a:defRPr/>
              </a:pPr>
              <a:t>18</a:t>
            </a:fld>
            <a:endParaRPr lang="en-US" altLang="en-US" sz="900">
              <a:solidFill>
                <a:schemeClr val="accent2"/>
              </a:solidFill>
            </a:endParaRPr>
          </a:p>
        </p:txBody>
      </p:sp>
    </p:spTree>
    <p:extLst>
      <p:ext uri="{BB962C8B-B14F-4D97-AF65-F5344CB8AC3E}">
        <p14:creationId xmlns:p14="http://schemas.microsoft.com/office/powerpoint/2010/main" val="704509387"/>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pic>
        <p:nvPicPr>
          <p:cNvPr id="2" name="Content Placeholder 3"/>
          <p:cNvPicPr>
            <a:picLocks noChangeAspect="1"/>
          </p:cNvPicPr>
          <p:nvPr/>
        </p:nvPicPr>
        <p:blipFill>
          <a:blip r:embed="rId3" cstate="print">
            <a:grayscl/>
            <a:extLst>
              <a:ext uri="{28A0092B-C50C-407E-A947-70E740481C1C}">
                <a14:useLocalDpi xmlns:a14="http://schemas.microsoft.com/office/drawing/2010/main" val="0"/>
              </a:ext>
            </a:extLst>
          </a:blip>
          <a:stretch>
            <a:fillRect/>
          </a:stretch>
        </p:blipFill>
        <p:spPr>
          <a:xfrm>
            <a:off x="237068" y="905933"/>
            <a:ext cx="10888132" cy="5640011"/>
          </a:xfrm>
          <a:prstGeom prst="rect">
            <a:avLst/>
          </a:prstGeom>
        </p:spPr>
      </p:pic>
      <p:pic>
        <p:nvPicPr>
          <p:cNvPr id="3" name="Picture 2" descr="gitam_logo.png"/>
          <p:cNvPicPr>
            <a:picLocks noChangeAspect="1"/>
          </p:cNvPicPr>
          <p:nvPr/>
        </p:nvPicPr>
        <p:blipFill>
          <a:blip r:embed="rId4"/>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2046178928"/>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2" name="Rectangle 1"/>
          <p:cNvSpPr/>
          <p:nvPr/>
        </p:nvSpPr>
        <p:spPr>
          <a:xfrm>
            <a:off x="110067" y="46378"/>
            <a:ext cx="10744200" cy="4231928"/>
          </a:xfrm>
          <a:prstGeom prst="rect">
            <a:avLst/>
          </a:prstGeom>
        </p:spPr>
        <p:txBody>
          <a:bodyPr wrap="square">
            <a:spAutoFit/>
          </a:bodyPr>
          <a:lstStyle/>
          <a:p>
            <a:pPr algn="just">
              <a:spcAft>
                <a:spcPts val="600"/>
              </a:spcAft>
            </a:pPr>
            <a:r>
              <a:rPr lang="en-US" altLang="en-US" sz="2800" dirty="0">
                <a:ea typeface="宋体" panose="02010600030101010101" pitchFamily="2" charset="-122"/>
              </a:rPr>
              <a:t>                         </a:t>
            </a:r>
            <a:r>
              <a:rPr lang="en-US" altLang="en-US" sz="2800" b="1" dirty="0">
                <a:latin typeface="Times New Roman" panose="02020603050405020304" pitchFamily="18" charset="0"/>
                <a:ea typeface="宋体" panose="02010600030101010101" pitchFamily="2" charset="-122"/>
                <a:cs typeface="Times New Roman" panose="02020603050405020304" pitchFamily="18" charset="0"/>
              </a:rPr>
              <a:t>Information Hiding/Encapsulation </a:t>
            </a:r>
          </a:p>
          <a:p>
            <a:pPr algn="just">
              <a:spcAft>
                <a:spcPts val="600"/>
              </a:spcAft>
            </a:pPr>
            <a:r>
              <a:rPr lang="en-US" altLang="en-US" sz="2800" dirty="0">
                <a:latin typeface="Times New Roman" panose="02020603050405020304" pitchFamily="18" charset="0"/>
                <a:ea typeface="宋体" panose="02010600030101010101" pitchFamily="2" charset="-122"/>
                <a:cs typeface="Times New Roman" panose="02020603050405020304" pitchFamily="18" charset="0"/>
              </a:rPr>
              <a:t>Modules should be specified and designed so that information (algorithms and data) contained within a module is </a:t>
            </a:r>
            <a:r>
              <a:rPr lang="en-US" altLang="en-US" sz="2800" b="1" dirty="0">
                <a:latin typeface="Times New Roman" panose="02020603050405020304" pitchFamily="18" charset="0"/>
                <a:ea typeface="宋体" panose="02010600030101010101" pitchFamily="2" charset="-122"/>
                <a:cs typeface="Times New Roman" panose="02020603050405020304" pitchFamily="18" charset="0"/>
              </a:rPr>
              <a:t>inaccessible to other modules </a:t>
            </a:r>
            <a:r>
              <a:rPr lang="en-US" altLang="en-US" sz="2800" dirty="0">
                <a:latin typeface="Times New Roman" panose="02020603050405020304" pitchFamily="18" charset="0"/>
                <a:ea typeface="宋体" panose="02010600030101010101" pitchFamily="2" charset="-122"/>
                <a:cs typeface="Times New Roman" panose="02020603050405020304" pitchFamily="18" charset="0"/>
              </a:rPr>
              <a:t>that have no need for such information;</a:t>
            </a:r>
          </a:p>
          <a:p>
            <a:pPr algn="just">
              <a:spcAft>
                <a:spcPts val="600"/>
              </a:spcAft>
            </a:pPr>
            <a:r>
              <a:rPr lang="en-US" altLang="en-US" sz="2800" dirty="0">
                <a:latin typeface="Times New Roman" panose="02020603050405020304" pitchFamily="18" charset="0"/>
                <a:ea typeface="宋体" panose="02010600030101010101" pitchFamily="2" charset="-122"/>
                <a:cs typeface="Times New Roman" panose="02020603050405020304" pitchFamily="18" charset="0"/>
              </a:rPr>
              <a:t>Hiding defines and enforces access constraints to </a:t>
            </a:r>
            <a:r>
              <a:rPr lang="en-US" altLang="en-US" sz="2800" b="1" dirty="0">
                <a:latin typeface="Times New Roman" panose="02020603050405020304" pitchFamily="18" charset="0"/>
                <a:ea typeface="宋体" panose="02010600030101010101" pitchFamily="2" charset="-122"/>
                <a:cs typeface="Times New Roman" panose="02020603050405020304" pitchFamily="18" charset="0"/>
              </a:rPr>
              <a:t>procedural details and local data structures </a:t>
            </a:r>
            <a:r>
              <a:rPr lang="en-US" altLang="en-US" sz="2800" dirty="0">
                <a:latin typeface="Times New Roman" panose="02020603050405020304" pitchFamily="18" charset="0"/>
                <a:ea typeface="宋体" panose="02010600030101010101" pitchFamily="2" charset="-122"/>
                <a:cs typeface="Times New Roman" panose="02020603050405020304" pitchFamily="18" charset="0"/>
              </a:rPr>
              <a:t>used within a module.</a:t>
            </a:r>
          </a:p>
          <a:p>
            <a:pPr algn="just">
              <a:spcAft>
                <a:spcPts val="600"/>
              </a:spcAft>
            </a:pPr>
            <a:r>
              <a:rPr lang="en-US" altLang="en-US" sz="2800" b="1" dirty="0">
                <a:latin typeface="Times New Roman" panose="02020603050405020304" pitchFamily="18" charset="0"/>
                <a:ea typeface="宋体" panose="02010600030101010101" pitchFamily="2" charset="-122"/>
                <a:cs typeface="Times New Roman" panose="02020603050405020304" pitchFamily="18" charset="0"/>
              </a:rPr>
              <a:t>Advantage:</a:t>
            </a:r>
          </a:p>
          <a:p>
            <a:pPr lvl="1" algn="just">
              <a:spcAft>
                <a:spcPts val="600"/>
              </a:spcAft>
            </a:pPr>
            <a:r>
              <a:rPr lang="en-US" altLang="en-US" sz="2400" dirty="0">
                <a:latin typeface="Times New Roman" panose="02020603050405020304" pitchFamily="18" charset="0"/>
                <a:ea typeface="宋体" panose="02010600030101010101" pitchFamily="2" charset="-122"/>
                <a:cs typeface="Times New Roman" panose="02020603050405020304" pitchFamily="18" charset="0"/>
              </a:rPr>
              <a:t>Hiding prevents error propagation outside of a module.</a:t>
            </a:r>
          </a:p>
          <a:p>
            <a:pPr lvl="1" algn="just">
              <a:spcAft>
                <a:spcPts val="600"/>
              </a:spcAft>
            </a:pPr>
            <a:r>
              <a:rPr lang="en-US" altLang="en-US" sz="2400" dirty="0">
                <a:latin typeface="Times New Roman" panose="02020603050405020304" pitchFamily="18" charset="0"/>
                <a:ea typeface="宋体" panose="02010600030101010101" pitchFamily="2" charset="-122"/>
                <a:cs typeface="Times New Roman" panose="02020603050405020304" pitchFamily="18" charset="0"/>
              </a:rPr>
              <a:t>Security of data,algorithm</a:t>
            </a:r>
            <a:endParaRPr lang="lt-LT"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4534" y="2370667"/>
            <a:ext cx="4707466" cy="4487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descr="gitam_logo.png"/>
          <p:cNvPicPr>
            <a:picLocks noChangeAspect="1"/>
          </p:cNvPicPr>
          <p:nvPr/>
        </p:nvPicPr>
        <p:blipFill>
          <a:blip r:embed="rId4"/>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2000040455"/>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725488"/>
          </a:xfrm>
        </p:spPr>
        <p:txBody>
          <a:bodyPr rtlCol="0">
            <a:normAutofit fontScale="90000"/>
          </a:bodyPr>
          <a:lstStyle/>
          <a:p>
            <a:pPr>
              <a:defRPr/>
            </a:pPr>
            <a:r>
              <a:rPr lang="en-US" b="1" dirty="0">
                <a:latin typeface="Times New Roman" panose="02020603050405020304" pitchFamily="18" charset="0"/>
                <a:cs typeface="Times New Roman" panose="02020603050405020304" pitchFamily="18" charset="0"/>
              </a:rPr>
              <a:t>Functional independence</a:t>
            </a:r>
            <a:endParaRPr lang="lt-LT"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03201" y="804332"/>
            <a:ext cx="11192933" cy="5069417"/>
          </a:xfrm>
        </p:spPr>
        <p:txBody>
          <a:bodyPr rtlCol="0">
            <a:normAutofit/>
          </a:bodyPr>
          <a:lstStyle/>
          <a:p>
            <a:pPr algn="just">
              <a:spcAft>
                <a:spcPts val="600"/>
              </a:spcAft>
              <a:defRPr/>
            </a:pPr>
            <a:r>
              <a:rPr lang="en-US" sz="2800" dirty="0">
                <a:latin typeface="Times New Roman" panose="02020603050405020304" pitchFamily="18" charset="0"/>
                <a:cs typeface="Times New Roman" panose="02020603050405020304" pitchFamily="18" charset="0"/>
              </a:rPr>
              <a:t>Each module should address a specific sub function of requirements and have a simple interface.</a:t>
            </a:r>
          </a:p>
          <a:p>
            <a:pPr algn="just">
              <a:spcAft>
                <a:spcPts val="600"/>
              </a:spcAft>
              <a:defRPr/>
            </a:pPr>
            <a:r>
              <a:rPr lang="en-US" sz="2800" dirty="0">
                <a:latin typeface="Times New Roman" panose="02020603050405020304" pitchFamily="18" charset="0"/>
                <a:cs typeface="Times New Roman" panose="02020603050405020304" pitchFamily="18" charset="0"/>
              </a:rPr>
              <a:t>Functional independent modules are easier to develop, maintain, and test;</a:t>
            </a:r>
          </a:p>
          <a:p>
            <a:pPr algn="just">
              <a:spcAft>
                <a:spcPts val="600"/>
              </a:spcAft>
              <a:defRPr/>
            </a:pPr>
            <a:r>
              <a:rPr lang="en-US" sz="2800" dirty="0">
                <a:latin typeface="Times New Roman" panose="02020603050405020304" pitchFamily="18" charset="0"/>
                <a:cs typeface="Times New Roman" panose="02020603050405020304" pitchFamily="18" charset="0"/>
              </a:rPr>
              <a:t>Error propagation is reduced and reusable modules are possible;</a:t>
            </a:r>
          </a:p>
          <a:p>
            <a:pPr algn="just">
              <a:spcAft>
                <a:spcPts val="600"/>
              </a:spcAft>
              <a:defRPr/>
            </a:pPr>
            <a:r>
              <a:rPr lang="en-US" sz="2800" dirty="0">
                <a:latin typeface="Times New Roman" panose="02020603050405020304" pitchFamily="18" charset="0"/>
                <a:cs typeface="Times New Roman" panose="02020603050405020304" pitchFamily="18" charset="0"/>
              </a:rPr>
              <a:t>Assessed using two qualitative criteria:</a:t>
            </a:r>
          </a:p>
          <a:p>
            <a:pPr marL="1190625" indent="-457200" algn="just">
              <a:spcAft>
                <a:spcPts val="600"/>
              </a:spcAft>
              <a:buFont typeface="Courier New" panose="02070309020205020404" pitchFamily="49" charset="0"/>
              <a:buChar char="o"/>
              <a:defRPr/>
            </a:pPr>
            <a:r>
              <a:rPr lang="en-US" sz="2800" b="1" dirty="0">
                <a:latin typeface="Times New Roman" panose="02020603050405020304" pitchFamily="18" charset="0"/>
                <a:cs typeface="Times New Roman" panose="02020603050405020304" pitchFamily="18" charset="0"/>
              </a:rPr>
              <a:t>cohesion;</a:t>
            </a:r>
          </a:p>
          <a:p>
            <a:pPr marL="1190625" indent="-457200" algn="just">
              <a:spcAft>
                <a:spcPts val="600"/>
              </a:spcAft>
              <a:buFont typeface="Courier New" panose="02070309020205020404" pitchFamily="49" charset="0"/>
              <a:buChar char="o"/>
              <a:defRPr/>
            </a:pPr>
            <a:r>
              <a:rPr lang="en-US" sz="2800" b="1" dirty="0">
                <a:latin typeface="Times New Roman" panose="02020603050405020304" pitchFamily="18" charset="0"/>
                <a:cs typeface="Times New Roman" panose="02020603050405020304" pitchFamily="18" charset="0"/>
              </a:rPr>
              <a:t>coupling.</a:t>
            </a:r>
            <a:endParaRPr lang="lt-LT" sz="2800" b="1" dirty="0">
              <a:latin typeface="Times New Roman" panose="02020603050405020304" pitchFamily="18" charset="0"/>
              <a:cs typeface="Times New Roman" panose="02020603050405020304" pitchFamily="18" charset="0"/>
            </a:endParaRPr>
          </a:p>
        </p:txBody>
      </p:sp>
      <p:pic>
        <p:nvPicPr>
          <p:cNvPr id="4" name="Picture 3" descr="gitam_logo.png"/>
          <p:cNvPicPr>
            <a:picLocks noChangeAspect="1"/>
          </p:cNvPicPr>
          <p:nvPr/>
        </p:nvPicPr>
        <p:blipFill>
          <a:blip r:embed="rId3"/>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2177301941"/>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40267" y="0"/>
            <a:ext cx="8229600" cy="392112"/>
          </a:xfrm>
        </p:spPr>
        <p:txBody>
          <a:bodyPr rtlCol="0">
            <a:normAutofit fontScale="90000"/>
          </a:bodyPr>
          <a:lstStyle/>
          <a:p>
            <a:pPr>
              <a:defRPr/>
            </a:pPr>
            <a:r>
              <a:rPr lang="en-US" sz="3600" b="1" dirty="0">
                <a:latin typeface="Times New Roman" panose="02020603050405020304" pitchFamily="18" charset="0"/>
                <a:cs typeface="Times New Roman" panose="02020603050405020304" pitchFamily="18" charset="0"/>
              </a:rPr>
              <a:t>Cohesion &amp; Coupling</a:t>
            </a:r>
            <a:endParaRPr lang="en-US" sz="3600" dirty="0">
              <a:latin typeface="Times New Roman" panose="02020603050405020304" pitchFamily="18" charset="0"/>
              <a:cs typeface="Times New Roman" panose="02020603050405020304" pitchFamily="18" charset="0"/>
            </a:endParaRPr>
          </a:p>
        </p:txBody>
      </p:sp>
      <p:sp>
        <p:nvSpPr>
          <p:cNvPr id="46083" name="Content Placeholder 2"/>
          <p:cNvSpPr>
            <a:spLocks noGrp="1"/>
          </p:cNvSpPr>
          <p:nvPr>
            <p:ph idx="1"/>
          </p:nvPr>
        </p:nvSpPr>
        <p:spPr>
          <a:xfrm>
            <a:off x="110067" y="533400"/>
            <a:ext cx="8288866" cy="6019800"/>
          </a:xfrm>
        </p:spPr>
        <p:txBody>
          <a:bodyPr/>
          <a:lstStyle/>
          <a:p>
            <a:pPr algn="just" eaLnBrk="1" hangingPunct="1"/>
            <a:r>
              <a:rPr lang="en-US" altLang="en-US" sz="2000" b="1" dirty="0">
                <a:ea typeface="宋体" panose="02010600030101010101" pitchFamily="2" charset="-122"/>
              </a:rPr>
              <a:t>Cohesion:</a:t>
            </a:r>
          </a:p>
          <a:p>
            <a:pPr lvl="1" algn="just" eaLnBrk="1" hangingPunct="1"/>
            <a:r>
              <a:rPr lang="en-US" altLang="en-US" sz="2000" dirty="0">
                <a:ea typeface="宋体" panose="02010600030101010101" pitchFamily="2" charset="-122"/>
              </a:rPr>
              <a:t>It is a measure that defines the degree of intra-dependability within elements of module. The greater the cohesion, better is the program design. </a:t>
            </a:r>
          </a:p>
          <a:p>
            <a:pPr lvl="1" algn="just" eaLnBrk="1" hangingPunct="1"/>
            <a:r>
              <a:rPr lang="en-US" altLang="en-US" sz="2000" dirty="0">
                <a:ea typeface="宋体" panose="02010600030101010101" pitchFamily="2" charset="-122"/>
              </a:rPr>
              <a:t>Cohesion is an </a:t>
            </a:r>
            <a:r>
              <a:rPr lang="en-US" altLang="en-US" sz="2000" b="1" dirty="0">
                <a:ea typeface="宋体" panose="02010600030101010101" pitchFamily="2" charset="-122"/>
              </a:rPr>
              <a:t>intra-module dependency</a:t>
            </a:r>
            <a:r>
              <a:rPr lang="en-US" altLang="en-US" sz="2000" dirty="0">
                <a:ea typeface="宋体" panose="02010600030101010101" pitchFamily="2" charset="-122"/>
              </a:rPr>
              <a:t>. During design have to increase intra-module dependency.</a:t>
            </a:r>
          </a:p>
          <a:p>
            <a:pPr algn="just" eaLnBrk="1" hangingPunct="1"/>
            <a:r>
              <a:rPr lang="en-US" altLang="en-US" sz="2000" b="1" dirty="0">
                <a:ea typeface="宋体" panose="02010600030101010101" pitchFamily="2" charset="-122"/>
              </a:rPr>
              <a:t>Coupling</a:t>
            </a:r>
          </a:p>
          <a:p>
            <a:pPr lvl="1" algn="just" eaLnBrk="1" hangingPunct="1"/>
            <a:r>
              <a:rPr lang="en-US" altLang="en-US" sz="2000" dirty="0">
                <a:ea typeface="宋体" panose="02010600030101010101" pitchFamily="2" charset="-122"/>
              </a:rPr>
              <a:t>Coupling is an indication of interconnection/interdependency between modules in a structure of software.</a:t>
            </a:r>
          </a:p>
          <a:p>
            <a:pPr lvl="1" algn="just" eaLnBrk="1" hangingPunct="1"/>
            <a:r>
              <a:rPr lang="en-US" altLang="en-US" sz="2000" dirty="0">
                <a:ea typeface="宋体" panose="02010600030101010101" pitchFamily="2" charset="-122"/>
              </a:rPr>
              <a:t>Coupling is an </a:t>
            </a:r>
            <a:r>
              <a:rPr lang="en-US" altLang="en-US" sz="2000" b="1" dirty="0">
                <a:ea typeface="宋体" panose="02010600030101010101" pitchFamily="2" charset="-122"/>
              </a:rPr>
              <a:t>inter-Module dependency.</a:t>
            </a:r>
            <a:r>
              <a:rPr lang="en-US" altLang="en-US" sz="2000" dirty="0">
                <a:ea typeface="宋体" panose="02010600030101010101" pitchFamily="2" charset="-122"/>
              </a:rPr>
              <a:t> During design have to decrease inter-module dependency.</a:t>
            </a:r>
          </a:p>
          <a:p>
            <a:pPr lvl="1" algn="just" eaLnBrk="1" hangingPunct="1"/>
            <a:r>
              <a:rPr lang="en-US" altLang="en-US" sz="2000" b="1" dirty="0">
                <a:ea typeface="宋体" panose="02010600030101010101" pitchFamily="2" charset="-122"/>
              </a:rPr>
              <a:t>Example</a:t>
            </a:r>
            <a:r>
              <a:rPr lang="en-US" altLang="en-US" sz="2000" dirty="0">
                <a:ea typeface="宋体" panose="02010600030101010101" pitchFamily="2" charset="-122"/>
              </a:rPr>
              <a:t> 	</a:t>
            </a:r>
          </a:p>
          <a:p>
            <a:pPr lvl="2" algn="just" eaLnBrk="1" hangingPunct="1"/>
            <a:r>
              <a:rPr lang="en-US" altLang="en-US" sz="1800" dirty="0">
                <a:ea typeface="宋体" panose="02010600030101010101" pitchFamily="2" charset="-122"/>
              </a:rPr>
              <a:t>If two modules are strongly coupled are strongly dependent on each other.</a:t>
            </a:r>
          </a:p>
          <a:p>
            <a:pPr lvl="2" algn="just" eaLnBrk="1" hangingPunct="1"/>
            <a:r>
              <a:rPr lang="en-US" altLang="en-US" sz="1800" dirty="0">
                <a:ea typeface="宋体" panose="02010600030101010101" pitchFamily="2" charset="-122"/>
              </a:rPr>
              <a:t>On the other hand, two modules that are loosely coupled are not dependent on each other.</a:t>
            </a:r>
          </a:p>
        </p:txBody>
      </p:sp>
      <p:pic>
        <p:nvPicPr>
          <p:cNvPr id="4" name="Picture 3"/>
          <p:cNvPicPr>
            <a:picLocks noChangeAspect="1"/>
          </p:cNvPicPr>
          <p:nvPr/>
        </p:nvPicPr>
        <p:blipFill>
          <a:blip r:embed="rId3"/>
          <a:stretch>
            <a:fillRect/>
          </a:stretch>
        </p:blipFill>
        <p:spPr>
          <a:xfrm>
            <a:off x="8543108" y="65088"/>
            <a:ext cx="3648892" cy="5412845"/>
          </a:xfrm>
          <a:prstGeom prst="rect">
            <a:avLst/>
          </a:prstGeom>
        </p:spPr>
      </p:pic>
      <p:pic>
        <p:nvPicPr>
          <p:cNvPr id="5" name="Picture 4" descr="gitam_logo.png"/>
          <p:cNvPicPr>
            <a:picLocks noChangeAspect="1"/>
          </p:cNvPicPr>
          <p:nvPr/>
        </p:nvPicPr>
        <p:blipFill>
          <a:blip r:embed="rId4"/>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3898969479"/>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47106" name="Title 1"/>
          <p:cNvSpPr>
            <a:spLocks noGrp="1"/>
          </p:cNvSpPr>
          <p:nvPr>
            <p:ph type="title"/>
          </p:nvPr>
        </p:nvSpPr>
        <p:spPr>
          <a:xfrm>
            <a:off x="1981200" y="160339"/>
            <a:ext cx="8229600" cy="854075"/>
          </a:xfrm>
        </p:spPr>
        <p:txBody>
          <a:bodyPr/>
          <a:lstStyle/>
          <a:p>
            <a:r>
              <a:rPr lang="en-US" altLang="en-US" sz="4000" b="1" dirty="0">
                <a:latin typeface="Times New Roman" panose="02020603050405020304" pitchFamily="18" charset="0"/>
                <a:ea typeface="宋体" panose="02010600030101010101" pitchFamily="2" charset="-122"/>
                <a:cs typeface="Times New Roman" panose="02020603050405020304" pitchFamily="18" charset="0"/>
              </a:rPr>
              <a:t>Cohesion vs Coupling</a:t>
            </a:r>
            <a:endParaRPr lang="en-IN" altLang="en-US" sz="40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7107" name="Content Placeholder 2"/>
          <p:cNvSpPr>
            <a:spLocks noGrp="1"/>
          </p:cNvSpPr>
          <p:nvPr>
            <p:ph idx="1"/>
          </p:nvPr>
        </p:nvSpPr>
        <p:spPr/>
        <p:txBody>
          <a:bodyPr/>
          <a:lstStyle/>
          <a:p>
            <a:endParaRPr lang="en-IN" altLang="en-US" dirty="0">
              <a:ea typeface="宋体" panose="02010600030101010101" pitchFamily="2" charset="-122"/>
            </a:endParaRPr>
          </a:p>
        </p:txBody>
      </p:sp>
      <p:pic>
        <p:nvPicPr>
          <p:cNvPr id="4710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199" y="1014414"/>
            <a:ext cx="10549467" cy="538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gitam_logo.png"/>
          <p:cNvPicPr>
            <a:picLocks noChangeAspect="1"/>
          </p:cNvPicPr>
          <p:nvPr/>
        </p:nvPicPr>
        <p:blipFill>
          <a:blip r:embed="rId4"/>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3655988523"/>
      </p:ext>
    </p:extLst>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rtlCol="0" anchor="ctr"/>
          <a:lstStyle/>
          <a:p>
            <a:pPr marL="0" indent="0" algn="l">
              <a:buNone/>
            </a:pPr>
            <a:r>
              <a:rPr lang="en-US" sz="1250" b="1" kern="0" spc="200" dirty="0">
                <a:solidFill>
                  <a:srgbClr val="0E8F8F"/>
                </a:solidFill>
                <a:latin typeface="Calibri" pitchFamily="34" charset="0"/>
                <a:ea typeface="Calibri" pitchFamily="34" charset="-122"/>
                <a:cs typeface="Calibri" pitchFamily="34" charset="-120"/>
              </a:rPr>
              <a:t>COHESION &amp; COUPLING</a:t>
            </a:r>
            <a:endParaRPr lang="en-US" sz="1250" dirty="0"/>
          </a:p>
        </p:txBody>
      </p:sp>
      <p:sp>
        <p:nvSpPr>
          <p:cNvPr id="3" name="Text 1"/>
          <p:cNvSpPr/>
          <p:nvPr/>
        </p:nvSpPr>
        <p:spPr>
          <a:xfrm>
            <a:off x="548640" y="658368"/>
            <a:ext cx="10881360" cy="822960"/>
          </a:xfrm>
          <a:prstGeom prst="rect">
            <a:avLst/>
          </a:prstGeom>
          <a:noFill/>
          <a:ln/>
        </p:spPr>
        <p:txBody>
          <a:bodyPr wrap="square" rtlCol="0" anchor="t"/>
          <a:lstStyle/>
          <a:p>
            <a:pPr marL="0" indent="0" algn="l">
              <a:buNone/>
            </a:pPr>
            <a:r>
              <a:rPr lang="en-US" sz="3100" b="1" dirty="0">
                <a:solidFill>
                  <a:srgbClr val="13294B"/>
                </a:solidFill>
                <a:latin typeface="Cambria" pitchFamily="34" charset="0"/>
                <a:ea typeface="Cambria" pitchFamily="34" charset="-122"/>
                <a:cs typeface="Cambria" pitchFamily="34" charset="-120"/>
              </a:rPr>
              <a:t>The design goal: high cohesion, low coupling</a:t>
            </a:r>
            <a:endParaRPr lang="en-US" sz="3100" dirty="0"/>
          </a:p>
        </p:txBody>
      </p:sp>
      <p:sp>
        <p:nvSpPr>
          <p:cNvPr id="6" name="Text 4"/>
          <p:cNvSpPr/>
          <p:nvPr/>
        </p:nvSpPr>
        <p:spPr>
          <a:xfrm>
            <a:off x="11292840" y="6382512"/>
            <a:ext cx="502920" cy="329184"/>
          </a:xfrm>
          <a:prstGeom prst="rect">
            <a:avLst/>
          </a:prstGeom>
          <a:noFill/>
          <a:ln/>
        </p:spPr>
        <p:txBody>
          <a:bodyPr wrap="square" rtlCol="0" anchor="ctr"/>
          <a:lstStyle/>
          <a:p>
            <a:pPr marL="0" indent="0" algn="r">
              <a:buNone/>
            </a:pPr>
            <a:r>
              <a:rPr lang="en-US" sz="1100" b="1" dirty="0">
                <a:solidFill>
                  <a:srgbClr val="35618E"/>
                </a:solidFill>
                <a:latin typeface="Calibri" pitchFamily="34" charset="0"/>
                <a:ea typeface="Calibri" pitchFamily="34" charset="-122"/>
                <a:cs typeface="Calibri" pitchFamily="34" charset="-120"/>
              </a:rPr>
              <a:t>14</a:t>
            </a:r>
            <a:endParaRPr lang="en-US" sz="1100" dirty="0"/>
          </a:p>
        </p:txBody>
      </p:sp>
      <p:sp>
        <p:nvSpPr>
          <p:cNvPr id="7" name="Shape 5"/>
          <p:cNvSpPr/>
          <p:nvPr/>
        </p:nvSpPr>
        <p:spPr>
          <a:xfrm>
            <a:off x="566928" y="1481328"/>
            <a:ext cx="5349240" cy="3364992"/>
          </a:xfrm>
          <a:prstGeom prst="roundRect">
            <a:avLst>
              <a:gd name="adj" fmla="val 3810"/>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txBody>
          <a:bodyPr/>
          <a:lstStyle/>
          <a:p>
            <a:endParaRPr lang="en-IN"/>
          </a:p>
        </p:txBody>
      </p:sp>
      <p:sp>
        <p:nvSpPr>
          <p:cNvPr id="8" name="Text 6"/>
          <p:cNvSpPr/>
          <p:nvPr/>
        </p:nvSpPr>
        <p:spPr>
          <a:xfrm>
            <a:off x="841248" y="2139696"/>
            <a:ext cx="4846320" cy="365760"/>
          </a:xfrm>
          <a:prstGeom prst="rect">
            <a:avLst/>
          </a:prstGeom>
          <a:noFill/>
          <a:ln/>
        </p:spPr>
        <p:txBody>
          <a:bodyPr wrap="square" lIns="0" tIns="0" rIns="0" bIns="0" rtlCol="0" anchor="t"/>
          <a:lstStyle/>
          <a:p>
            <a:pPr marL="0" indent="0" algn="l">
              <a:lnSpc>
                <a:spcPct val="100000"/>
              </a:lnSpc>
              <a:buNone/>
            </a:pPr>
            <a:r>
              <a:rPr lang="en-US" sz="1500" b="1" dirty="0">
                <a:solidFill>
                  <a:srgbClr val="D9542B"/>
                </a:solidFill>
                <a:latin typeface="Cambria" pitchFamily="34" charset="0"/>
                <a:ea typeface="Cambria" pitchFamily="34" charset="-122"/>
                <a:cs typeface="Cambria" pitchFamily="34" charset="-120"/>
              </a:rPr>
              <a:t>Poor design — low cohesion, high coupling</a:t>
            </a:r>
            <a:endParaRPr lang="en-US" sz="1500" dirty="0"/>
          </a:p>
        </p:txBody>
      </p:sp>
      <p:sp>
        <p:nvSpPr>
          <p:cNvPr id="9" name="Shape 7"/>
          <p:cNvSpPr/>
          <p:nvPr/>
        </p:nvSpPr>
        <p:spPr>
          <a:xfrm>
            <a:off x="1892808" y="3246120"/>
            <a:ext cx="822960" cy="640080"/>
          </a:xfrm>
          <a:prstGeom prst="line">
            <a:avLst/>
          </a:prstGeom>
          <a:noFill/>
          <a:ln w="38100">
            <a:solidFill>
              <a:srgbClr val="D9542B"/>
            </a:solidFill>
            <a:prstDash val="solid"/>
          </a:ln>
        </p:spPr>
      </p:sp>
      <p:sp>
        <p:nvSpPr>
          <p:cNvPr id="10" name="Shape 8"/>
          <p:cNvSpPr/>
          <p:nvPr/>
        </p:nvSpPr>
        <p:spPr>
          <a:xfrm flipV="1">
            <a:off x="3538728" y="3447288"/>
            <a:ext cx="1188720" cy="438912"/>
          </a:xfrm>
          <a:prstGeom prst="line">
            <a:avLst/>
          </a:prstGeom>
          <a:noFill/>
          <a:ln w="38100">
            <a:solidFill>
              <a:srgbClr val="D9542B"/>
            </a:solidFill>
            <a:prstDash val="solid"/>
          </a:ln>
        </p:spPr>
      </p:sp>
      <p:sp>
        <p:nvSpPr>
          <p:cNvPr id="11" name="Shape 9"/>
          <p:cNvSpPr/>
          <p:nvPr/>
        </p:nvSpPr>
        <p:spPr>
          <a:xfrm>
            <a:off x="1892808" y="3429000"/>
            <a:ext cx="2377440" cy="45720"/>
          </a:xfrm>
          <a:prstGeom prst="line">
            <a:avLst/>
          </a:prstGeom>
          <a:noFill/>
          <a:ln w="38100">
            <a:solidFill>
              <a:srgbClr val="D9542B"/>
            </a:solidFill>
            <a:prstDash val="dash"/>
          </a:ln>
        </p:spPr>
      </p:sp>
      <p:sp>
        <p:nvSpPr>
          <p:cNvPr id="12" name="Shape 10"/>
          <p:cNvSpPr/>
          <p:nvPr/>
        </p:nvSpPr>
        <p:spPr>
          <a:xfrm>
            <a:off x="1069848" y="2926080"/>
            <a:ext cx="868680" cy="658368"/>
          </a:xfrm>
          <a:prstGeom prst="roundRect">
            <a:avLst>
              <a:gd name="adj" fmla="val 11111"/>
            </a:avLst>
          </a:prstGeom>
          <a:solidFill>
            <a:srgbClr val="FBE7DF"/>
          </a:solidFill>
          <a:ln w="17780">
            <a:solidFill>
              <a:srgbClr val="D9542B"/>
            </a:solidFill>
            <a:prstDash val="solid"/>
          </a:ln>
        </p:spPr>
      </p:sp>
      <p:sp>
        <p:nvSpPr>
          <p:cNvPr id="13" name="Text 11"/>
          <p:cNvSpPr/>
          <p:nvPr/>
        </p:nvSpPr>
        <p:spPr>
          <a:xfrm>
            <a:off x="1069848" y="2926080"/>
            <a:ext cx="868680" cy="658368"/>
          </a:xfrm>
          <a:prstGeom prst="rect">
            <a:avLst/>
          </a:prstGeom>
          <a:noFill/>
          <a:ln/>
        </p:spPr>
        <p:txBody>
          <a:bodyPr wrap="square" lIns="0" tIns="0" rIns="0" bIns="0" rtlCol="0" anchor="ctr"/>
          <a:lstStyle/>
          <a:p>
            <a:pPr marL="0" indent="0" algn="ctr">
              <a:lnSpc>
                <a:spcPct val="100000"/>
              </a:lnSpc>
              <a:buNone/>
            </a:pPr>
            <a:r>
              <a:rPr lang="en-US" sz="1300" b="1" dirty="0">
                <a:solidFill>
                  <a:srgbClr val="D9542B"/>
                </a:solidFill>
                <a:latin typeface="Calibri" pitchFamily="34" charset="0"/>
                <a:ea typeface="Calibri" pitchFamily="34" charset="-122"/>
                <a:cs typeface="Calibri" pitchFamily="34" charset="-120"/>
              </a:rPr>
              <a:t>M1</a:t>
            </a:r>
            <a:endParaRPr lang="en-US" sz="1300" dirty="0"/>
          </a:p>
        </p:txBody>
      </p:sp>
      <p:sp>
        <p:nvSpPr>
          <p:cNvPr id="14" name="Shape 12"/>
          <p:cNvSpPr/>
          <p:nvPr/>
        </p:nvSpPr>
        <p:spPr>
          <a:xfrm>
            <a:off x="2715768" y="3566160"/>
            <a:ext cx="868680" cy="658368"/>
          </a:xfrm>
          <a:prstGeom prst="roundRect">
            <a:avLst>
              <a:gd name="adj" fmla="val 11111"/>
            </a:avLst>
          </a:prstGeom>
          <a:solidFill>
            <a:srgbClr val="FBE7DF"/>
          </a:solidFill>
          <a:ln w="17780">
            <a:solidFill>
              <a:srgbClr val="D9542B"/>
            </a:solidFill>
            <a:prstDash val="solid"/>
          </a:ln>
        </p:spPr>
      </p:sp>
      <p:sp>
        <p:nvSpPr>
          <p:cNvPr id="15" name="Text 13"/>
          <p:cNvSpPr/>
          <p:nvPr/>
        </p:nvSpPr>
        <p:spPr>
          <a:xfrm>
            <a:off x="2715768" y="3566160"/>
            <a:ext cx="868680" cy="658368"/>
          </a:xfrm>
          <a:prstGeom prst="rect">
            <a:avLst/>
          </a:prstGeom>
          <a:noFill/>
          <a:ln/>
        </p:spPr>
        <p:txBody>
          <a:bodyPr wrap="square" lIns="0" tIns="0" rIns="0" bIns="0" rtlCol="0" anchor="ctr"/>
          <a:lstStyle/>
          <a:p>
            <a:pPr marL="0" indent="0" algn="ctr">
              <a:lnSpc>
                <a:spcPct val="100000"/>
              </a:lnSpc>
              <a:buNone/>
            </a:pPr>
            <a:r>
              <a:rPr lang="en-US" sz="1300" b="1" dirty="0">
                <a:solidFill>
                  <a:srgbClr val="D9542B"/>
                </a:solidFill>
                <a:latin typeface="Calibri" pitchFamily="34" charset="0"/>
                <a:ea typeface="Calibri" pitchFamily="34" charset="-122"/>
                <a:cs typeface="Calibri" pitchFamily="34" charset="-120"/>
              </a:rPr>
              <a:t>M2</a:t>
            </a:r>
            <a:endParaRPr lang="en-US" sz="1300" dirty="0"/>
          </a:p>
        </p:txBody>
      </p:sp>
      <p:sp>
        <p:nvSpPr>
          <p:cNvPr id="16" name="Shape 14"/>
          <p:cNvSpPr/>
          <p:nvPr/>
        </p:nvSpPr>
        <p:spPr>
          <a:xfrm>
            <a:off x="4270248" y="2788920"/>
            <a:ext cx="868680" cy="658368"/>
          </a:xfrm>
          <a:prstGeom prst="roundRect">
            <a:avLst>
              <a:gd name="adj" fmla="val 11111"/>
            </a:avLst>
          </a:prstGeom>
          <a:solidFill>
            <a:srgbClr val="FBE7DF"/>
          </a:solidFill>
          <a:ln w="17780">
            <a:solidFill>
              <a:srgbClr val="D9542B"/>
            </a:solidFill>
            <a:prstDash val="solid"/>
          </a:ln>
        </p:spPr>
      </p:sp>
      <p:sp>
        <p:nvSpPr>
          <p:cNvPr id="17" name="Text 15"/>
          <p:cNvSpPr/>
          <p:nvPr/>
        </p:nvSpPr>
        <p:spPr>
          <a:xfrm>
            <a:off x="4270248" y="2788920"/>
            <a:ext cx="868680" cy="658368"/>
          </a:xfrm>
          <a:prstGeom prst="rect">
            <a:avLst/>
          </a:prstGeom>
          <a:noFill/>
          <a:ln/>
        </p:spPr>
        <p:txBody>
          <a:bodyPr wrap="square" lIns="0" tIns="0" rIns="0" bIns="0" rtlCol="0" anchor="ctr"/>
          <a:lstStyle/>
          <a:p>
            <a:pPr marL="0" indent="0" algn="ctr">
              <a:lnSpc>
                <a:spcPct val="100000"/>
              </a:lnSpc>
              <a:buNone/>
            </a:pPr>
            <a:r>
              <a:rPr lang="en-US" sz="1300" b="1" dirty="0">
                <a:solidFill>
                  <a:srgbClr val="D9542B"/>
                </a:solidFill>
                <a:latin typeface="Calibri" pitchFamily="34" charset="0"/>
                <a:ea typeface="Calibri" pitchFamily="34" charset="-122"/>
                <a:cs typeface="Calibri" pitchFamily="34" charset="-120"/>
              </a:rPr>
              <a:t>M3</a:t>
            </a:r>
            <a:endParaRPr lang="en-US" sz="1300" dirty="0"/>
          </a:p>
        </p:txBody>
      </p:sp>
      <p:sp>
        <p:nvSpPr>
          <p:cNvPr id="18" name="Shape 16"/>
          <p:cNvSpPr/>
          <p:nvPr/>
        </p:nvSpPr>
        <p:spPr>
          <a:xfrm>
            <a:off x="6281928" y="1435608"/>
            <a:ext cx="5349240" cy="3410712"/>
          </a:xfrm>
          <a:prstGeom prst="roundRect">
            <a:avLst>
              <a:gd name="adj" fmla="val 3810"/>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txBody>
          <a:bodyPr/>
          <a:lstStyle/>
          <a:p>
            <a:endParaRPr lang="en-IN"/>
          </a:p>
        </p:txBody>
      </p:sp>
      <p:sp>
        <p:nvSpPr>
          <p:cNvPr id="19" name="Text 17"/>
          <p:cNvSpPr/>
          <p:nvPr/>
        </p:nvSpPr>
        <p:spPr>
          <a:xfrm>
            <a:off x="6556248" y="2139696"/>
            <a:ext cx="4846320" cy="365760"/>
          </a:xfrm>
          <a:prstGeom prst="rect">
            <a:avLst/>
          </a:prstGeom>
          <a:noFill/>
          <a:ln/>
        </p:spPr>
        <p:txBody>
          <a:bodyPr wrap="square" lIns="0" tIns="0" rIns="0" bIns="0" rtlCol="0" anchor="t"/>
          <a:lstStyle/>
          <a:p>
            <a:pPr marL="0" indent="0" algn="l">
              <a:lnSpc>
                <a:spcPct val="100000"/>
              </a:lnSpc>
              <a:buNone/>
            </a:pPr>
            <a:r>
              <a:rPr lang="en-US" sz="1500" b="1" dirty="0">
                <a:solidFill>
                  <a:srgbClr val="2E8B57"/>
                </a:solidFill>
                <a:latin typeface="Cambria" pitchFamily="34" charset="0"/>
                <a:ea typeface="Cambria" pitchFamily="34" charset="-122"/>
                <a:cs typeface="Cambria" pitchFamily="34" charset="-120"/>
              </a:rPr>
              <a:t>Good design — high cohesion, low coupling</a:t>
            </a:r>
            <a:endParaRPr lang="en-US" sz="1500" dirty="0"/>
          </a:p>
        </p:txBody>
      </p:sp>
      <p:sp>
        <p:nvSpPr>
          <p:cNvPr id="20" name="Shape 18"/>
          <p:cNvSpPr/>
          <p:nvPr/>
        </p:nvSpPr>
        <p:spPr>
          <a:xfrm>
            <a:off x="7607808" y="3246120"/>
            <a:ext cx="822960" cy="640080"/>
          </a:xfrm>
          <a:prstGeom prst="line">
            <a:avLst/>
          </a:prstGeom>
          <a:noFill/>
          <a:ln w="12700">
            <a:solidFill>
              <a:srgbClr val="E1E8F1"/>
            </a:solidFill>
            <a:prstDash val="solid"/>
          </a:ln>
        </p:spPr>
      </p:sp>
      <p:sp>
        <p:nvSpPr>
          <p:cNvPr id="21" name="Shape 19"/>
          <p:cNvSpPr/>
          <p:nvPr/>
        </p:nvSpPr>
        <p:spPr>
          <a:xfrm flipV="1">
            <a:off x="9253728" y="3429000"/>
            <a:ext cx="1045464" cy="457200"/>
          </a:xfrm>
          <a:prstGeom prst="line">
            <a:avLst/>
          </a:prstGeom>
          <a:noFill/>
          <a:ln w="12700">
            <a:solidFill>
              <a:srgbClr val="E1E8F1"/>
            </a:solidFill>
            <a:prstDash val="solid"/>
          </a:ln>
        </p:spPr>
      </p:sp>
      <p:sp>
        <p:nvSpPr>
          <p:cNvPr id="22" name="Shape 20"/>
          <p:cNvSpPr/>
          <p:nvPr/>
        </p:nvSpPr>
        <p:spPr>
          <a:xfrm>
            <a:off x="6784848" y="2926080"/>
            <a:ext cx="868680" cy="658368"/>
          </a:xfrm>
          <a:prstGeom prst="roundRect">
            <a:avLst>
              <a:gd name="adj" fmla="val 11111"/>
            </a:avLst>
          </a:prstGeom>
          <a:solidFill>
            <a:srgbClr val="E1F1F1"/>
          </a:solidFill>
          <a:ln w="17780">
            <a:solidFill>
              <a:srgbClr val="0E8F8F"/>
            </a:solidFill>
            <a:prstDash val="solid"/>
          </a:ln>
        </p:spPr>
      </p:sp>
      <p:sp>
        <p:nvSpPr>
          <p:cNvPr id="23" name="Text 21"/>
          <p:cNvSpPr/>
          <p:nvPr/>
        </p:nvSpPr>
        <p:spPr>
          <a:xfrm>
            <a:off x="6784848" y="2926080"/>
            <a:ext cx="868680" cy="658368"/>
          </a:xfrm>
          <a:prstGeom prst="rect">
            <a:avLst/>
          </a:prstGeom>
          <a:noFill/>
          <a:ln/>
        </p:spPr>
        <p:txBody>
          <a:bodyPr wrap="square" lIns="0" tIns="0" rIns="0" bIns="0" rtlCol="0" anchor="ctr"/>
          <a:lstStyle/>
          <a:p>
            <a:pPr marL="0" indent="0" algn="ctr">
              <a:lnSpc>
                <a:spcPct val="100000"/>
              </a:lnSpc>
              <a:buNone/>
            </a:pPr>
            <a:r>
              <a:rPr lang="en-US" sz="1300" b="1" dirty="0">
                <a:solidFill>
                  <a:srgbClr val="0E8F8F"/>
                </a:solidFill>
                <a:latin typeface="Calibri" pitchFamily="34" charset="0"/>
                <a:ea typeface="Calibri" pitchFamily="34" charset="-122"/>
                <a:cs typeface="Calibri" pitchFamily="34" charset="-120"/>
              </a:rPr>
              <a:t>M1</a:t>
            </a:r>
            <a:endParaRPr lang="en-US" sz="1300" dirty="0"/>
          </a:p>
        </p:txBody>
      </p:sp>
      <p:sp>
        <p:nvSpPr>
          <p:cNvPr id="24" name="Shape 22"/>
          <p:cNvSpPr/>
          <p:nvPr/>
        </p:nvSpPr>
        <p:spPr>
          <a:xfrm>
            <a:off x="8430768" y="3566160"/>
            <a:ext cx="868680" cy="658368"/>
          </a:xfrm>
          <a:prstGeom prst="roundRect">
            <a:avLst>
              <a:gd name="adj" fmla="val 11111"/>
            </a:avLst>
          </a:prstGeom>
          <a:solidFill>
            <a:srgbClr val="E1F1F1"/>
          </a:solidFill>
          <a:ln w="17780">
            <a:solidFill>
              <a:srgbClr val="0E8F8F"/>
            </a:solidFill>
            <a:prstDash val="solid"/>
          </a:ln>
        </p:spPr>
      </p:sp>
      <p:sp>
        <p:nvSpPr>
          <p:cNvPr id="25" name="Text 23"/>
          <p:cNvSpPr/>
          <p:nvPr/>
        </p:nvSpPr>
        <p:spPr>
          <a:xfrm>
            <a:off x="8430768" y="3566160"/>
            <a:ext cx="868680" cy="658368"/>
          </a:xfrm>
          <a:prstGeom prst="rect">
            <a:avLst/>
          </a:prstGeom>
          <a:noFill/>
          <a:ln/>
        </p:spPr>
        <p:txBody>
          <a:bodyPr wrap="square" lIns="0" tIns="0" rIns="0" bIns="0" rtlCol="0" anchor="ctr"/>
          <a:lstStyle/>
          <a:p>
            <a:pPr marL="0" indent="0" algn="ctr">
              <a:lnSpc>
                <a:spcPct val="100000"/>
              </a:lnSpc>
              <a:buNone/>
            </a:pPr>
            <a:r>
              <a:rPr lang="en-US" sz="1300" b="1" dirty="0">
                <a:solidFill>
                  <a:srgbClr val="0E8F8F"/>
                </a:solidFill>
                <a:latin typeface="Calibri" pitchFamily="34" charset="0"/>
                <a:ea typeface="Calibri" pitchFamily="34" charset="-122"/>
                <a:cs typeface="Calibri" pitchFamily="34" charset="-120"/>
              </a:rPr>
              <a:t>M2</a:t>
            </a:r>
            <a:endParaRPr lang="en-US" sz="1300" dirty="0"/>
          </a:p>
        </p:txBody>
      </p:sp>
      <p:sp>
        <p:nvSpPr>
          <p:cNvPr id="26" name="Shape 24"/>
          <p:cNvSpPr/>
          <p:nvPr/>
        </p:nvSpPr>
        <p:spPr>
          <a:xfrm>
            <a:off x="9985248" y="2788920"/>
            <a:ext cx="868680" cy="658368"/>
          </a:xfrm>
          <a:prstGeom prst="roundRect">
            <a:avLst>
              <a:gd name="adj" fmla="val 11111"/>
            </a:avLst>
          </a:prstGeom>
          <a:solidFill>
            <a:srgbClr val="E1F1F1"/>
          </a:solidFill>
          <a:ln w="17780">
            <a:solidFill>
              <a:srgbClr val="0E8F8F"/>
            </a:solidFill>
            <a:prstDash val="solid"/>
          </a:ln>
        </p:spPr>
      </p:sp>
      <p:sp>
        <p:nvSpPr>
          <p:cNvPr id="27" name="Text 25"/>
          <p:cNvSpPr/>
          <p:nvPr/>
        </p:nvSpPr>
        <p:spPr>
          <a:xfrm>
            <a:off x="9985248" y="2788920"/>
            <a:ext cx="868680" cy="658368"/>
          </a:xfrm>
          <a:prstGeom prst="rect">
            <a:avLst/>
          </a:prstGeom>
          <a:noFill/>
          <a:ln/>
        </p:spPr>
        <p:txBody>
          <a:bodyPr wrap="square" lIns="0" tIns="0" rIns="0" bIns="0" rtlCol="0" anchor="ctr"/>
          <a:lstStyle/>
          <a:p>
            <a:pPr marL="0" indent="0" algn="ctr">
              <a:lnSpc>
                <a:spcPct val="100000"/>
              </a:lnSpc>
              <a:buNone/>
            </a:pPr>
            <a:r>
              <a:rPr lang="en-US" sz="1300" b="1" dirty="0">
                <a:solidFill>
                  <a:srgbClr val="0E8F8F"/>
                </a:solidFill>
                <a:latin typeface="Calibri" pitchFamily="34" charset="0"/>
                <a:ea typeface="Calibri" pitchFamily="34" charset="-122"/>
                <a:cs typeface="Calibri" pitchFamily="34" charset="-120"/>
              </a:rPr>
              <a:t>M3</a:t>
            </a:r>
            <a:endParaRPr lang="en-US" sz="1300" dirty="0"/>
          </a:p>
        </p:txBody>
      </p:sp>
      <p:sp>
        <p:nvSpPr>
          <p:cNvPr id="28" name="Text 26"/>
          <p:cNvSpPr/>
          <p:nvPr/>
        </p:nvSpPr>
        <p:spPr>
          <a:xfrm>
            <a:off x="566928" y="4983480"/>
            <a:ext cx="5349240" cy="365760"/>
          </a:xfrm>
          <a:prstGeom prst="rect">
            <a:avLst/>
          </a:prstGeom>
          <a:noFill/>
          <a:ln/>
        </p:spPr>
        <p:txBody>
          <a:bodyPr wrap="square" lIns="0" tIns="0" rIns="0" bIns="0" rtlCol="0" anchor="t"/>
          <a:lstStyle/>
          <a:p>
            <a:pPr marL="0" indent="0" algn="ctr">
              <a:lnSpc>
                <a:spcPct val="100000"/>
              </a:lnSpc>
              <a:buNone/>
            </a:pPr>
            <a:r>
              <a:rPr lang="en-US" sz="1180" b="1" dirty="0">
                <a:solidFill>
                  <a:srgbClr val="D9542B"/>
                </a:solidFill>
                <a:latin typeface="Calibri" pitchFamily="34" charset="0"/>
                <a:ea typeface="Calibri" pitchFamily="34" charset="-122"/>
                <a:cs typeface="Calibri" pitchFamily="34" charset="-120"/>
              </a:rPr>
              <a:t>✕  Tangled internals, many heavy links → fragile &amp; hard to change</a:t>
            </a:r>
            <a:endParaRPr lang="en-US" sz="1180" dirty="0"/>
          </a:p>
        </p:txBody>
      </p:sp>
      <p:sp>
        <p:nvSpPr>
          <p:cNvPr id="29" name="Text 27"/>
          <p:cNvSpPr/>
          <p:nvPr/>
        </p:nvSpPr>
        <p:spPr>
          <a:xfrm>
            <a:off x="6281928" y="4983480"/>
            <a:ext cx="5349240" cy="365760"/>
          </a:xfrm>
          <a:prstGeom prst="rect">
            <a:avLst/>
          </a:prstGeom>
          <a:noFill/>
          <a:ln/>
        </p:spPr>
        <p:txBody>
          <a:bodyPr wrap="square" lIns="0" tIns="0" rIns="0" bIns="0" rtlCol="0" anchor="t"/>
          <a:lstStyle/>
          <a:p>
            <a:pPr marL="0" indent="0" algn="ctr">
              <a:lnSpc>
                <a:spcPct val="100000"/>
              </a:lnSpc>
              <a:buNone/>
            </a:pPr>
            <a:r>
              <a:rPr lang="en-US" sz="1180" b="1" dirty="0">
                <a:solidFill>
                  <a:srgbClr val="2E8B57"/>
                </a:solidFill>
                <a:latin typeface="Calibri" pitchFamily="34" charset="0"/>
                <a:ea typeface="Calibri" pitchFamily="34" charset="-122"/>
                <a:cs typeface="Calibri" pitchFamily="34" charset="-120"/>
              </a:rPr>
              <a:t>✓  Focused modules, few clean links → robust &amp; maintainable</a:t>
            </a:r>
            <a:endParaRPr lang="en-US" sz="1180" dirty="0"/>
          </a:p>
        </p:txBody>
      </p:sp>
      <p:sp>
        <p:nvSpPr>
          <p:cNvPr id="30" name="Shape 28"/>
          <p:cNvSpPr/>
          <p:nvPr/>
        </p:nvSpPr>
        <p:spPr>
          <a:xfrm>
            <a:off x="566928" y="5486400"/>
            <a:ext cx="11064240" cy="658368"/>
          </a:xfrm>
          <a:prstGeom prst="roundRect">
            <a:avLst>
              <a:gd name="adj" fmla="val 13889"/>
            </a:avLst>
          </a:prstGeom>
          <a:solidFill>
            <a:srgbClr val="13294B"/>
          </a:solidFill>
          <a:ln/>
          <a:effectLst>
            <a:outerShdw blurRad="1524" dist="889" dir="5400000" algn="bl" rotWithShape="0">
              <a:srgbClr val="1B3A5F">
                <a:alpha val="18000"/>
              </a:srgbClr>
            </a:outerShdw>
          </a:effectLst>
        </p:spPr>
      </p:sp>
      <p:sp>
        <p:nvSpPr>
          <p:cNvPr id="31" name="Text 29"/>
          <p:cNvSpPr/>
          <p:nvPr/>
        </p:nvSpPr>
        <p:spPr>
          <a:xfrm>
            <a:off x="822960" y="5486400"/>
            <a:ext cx="10607040" cy="658368"/>
          </a:xfrm>
          <a:prstGeom prst="rect">
            <a:avLst/>
          </a:prstGeom>
          <a:noFill/>
          <a:ln/>
        </p:spPr>
        <p:txBody>
          <a:bodyPr wrap="square" lIns="0" tIns="0" rIns="0" bIns="0" rtlCol="0" anchor="ctr"/>
          <a:lstStyle/>
          <a:p>
            <a:pPr marL="0" indent="0" algn="l">
              <a:lnSpc>
                <a:spcPct val="100000"/>
              </a:lnSpc>
              <a:buNone/>
            </a:pPr>
            <a:r>
              <a:rPr lang="en-US" sz="1350" b="1" dirty="0">
                <a:solidFill>
                  <a:srgbClr val="FFFFFF"/>
                </a:solidFill>
                <a:latin typeface="Calibri" pitchFamily="34" charset="0"/>
                <a:ea typeface="Calibri" pitchFamily="34" charset="-122"/>
                <a:cs typeface="Calibri" pitchFamily="34" charset="-120"/>
              </a:rPr>
              <a:t>Rule of thumb:  maximise cohesion within modules, minimise coupling between them — this is the essence of functional independence.</a:t>
            </a:r>
            <a:endParaRPr lang="en-US" sz="1350" dirty="0"/>
          </a:p>
        </p:txBody>
      </p:sp>
    </p:spTree>
    <p:extLst>
      <p:ext uri="{BB962C8B-B14F-4D97-AF65-F5344CB8AC3E}">
        <p14:creationId xmlns:p14="http://schemas.microsoft.com/office/powerpoint/2010/main" val="3450469234"/>
      </p:ext>
    </p:extLst>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3" name="Text 1"/>
          <p:cNvSpPr/>
          <p:nvPr/>
        </p:nvSpPr>
        <p:spPr>
          <a:xfrm>
            <a:off x="548640" y="658368"/>
            <a:ext cx="10881360" cy="822960"/>
          </a:xfrm>
          <a:prstGeom prst="rect">
            <a:avLst/>
          </a:prstGeom>
          <a:noFill/>
          <a:ln/>
        </p:spPr>
        <p:txBody>
          <a:bodyPr wrap="square" rtlCol="0" anchor="t"/>
          <a:lstStyle/>
          <a:p>
            <a:pPr marL="0" indent="0" algn="l">
              <a:buNone/>
            </a:pPr>
            <a:r>
              <a:rPr lang="en-US" sz="3100" b="1" dirty="0">
                <a:solidFill>
                  <a:srgbClr val="13294B"/>
                </a:solidFill>
                <a:latin typeface="Cambria" pitchFamily="34" charset="0"/>
                <a:ea typeface="Cambria" pitchFamily="34" charset="-122"/>
                <a:cs typeface="Cambria" pitchFamily="34" charset="-120"/>
              </a:rPr>
              <a:t>Cohesion — the single-mindedness of a module</a:t>
            </a:r>
            <a:endParaRPr lang="en-US" sz="3100" dirty="0"/>
          </a:p>
        </p:txBody>
      </p:sp>
      <p:sp>
        <p:nvSpPr>
          <p:cNvPr id="6" name="Text 4"/>
          <p:cNvSpPr/>
          <p:nvPr/>
        </p:nvSpPr>
        <p:spPr>
          <a:xfrm>
            <a:off x="11292840" y="6382512"/>
            <a:ext cx="502920" cy="329184"/>
          </a:xfrm>
          <a:prstGeom prst="rect">
            <a:avLst/>
          </a:prstGeom>
          <a:noFill/>
          <a:ln/>
        </p:spPr>
        <p:txBody>
          <a:bodyPr wrap="square" rtlCol="0" anchor="ctr"/>
          <a:lstStyle/>
          <a:p>
            <a:pPr marL="0" indent="0" algn="r">
              <a:buNone/>
            </a:pPr>
            <a:r>
              <a:rPr lang="en-US" sz="1100" b="1" dirty="0">
                <a:solidFill>
                  <a:srgbClr val="35618E"/>
                </a:solidFill>
                <a:latin typeface="Calibri" pitchFamily="34" charset="0"/>
                <a:ea typeface="Calibri" pitchFamily="34" charset="-122"/>
                <a:cs typeface="Calibri" pitchFamily="34" charset="-120"/>
              </a:rPr>
              <a:t>10</a:t>
            </a:r>
            <a:endParaRPr lang="en-US" sz="1100" dirty="0"/>
          </a:p>
        </p:txBody>
      </p:sp>
      <p:sp>
        <p:nvSpPr>
          <p:cNvPr id="7" name="Shape 5"/>
          <p:cNvSpPr/>
          <p:nvPr/>
        </p:nvSpPr>
        <p:spPr>
          <a:xfrm>
            <a:off x="566928" y="1691640"/>
            <a:ext cx="11064240" cy="1234440"/>
          </a:xfrm>
          <a:prstGeom prst="roundRect">
            <a:avLst>
              <a:gd name="adj" fmla="val 8889"/>
            </a:avLst>
          </a:prstGeom>
          <a:solidFill>
            <a:srgbClr val="13294B"/>
          </a:solidFill>
          <a:ln/>
          <a:effectLst>
            <a:outerShdw blurRad="1524" dist="889" dir="5400000" algn="bl" rotWithShape="0">
              <a:srgbClr val="1B3A5F">
                <a:alpha val="18000"/>
              </a:srgbClr>
            </a:outerShdw>
          </a:effectLst>
        </p:spPr>
        <p:txBody>
          <a:bodyPr/>
          <a:lstStyle/>
          <a:p>
            <a:endParaRPr lang="en-IN"/>
          </a:p>
        </p:txBody>
      </p:sp>
      <p:sp>
        <p:nvSpPr>
          <p:cNvPr id="8" name="Shape 6"/>
          <p:cNvSpPr/>
          <p:nvPr/>
        </p:nvSpPr>
        <p:spPr>
          <a:xfrm>
            <a:off x="822960" y="1938528"/>
            <a:ext cx="731520" cy="731520"/>
          </a:xfrm>
          <a:prstGeom prst="ellipse">
            <a:avLst/>
          </a:prstGeom>
          <a:solidFill>
            <a:srgbClr val="0E8F8F"/>
          </a:solidFill>
          <a:ln/>
          <a:effectLst>
            <a:outerShdw blurRad="1270" dist="635" dir="5400000" algn="bl" rotWithShape="0">
              <a:srgbClr val="1B3A5F">
                <a:alpha val="25000"/>
              </a:srgbClr>
            </a:outerShdw>
          </a:effectLst>
        </p:spPr>
      </p:sp>
      <p:pic>
        <p:nvPicPr>
          <p:cNvPr id="9" name="Image 0" descr="/home/claude/deck/icons/cohesion.png"/>
          <p:cNvPicPr>
            <a:picLocks noChangeAspect="1"/>
          </p:cNvPicPr>
          <p:nvPr/>
        </p:nvPicPr>
        <p:blipFill>
          <a:blip r:embed="rId4"/>
          <a:stretch>
            <a:fillRect/>
          </a:stretch>
        </p:blipFill>
        <p:spPr>
          <a:xfrm>
            <a:off x="1013155" y="2128723"/>
            <a:ext cx="351130" cy="351130"/>
          </a:xfrm>
          <a:prstGeom prst="rect">
            <a:avLst/>
          </a:prstGeom>
        </p:spPr>
      </p:pic>
      <p:sp>
        <p:nvSpPr>
          <p:cNvPr id="10" name="Text 7"/>
          <p:cNvSpPr/>
          <p:nvPr/>
        </p:nvSpPr>
        <p:spPr>
          <a:xfrm>
            <a:off x="1783080" y="1874520"/>
            <a:ext cx="9509760" cy="457200"/>
          </a:xfrm>
          <a:prstGeom prst="rect">
            <a:avLst/>
          </a:prstGeom>
          <a:noFill/>
          <a:ln/>
        </p:spPr>
        <p:txBody>
          <a:bodyPr wrap="square" lIns="0" tIns="0" rIns="0" bIns="0" rtlCol="0" anchor="t"/>
          <a:lstStyle/>
          <a:p>
            <a:pPr marL="0" indent="0" algn="l">
              <a:lnSpc>
                <a:spcPct val="100000"/>
              </a:lnSpc>
              <a:buNone/>
            </a:pPr>
            <a:r>
              <a:rPr lang="en-US" sz="1650" b="1" dirty="0">
                <a:solidFill>
                  <a:srgbClr val="FFFFFF"/>
                </a:solidFill>
                <a:latin typeface="Cambria" pitchFamily="34" charset="0"/>
                <a:ea typeface="Cambria" pitchFamily="34" charset="-122"/>
                <a:cs typeface="Cambria" pitchFamily="34" charset="-120"/>
              </a:rPr>
              <a:t>Cohesion measures how strongly the elements within a single module belong together.</a:t>
            </a:r>
            <a:endParaRPr lang="en-US" sz="1650" dirty="0"/>
          </a:p>
        </p:txBody>
      </p:sp>
      <p:sp>
        <p:nvSpPr>
          <p:cNvPr id="11" name="Text 8"/>
          <p:cNvSpPr/>
          <p:nvPr/>
        </p:nvSpPr>
        <p:spPr>
          <a:xfrm>
            <a:off x="1783080" y="2286000"/>
            <a:ext cx="9509760" cy="548640"/>
          </a:xfrm>
          <a:prstGeom prst="rect">
            <a:avLst/>
          </a:prstGeom>
          <a:noFill/>
          <a:ln/>
        </p:spPr>
        <p:txBody>
          <a:bodyPr wrap="square" lIns="0" tIns="0" rIns="0" bIns="0" rtlCol="0" anchor="t"/>
          <a:lstStyle/>
          <a:p>
            <a:pPr marL="0" indent="0" algn="l">
              <a:lnSpc>
                <a:spcPct val="110000"/>
              </a:lnSpc>
              <a:buNone/>
            </a:pPr>
            <a:r>
              <a:rPr lang="en-US" sz="1300" dirty="0">
                <a:solidFill>
                  <a:srgbClr val="C6D2E6"/>
                </a:solidFill>
                <a:latin typeface="Calibri" pitchFamily="34" charset="0"/>
                <a:ea typeface="Calibri" pitchFamily="34" charset="-122"/>
                <a:cs typeface="Calibri" pitchFamily="34" charset="-120"/>
              </a:rPr>
              <a:t>A highly cohesive module performs one — and only one — well-defined task. Its statements, data and operations all contribute to that single purpose.</a:t>
            </a:r>
            <a:endParaRPr lang="en-US" sz="1300" dirty="0"/>
          </a:p>
        </p:txBody>
      </p:sp>
      <p:sp>
        <p:nvSpPr>
          <p:cNvPr id="12" name="Shape 9"/>
          <p:cNvSpPr/>
          <p:nvPr/>
        </p:nvSpPr>
        <p:spPr>
          <a:xfrm>
            <a:off x="566928" y="3200400"/>
            <a:ext cx="5468112" cy="2834640"/>
          </a:xfrm>
          <a:prstGeom prst="roundRect">
            <a:avLst>
              <a:gd name="adj" fmla="val 3871"/>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txBody>
          <a:bodyPr/>
          <a:lstStyle/>
          <a:p>
            <a:endParaRPr lang="en-IN"/>
          </a:p>
        </p:txBody>
      </p:sp>
      <p:sp>
        <p:nvSpPr>
          <p:cNvPr id="13" name="Shape 10"/>
          <p:cNvSpPr/>
          <p:nvPr/>
        </p:nvSpPr>
        <p:spPr>
          <a:xfrm>
            <a:off x="804672" y="3419856"/>
            <a:ext cx="603504" cy="603504"/>
          </a:xfrm>
          <a:prstGeom prst="ellipse">
            <a:avLst/>
          </a:prstGeom>
          <a:solidFill>
            <a:srgbClr val="2E8B57"/>
          </a:solidFill>
          <a:ln/>
          <a:effectLst>
            <a:outerShdw blurRad="1270" dist="635" dir="5400000" algn="bl" rotWithShape="0">
              <a:srgbClr val="1B3A5F">
                <a:alpha val="25000"/>
              </a:srgbClr>
            </a:outerShdw>
          </a:effectLst>
        </p:spPr>
      </p:sp>
      <p:pic>
        <p:nvPicPr>
          <p:cNvPr id="14" name="Image 1" descr="/home/claude/deck/icons/star.png"/>
          <p:cNvPicPr>
            <a:picLocks noChangeAspect="1"/>
          </p:cNvPicPr>
          <p:nvPr/>
        </p:nvPicPr>
        <p:blipFill>
          <a:blip r:embed="rId5"/>
          <a:stretch>
            <a:fillRect/>
          </a:stretch>
        </p:blipFill>
        <p:spPr>
          <a:xfrm>
            <a:off x="961583" y="3576767"/>
            <a:ext cx="289682" cy="289682"/>
          </a:xfrm>
          <a:prstGeom prst="rect">
            <a:avLst/>
          </a:prstGeom>
        </p:spPr>
      </p:pic>
      <p:sp>
        <p:nvSpPr>
          <p:cNvPr id="15" name="Text 11"/>
          <p:cNvSpPr/>
          <p:nvPr/>
        </p:nvSpPr>
        <p:spPr>
          <a:xfrm>
            <a:off x="1536192" y="3493008"/>
            <a:ext cx="4297680" cy="457200"/>
          </a:xfrm>
          <a:prstGeom prst="rect">
            <a:avLst/>
          </a:prstGeom>
          <a:noFill/>
          <a:ln/>
        </p:spPr>
        <p:txBody>
          <a:bodyPr wrap="square" lIns="0" tIns="0" rIns="0" bIns="0" rtlCol="0" anchor="t"/>
          <a:lstStyle/>
          <a:p>
            <a:pPr marL="0" indent="0" algn="l">
              <a:lnSpc>
                <a:spcPct val="100000"/>
              </a:lnSpc>
              <a:buNone/>
            </a:pPr>
            <a:r>
              <a:rPr lang="en-US" sz="1500" b="1" dirty="0">
                <a:solidFill>
                  <a:srgbClr val="13294B"/>
                </a:solidFill>
                <a:latin typeface="Cambria" pitchFamily="34" charset="0"/>
                <a:ea typeface="Cambria" pitchFamily="34" charset="-122"/>
                <a:cs typeface="Cambria" pitchFamily="34" charset="-120"/>
              </a:rPr>
              <a:t>Why high cohesion helps</a:t>
            </a:r>
            <a:endParaRPr lang="en-US" sz="1500" dirty="0"/>
          </a:p>
        </p:txBody>
      </p:sp>
      <p:sp>
        <p:nvSpPr>
          <p:cNvPr id="16" name="Text 12"/>
          <p:cNvSpPr/>
          <p:nvPr/>
        </p:nvSpPr>
        <p:spPr>
          <a:xfrm>
            <a:off x="859536" y="4206240"/>
            <a:ext cx="4937760" cy="1737360"/>
          </a:xfrm>
          <a:prstGeom prst="rect">
            <a:avLst/>
          </a:prstGeom>
          <a:noFill/>
          <a:ln/>
        </p:spPr>
        <p:txBody>
          <a:bodyPr wrap="square" lIns="0" tIns="0" rIns="0" bIns="0" rtlCol="0" anchor="t"/>
          <a:lstStyle/>
          <a:p>
            <a:pPr marL="177800" indent="-177800" algn="l">
              <a:spcAft>
                <a:spcPts val="700"/>
              </a:spcAft>
              <a:buSzPct val="100000"/>
              <a:buChar char="•"/>
            </a:pPr>
            <a:r>
              <a:rPr lang="en-US" sz="1280" dirty="0">
                <a:solidFill>
                  <a:srgbClr val="1B3A5F"/>
                </a:solidFill>
                <a:latin typeface="Calibri" pitchFamily="34" charset="0"/>
                <a:ea typeface="Calibri" pitchFamily="34" charset="-122"/>
                <a:cs typeface="Calibri" pitchFamily="34" charset="-120"/>
              </a:rPr>
              <a:t>Easier to understand — one clear purpose per module</a:t>
            </a:r>
            <a:endParaRPr lang="en-US" sz="1280" dirty="0"/>
          </a:p>
          <a:p>
            <a:pPr marL="177800" indent="-177800" algn="l">
              <a:spcAft>
                <a:spcPts val="700"/>
              </a:spcAft>
              <a:buSzPct val="100000"/>
              <a:buChar char="•"/>
            </a:pPr>
            <a:r>
              <a:rPr lang="en-US" sz="1280" dirty="0">
                <a:solidFill>
                  <a:srgbClr val="1B3A5F"/>
                </a:solidFill>
                <a:latin typeface="Calibri" pitchFamily="34" charset="0"/>
                <a:ea typeface="Calibri" pitchFamily="34" charset="-122"/>
                <a:cs typeface="Calibri" pitchFamily="34" charset="-120"/>
              </a:rPr>
              <a:t>Easier to reuse — a focused module drops into new contexts</a:t>
            </a:r>
            <a:endParaRPr lang="en-US" sz="1280" dirty="0"/>
          </a:p>
          <a:p>
            <a:pPr marL="177800" indent="-177800" algn="l">
              <a:spcAft>
                <a:spcPts val="700"/>
              </a:spcAft>
              <a:buSzPct val="100000"/>
              <a:buChar char="•"/>
            </a:pPr>
            <a:r>
              <a:rPr lang="en-US" sz="1280" dirty="0">
                <a:solidFill>
                  <a:srgbClr val="1B3A5F"/>
                </a:solidFill>
                <a:latin typeface="Calibri" pitchFamily="34" charset="0"/>
                <a:ea typeface="Calibri" pitchFamily="34" charset="-122"/>
                <a:cs typeface="Calibri" pitchFamily="34" charset="-120"/>
              </a:rPr>
              <a:t>Easier to maintain — changes stay localised</a:t>
            </a:r>
            <a:endParaRPr lang="en-US" sz="1280" dirty="0"/>
          </a:p>
          <a:p>
            <a:pPr marL="177800" indent="-177800" algn="l">
              <a:spcAft>
                <a:spcPts val="700"/>
              </a:spcAft>
              <a:buSzPct val="100000"/>
              <a:buChar char="•"/>
            </a:pPr>
            <a:r>
              <a:rPr lang="en-US" sz="1280" dirty="0">
                <a:solidFill>
                  <a:srgbClr val="1B3A5F"/>
                </a:solidFill>
                <a:latin typeface="Calibri" pitchFamily="34" charset="0"/>
                <a:ea typeface="Calibri" pitchFamily="34" charset="-122"/>
                <a:cs typeface="Calibri" pitchFamily="34" charset="-120"/>
              </a:rPr>
              <a:t>Fewer ripple effects and side-effects when editing</a:t>
            </a:r>
            <a:endParaRPr lang="en-US" sz="1280" dirty="0"/>
          </a:p>
        </p:txBody>
      </p:sp>
      <p:sp>
        <p:nvSpPr>
          <p:cNvPr id="17" name="Shape 13"/>
          <p:cNvSpPr/>
          <p:nvPr/>
        </p:nvSpPr>
        <p:spPr>
          <a:xfrm>
            <a:off x="6181344" y="3200400"/>
            <a:ext cx="5468112" cy="2834640"/>
          </a:xfrm>
          <a:prstGeom prst="roundRect">
            <a:avLst>
              <a:gd name="adj" fmla="val 3871"/>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sp>
      <p:sp>
        <p:nvSpPr>
          <p:cNvPr id="18" name="Shape 14"/>
          <p:cNvSpPr/>
          <p:nvPr/>
        </p:nvSpPr>
        <p:spPr>
          <a:xfrm>
            <a:off x="6419088" y="3419856"/>
            <a:ext cx="603504" cy="603504"/>
          </a:xfrm>
          <a:prstGeom prst="ellipse">
            <a:avLst/>
          </a:prstGeom>
          <a:solidFill>
            <a:srgbClr val="D9542B"/>
          </a:solidFill>
          <a:ln/>
          <a:effectLst>
            <a:outerShdw blurRad="1270" dist="635" dir="5400000" algn="bl" rotWithShape="0">
              <a:srgbClr val="1B3A5F">
                <a:alpha val="25000"/>
              </a:srgbClr>
            </a:outerShdw>
          </a:effectLst>
        </p:spPr>
      </p:sp>
      <p:pic>
        <p:nvPicPr>
          <p:cNvPr id="19" name="Image 2" descr="/home/claude/deck/icons/warning.png"/>
          <p:cNvPicPr>
            <a:picLocks noChangeAspect="1"/>
          </p:cNvPicPr>
          <p:nvPr/>
        </p:nvPicPr>
        <p:blipFill>
          <a:blip r:embed="rId6"/>
          <a:stretch>
            <a:fillRect/>
          </a:stretch>
        </p:blipFill>
        <p:spPr>
          <a:xfrm>
            <a:off x="6575999" y="3576767"/>
            <a:ext cx="289682" cy="289682"/>
          </a:xfrm>
          <a:prstGeom prst="rect">
            <a:avLst/>
          </a:prstGeom>
        </p:spPr>
      </p:pic>
      <p:sp>
        <p:nvSpPr>
          <p:cNvPr id="20" name="Text 15"/>
          <p:cNvSpPr/>
          <p:nvPr/>
        </p:nvSpPr>
        <p:spPr>
          <a:xfrm>
            <a:off x="7150608" y="3493008"/>
            <a:ext cx="4297680" cy="457200"/>
          </a:xfrm>
          <a:prstGeom prst="rect">
            <a:avLst/>
          </a:prstGeom>
          <a:noFill/>
          <a:ln/>
        </p:spPr>
        <p:txBody>
          <a:bodyPr wrap="square" lIns="0" tIns="0" rIns="0" bIns="0" rtlCol="0" anchor="t"/>
          <a:lstStyle/>
          <a:p>
            <a:pPr marL="0" indent="0" algn="l">
              <a:lnSpc>
                <a:spcPct val="100000"/>
              </a:lnSpc>
              <a:buNone/>
            </a:pPr>
            <a:r>
              <a:rPr lang="en-US" sz="1500" b="1" dirty="0">
                <a:solidFill>
                  <a:srgbClr val="13294B"/>
                </a:solidFill>
                <a:latin typeface="Cambria" pitchFamily="34" charset="0"/>
                <a:ea typeface="Cambria" pitchFamily="34" charset="-122"/>
                <a:cs typeface="Cambria" pitchFamily="34" charset="-120"/>
              </a:rPr>
              <a:t>Symptoms of low cohesion</a:t>
            </a:r>
            <a:endParaRPr lang="en-US" sz="1500" dirty="0"/>
          </a:p>
        </p:txBody>
      </p:sp>
      <p:sp>
        <p:nvSpPr>
          <p:cNvPr id="21" name="Text 16"/>
          <p:cNvSpPr/>
          <p:nvPr/>
        </p:nvSpPr>
        <p:spPr>
          <a:xfrm>
            <a:off x="6473952" y="4206240"/>
            <a:ext cx="4937760" cy="1737360"/>
          </a:xfrm>
          <a:prstGeom prst="rect">
            <a:avLst/>
          </a:prstGeom>
          <a:noFill/>
          <a:ln/>
        </p:spPr>
        <p:txBody>
          <a:bodyPr wrap="square" lIns="0" tIns="0" rIns="0" bIns="0" rtlCol="0" anchor="t"/>
          <a:lstStyle/>
          <a:p>
            <a:pPr marL="177800" indent="-177800" algn="l">
              <a:spcAft>
                <a:spcPts val="700"/>
              </a:spcAft>
              <a:buSzPct val="100000"/>
              <a:buChar char="•"/>
            </a:pPr>
            <a:r>
              <a:rPr lang="en-US" sz="1280" dirty="0">
                <a:solidFill>
                  <a:srgbClr val="1B3A5F"/>
                </a:solidFill>
                <a:latin typeface="Calibri" pitchFamily="34" charset="0"/>
                <a:ea typeface="Calibri" pitchFamily="34" charset="-122"/>
                <a:cs typeface="Calibri" pitchFamily="34" charset="-120"/>
              </a:rPr>
              <a:t>A module that does "a bit of everything"</a:t>
            </a:r>
            <a:endParaRPr lang="en-US" sz="1280" dirty="0"/>
          </a:p>
          <a:p>
            <a:pPr marL="177800" indent="-177800" algn="l">
              <a:spcAft>
                <a:spcPts val="700"/>
              </a:spcAft>
              <a:buSzPct val="100000"/>
              <a:buChar char="•"/>
            </a:pPr>
            <a:r>
              <a:rPr lang="en-US" sz="1280" dirty="0">
                <a:solidFill>
                  <a:srgbClr val="1B3A5F"/>
                </a:solidFill>
                <a:latin typeface="Calibri" pitchFamily="34" charset="0"/>
                <a:ea typeface="Calibri" pitchFamily="34" charset="-122"/>
                <a:cs typeface="Calibri" pitchFamily="34" charset="-120"/>
              </a:rPr>
              <a:t>Names like process(), handleAll(), doStuff()</a:t>
            </a:r>
            <a:endParaRPr lang="en-US" sz="1280" dirty="0"/>
          </a:p>
          <a:p>
            <a:pPr marL="177800" indent="-177800" algn="l">
              <a:spcAft>
                <a:spcPts val="700"/>
              </a:spcAft>
              <a:buSzPct val="100000"/>
              <a:buChar char="•"/>
            </a:pPr>
            <a:r>
              <a:rPr lang="en-US" sz="1280" dirty="0">
                <a:solidFill>
                  <a:srgbClr val="1B3A5F"/>
                </a:solidFill>
                <a:latin typeface="Calibri" pitchFamily="34" charset="0"/>
                <a:ea typeface="Calibri" pitchFamily="34" charset="-122"/>
                <a:cs typeface="Calibri" pitchFamily="34" charset="-120"/>
              </a:rPr>
              <a:t>Elements grouped only by timing or control flags</a:t>
            </a:r>
            <a:endParaRPr lang="en-US" sz="1280" dirty="0"/>
          </a:p>
          <a:p>
            <a:pPr marL="177800" indent="-177800" algn="l">
              <a:spcAft>
                <a:spcPts val="700"/>
              </a:spcAft>
              <a:buSzPct val="100000"/>
              <a:buChar char="•"/>
            </a:pPr>
            <a:r>
              <a:rPr lang="en-US" sz="1280" dirty="0">
                <a:solidFill>
                  <a:srgbClr val="1B3A5F"/>
                </a:solidFill>
                <a:latin typeface="Calibri" pitchFamily="34" charset="0"/>
                <a:ea typeface="Calibri" pitchFamily="34" charset="-122"/>
                <a:cs typeface="Calibri" pitchFamily="34" charset="-120"/>
              </a:rPr>
              <a:t>Hard to describe what the module does in one sentence</a:t>
            </a:r>
            <a:endParaRPr lang="en-US" sz="1280" dirty="0"/>
          </a:p>
        </p:txBody>
      </p:sp>
      <p:pic>
        <p:nvPicPr>
          <p:cNvPr id="22" name="Picture 21" descr="gitam_logo.png"/>
          <p:cNvPicPr>
            <a:picLocks noChangeAspect="1"/>
          </p:cNvPicPr>
          <p:nvPr/>
        </p:nvPicPr>
        <p:blipFill>
          <a:blip r:embed="rId7"/>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3323777093"/>
      </p:ext>
    </p:extLst>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3" name="Text 1"/>
          <p:cNvSpPr/>
          <p:nvPr/>
        </p:nvSpPr>
        <p:spPr>
          <a:xfrm>
            <a:off x="713232" y="192024"/>
            <a:ext cx="10881360" cy="822960"/>
          </a:xfrm>
          <a:prstGeom prst="rect">
            <a:avLst/>
          </a:prstGeom>
          <a:noFill/>
          <a:ln/>
        </p:spPr>
        <p:txBody>
          <a:bodyPr wrap="square" rtlCol="0" anchor="t"/>
          <a:lstStyle/>
          <a:p>
            <a:pPr marL="0" indent="0" algn="l">
              <a:buNone/>
            </a:pPr>
            <a:r>
              <a:rPr lang="en-US" sz="3100" b="1" dirty="0">
                <a:solidFill>
                  <a:srgbClr val="13294B"/>
                </a:solidFill>
                <a:latin typeface="Cambria" pitchFamily="34" charset="0"/>
                <a:ea typeface="Cambria" pitchFamily="34" charset="-122"/>
                <a:cs typeface="Cambria" pitchFamily="34" charset="-120"/>
              </a:rPr>
              <a:t>Classification of cohesion — 7 levels</a:t>
            </a:r>
            <a:endParaRPr lang="en-US" sz="3100" dirty="0"/>
          </a:p>
        </p:txBody>
      </p:sp>
      <p:sp>
        <p:nvSpPr>
          <p:cNvPr id="6" name="Text 4"/>
          <p:cNvSpPr/>
          <p:nvPr/>
        </p:nvSpPr>
        <p:spPr>
          <a:xfrm>
            <a:off x="11292840" y="6382512"/>
            <a:ext cx="502920" cy="329184"/>
          </a:xfrm>
          <a:prstGeom prst="rect">
            <a:avLst/>
          </a:prstGeom>
          <a:noFill/>
          <a:ln/>
        </p:spPr>
        <p:txBody>
          <a:bodyPr wrap="square" rtlCol="0" anchor="ctr"/>
          <a:lstStyle/>
          <a:p>
            <a:pPr marL="0" indent="0" algn="r">
              <a:buNone/>
            </a:pPr>
            <a:r>
              <a:rPr lang="en-US" sz="1100" b="1" dirty="0">
                <a:solidFill>
                  <a:srgbClr val="35618E"/>
                </a:solidFill>
                <a:latin typeface="Calibri" pitchFamily="34" charset="0"/>
                <a:ea typeface="Calibri" pitchFamily="34" charset="-122"/>
                <a:cs typeface="Calibri" pitchFamily="34" charset="-120"/>
              </a:rPr>
              <a:t>11</a:t>
            </a:r>
            <a:endParaRPr lang="en-US" sz="1100" dirty="0"/>
          </a:p>
        </p:txBody>
      </p:sp>
      <p:sp>
        <p:nvSpPr>
          <p:cNvPr id="7" name="Shape 5"/>
          <p:cNvSpPr/>
          <p:nvPr/>
        </p:nvSpPr>
        <p:spPr>
          <a:xfrm>
            <a:off x="566928" y="1737360"/>
            <a:ext cx="6217920" cy="566928"/>
          </a:xfrm>
          <a:prstGeom prst="roundRect">
            <a:avLst>
              <a:gd name="adj" fmla="val 12903"/>
            </a:avLst>
          </a:prstGeom>
          <a:solidFill>
            <a:srgbClr val="2E8B57"/>
          </a:solidFill>
          <a:ln/>
        </p:spPr>
        <p:txBody>
          <a:bodyPr/>
          <a:lstStyle/>
          <a:p>
            <a:endParaRPr lang="en-IN"/>
          </a:p>
        </p:txBody>
      </p:sp>
      <p:sp>
        <p:nvSpPr>
          <p:cNvPr id="8" name="Text 6"/>
          <p:cNvSpPr/>
          <p:nvPr/>
        </p:nvSpPr>
        <p:spPr>
          <a:xfrm>
            <a:off x="1389888" y="1737360"/>
            <a:ext cx="3840480" cy="566928"/>
          </a:xfrm>
          <a:prstGeom prst="rect">
            <a:avLst/>
          </a:prstGeom>
          <a:noFill/>
          <a:ln/>
        </p:spPr>
        <p:txBody>
          <a:bodyPr wrap="square" lIns="0" tIns="0" rIns="0" bIns="0" rtlCol="0" anchor="ctr"/>
          <a:lstStyle/>
          <a:p>
            <a:pPr marL="0" indent="0" algn="l">
              <a:lnSpc>
                <a:spcPct val="100000"/>
              </a:lnSpc>
              <a:buNone/>
            </a:pPr>
            <a:r>
              <a:rPr lang="en-US" sz="1350" b="1" dirty="0">
                <a:solidFill>
                  <a:srgbClr val="FFFFFF"/>
                </a:solidFill>
                <a:latin typeface="Calibri" pitchFamily="34" charset="0"/>
                <a:ea typeface="Calibri" pitchFamily="34" charset="-122"/>
                <a:cs typeface="Calibri" pitchFamily="34" charset="-120"/>
              </a:rPr>
              <a:t>Functional</a:t>
            </a:r>
            <a:endParaRPr lang="en-US" sz="1350" dirty="0"/>
          </a:p>
        </p:txBody>
      </p:sp>
      <p:sp>
        <p:nvSpPr>
          <p:cNvPr id="9" name="Text 7"/>
          <p:cNvSpPr/>
          <p:nvPr/>
        </p:nvSpPr>
        <p:spPr>
          <a:xfrm>
            <a:off x="1389888" y="1737360"/>
            <a:ext cx="5303520" cy="566928"/>
          </a:xfrm>
          <a:prstGeom prst="rect">
            <a:avLst/>
          </a:prstGeom>
          <a:noFill/>
          <a:ln/>
        </p:spPr>
        <p:txBody>
          <a:bodyPr wrap="square" lIns="0" tIns="0" rIns="0" bIns="0" rtlCol="0" anchor="ctr"/>
          <a:lstStyle/>
          <a:p>
            <a:pPr marL="0" indent="0" algn="r">
              <a:lnSpc>
                <a:spcPct val="100000"/>
              </a:lnSpc>
              <a:buNone/>
            </a:pPr>
            <a:r>
              <a:rPr lang="en-US" sz="1080" dirty="0">
                <a:solidFill>
                  <a:srgbClr val="FFFFFF"/>
                </a:solidFill>
                <a:latin typeface="Calibri" pitchFamily="34" charset="0"/>
                <a:ea typeface="Calibri" pitchFamily="34" charset="-122"/>
                <a:cs typeface="Calibri" pitchFamily="34" charset="-120"/>
              </a:rPr>
              <a:t>one problem-related task</a:t>
            </a:r>
            <a:endParaRPr lang="en-US" sz="1080" dirty="0"/>
          </a:p>
        </p:txBody>
      </p:sp>
      <p:sp>
        <p:nvSpPr>
          <p:cNvPr id="10" name="Shape 8"/>
          <p:cNvSpPr/>
          <p:nvPr/>
        </p:nvSpPr>
        <p:spPr>
          <a:xfrm>
            <a:off x="713232" y="1847088"/>
            <a:ext cx="347472" cy="347472"/>
          </a:xfrm>
          <a:prstGeom prst="ellipse">
            <a:avLst/>
          </a:prstGeom>
          <a:solidFill>
            <a:srgbClr val="FFFFFF"/>
          </a:solidFill>
          <a:ln/>
        </p:spPr>
      </p:sp>
      <p:sp>
        <p:nvSpPr>
          <p:cNvPr id="11" name="Text 9"/>
          <p:cNvSpPr/>
          <p:nvPr/>
        </p:nvSpPr>
        <p:spPr>
          <a:xfrm>
            <a:off x="713232" y="1847088"/>
            <a:ext cx="347472" cy="347472"/>
          </a:xfrm>
          <a:prstGeom prst="rect">
            <a:avLst/>
          </a:prstGeom>
          <a:noFill/>
          <a:ln/>
        </p:spPr>
        <p:txBody>
          <a:bodyPr wrap="square" lIns="0" tIns="0" rIns="0" bIns="0" rtlCol="0" anchor="ctr"/>
          <a:lstStyle/>
          <a:p>
            <a:pPr marL="0" indent="0" algn="ctr">
              <a:lnSpc>
                <a:spcPct val="100000"/>
              </a:lnSpc>
              <a:buNone/>
            </a:pPr>
            <a:r>
              <a:rPr lang="en-US" sz="1200" b="1" dirty="0">
                <a:solidFill>
                  <a:srgbClr val="2E8B57"/>
                </a:solidFill>
                <a:latin typeface="Calibri" pitchFamily="34" charset="0"/>
                <a:ea typeface="Calibri" pitchFamily="34" charset="-122"/>
                <a:cs typeface="Calibri" pitchFamily="34" charset="-120"/>
              </a:rPr>
              <a:t>7</a:t>
            </a:r>
            <a:endParaRPr lang="en-US" sz="1200" dirty="0"/>
          </a:p>
        </p:txBody>
      </p:sp>
      <p:sp>
        <p:nvSpPr>
          <p:cNvPr id="12" name="Shape 10"/>
          <p:cNvSpPr/>
          <p:nvPr/>
        </p:nvSpPr>
        <p:spPr>
          <a:xfrm>
            <a:off x="566928" y="2414016"/>
            <a:ext cx="6217920" cy="566928"/>
          </a:xfrm>
          <a:prstGeom prst="roundRect">
            <a:avLst>
              <a:gd name="adj" fmla="val 12903"/>
            </a:avLst>
          </a:prstGeom>
          <a:solidFill>
            <a:srgbClr val="3E9E6B"/>
          </a:solidFill>
          <a:ln/>
        </p:spPr>
      </p:sp>
      <p:sp>
        <p:nvSpPr>
          <p:cNvPr id="13" name="Text 11"/>
          <p:cNvSpPr/>
          <p:nvPr/>
        </p:nvSpPr>
        <p:spPr>
          <a:xfrm>
            <a:off x="1389888" y="2414016"/>
            <a:ext cx="3840480" cy="566928"/>
          </a:xfrm>
          <a:prstGeom prst="rect">
            <a:avLst/>
          </a:prstGeom>
          <a:noFill/>
          <a:ln/>
        </p:spPr>
        <p:txBody>
          <a:bodyPr wrap="square" lIns="0" tIns="0" rIns="0" bIns="0" rtlCol="0" anchor="ctr"/>
          <a:lstStyle/>
          <a:p>
            <a:pPr marL="0" indent="0" algn="l">
              <a:lnSpc>
                <a:spcPct val="100000"/>
              </a:lnSpc>
              <a:buNone/>
            </a:pPr>
            <a:r>
              <a:rPr lang="en-US" sz="1350" b="1" dirty="0">
                <a:solidFill>
                  <a:srgbClr val="FFFFFF"/>
                </a:solidFill>
                <a:latin typeface="Calibri" pitchFamily="34" charset="0"/>
                <a:ea typeface="Calibri" pitchFamily="34" charset="-122"/>
                <a:cs typeface="Calibri" pitchFamily="34" charset="-120"/>
              </a:rPr>
              <a:t>Sequential</a:t>
            </a:r>
            <a:endParaRPr lang="en-US" sz="1350" dirty="0"/>
          </a:p>
        </p:txBody>
      </p:sp>
      <p:sp>
        <p:nvSpPr>
          <p:cNvPr id="14" name="Text 12"/>
          <p:cNvSpPr/>
          <p:nvPr/>
        </p:nvSpPr>
        <p:spPr>
          <a:xfrm>
            <a:off x="1389888" y="2414016"/>
            <a:ext cx="5303520" cy="566928"/>
          </a:xfrm>
          <a:prstGeom prst="rect">
            <a:avLst/>
          </a:prstGeom>
          <a:noFill/>
          <a:ln/>
        </p:spPr>
        <p:txBody>
          <a:bodyPr wrap="square" lIns="0" tIns="0" rIns="0" bIns="0" rtlCol="0" anchor="ctr"/>
          <a:lstStyle/>
          <a:p>
            <a:pPr marL="0" indent="0" algn="r">
              <a:lnSpc>
                <a:spcPct val="100000"/>
              </a:lnSpc>
              <a:buNone/>
            </a:pPr>
            <a:r>
              <a:rPr lang="en-US" sz="1080" dirty="0">
                <a:solidFill>
                  <a:srgbClr val="FFFFFF"/>
                </a:solidFill>
                <a:latin typeface="Calibri" pitchFamily="34" charset="0"/>
                <a:ea typeface="Calibri" pitchFamily="34" charset="-122"/>
                <a:cs typeface="Calibri" pitchFamily="34" charset="-120"/>
              </a:rPr>
              <a:t>output of one part feeds the next</a:t>
            </a:r>
            <a:endParaRPr lang="en-US" sz="1080" dirty="0"/>
          </a:p>
        </p:txBody>
      </p:sp>
      <p:sp>
        <p:nvSpPr>
          <p:cNvPr id="15" name="Shape 13"/>
          <p:cNvSpPr/>
          <p:nvPr/>
        </p:nvSpPr>
        <p:spPr>
          <a:xfrm>
            <a:off x="713232" y="2523744"/>
            <a:ext cx="347472" cy="347472"/>
          </a:xfrm>
          <a:prstGeom prst="ellipse">
            <a:avLst/>
          </a:prstGeom>
          <a:solidFill>
            <a:srgbClr val="FFFFFF"/>
          </a:solidFill>
          <a:ln/>
        </p:spPr>
      </p:sp>
      <p:sp>
        <p:nvSpPr>
          <p:cNvPr id="16" name="Text 14"/>
          <p:cNvSpPr/>
          <p:nvPr/>
        </p:nvSpPr>
        <p:spPr>
          <a:xfrm>
            <a:off x="713232" y="2523744"/>
            <a:ext cx="347472" cy="347472"/>
          </a:xfrm>
          <a:prstGeom prst="rect">
            <a:avLst/>
          </a:prstGeom>
          <a:noFill/>
          <a:ln/>
        </p:spPr>
        <p:txBody>
          <a:bodyPr wrap="square" lIns="0" tIns="0" rIns="0" bIns="0" rtlCol="0" anchor="ctr"/>
          <a:lstStyle/>
          <a:p>
            <a:pPr marL="0" indent="0" algn="ctr">
              <a:lnSpc>
                <a:spcPct val="100000"/>
              </a:lnSpc>
              <a:buNone/>
            </a:pPr>
            <a:r>
              <a:rPr lang="en-US" sz="1200" b="1" dirty="0">
                <a:solidFill>
                  <a:srgbClr val="3E9E6B"/>
                </a:solidFill>
                <a:latin typeface="Calibri" pitchFamily="34" charset="0"/>
                <a:ea typeface="Calibri" pitchFamily="34" charset="-122"/>
                <a:cs typeface="Calibri" pitchFamily="34" charset="-120"/>
              </a:rPr>
              <a:t>6</a:t>
            </a:r>
            <a:endParaRPr lang="en-US" sz="1200" dirty="0"/>
          </a:p>
        </p:txBody>
      </p:sp>
      <p:sp>
        <p:nvSpPr>
          <p:cNvPr id="17" name="Shape 15"/>
          <p:cNvSpPr/>
          <p:nvPr/>
        </p:nvSpPr>
        <p:spPr>
          <a:xfrm>
            <a:off x="566928" y="3090672"/>
            <a:ext cx="6217920" cy="566928"/>
          </a:xfrm>
          <a:prstGeom prst="roundRect">
            <a:avLst>
              <a:gd name="adj" fmla="val 12903"/>
            </a:avLst>
          </a:prstGeom>
          <a:solidFill>
            <a:srgbClr val="0E8F8F"/>
          </a:solidFill>
          <a:ln/>
        </p:spPr>
      </p:sp>
      <p:sp>
        <p:nvSpPr>
          <p:cNvPr id="18" name="Text 16"/>
          <p:cNvSpPr/>
          <p:nvPr/>
        </p:nvSpPr>
        <p:spPr>
          <a:xfrm>
            <a:off x="1389888" y="3090672"/>
            <a:ext cx="3840480" cy="566928"/>
          </a:xfrm>
          <a:prstGeom prst="rect">
            <a:avLst/>
          </a:prstGeom>
          <a:noFill/>
          <a:ln/>
        </p:spPr>
        <p:txBody>
          <a:bodyPr wrap="square" lIns="0" tIns="0" rIns="0" bIns="0" rtlCol="0" anchor="ctr"/>
          <a:lstStyle/>
          <a:p>
            <a:pPr marL="0" indent="0" algn="l">
              <a:lnSpc>
                <a:spcPct val="100000"/>
              </a:lnSpc>
              <a:buNone/>
            </a:pPr>
            <a:r>
              <a:rPr lang="en-US" sz="1350" b="1" dirty="0">
                <a:solidFill>
                  <a:srgbClr val="FFFFFF"/>
                </a:solidFill>
                <a:latin typeface="Calibri" pitchFamily="34" charset="0"/>
                <a:ea typeface="Calibri" pitchFamily="34" charset="-122"/>
                <a:cs typeface="Calibri" pitchFamily="34" charset="-120"/>
              </a:rPr>
              <a:t>Communicational</a:t>
            </a:r>
            <a:endParaRPr lang="en-US" sz="1350" dirty="0"/>
          </a:p>
        </p:txBody>
      </p:sp>
      <p:sp>
        <p:nvSpPr>
          <p:cNvPr id="19" name="Text 17"/>
          <p:cNvSpPr/>
          <p:nvPr/>
        </p:nvSpPr>
        <p:spPr>
          <a:xfrm>
            <a:off x="1389888" y="3090672"/>
            <a:ext cx="5303520" cy="566928"/>
          </a:xfrm>
          <a:prstGeom prst="rect">
            <a:avLst/>
          </a:prstGeom>
          <a:noFill/>
          <a:ln/>
        </p:spPr>
        <p:txBody>
          <a:bodyPr wrap="square" lIns="0" tIns="0" rIns="0" bIns="0" rtlCol="0" anchor="ctr"/>
          <a:lstStyle/>
          <a:p>
            <a:pPr marL="0" indent="0" algn="r">
              <a:lnSpc>
                <a:spcPct val="100000"/>
              </a:lnSpc>
              <a:buNone/>
            </a:pPr>
            <a:r>
              <a:rPr lang="en-US" sz="1080" dirty="0">
                <a:solidFill>
                  <a:srgbClr val="FFFFFF"/>
                </a:solidFill>
                <a:latin typeface="Calibri" pitchFamily="34" charset="0"/>
                <a:ea typeface="Calibri" pitchFamily="34" charset="-122"/>
                <a:cs typeface="Calibri" pitchFamily="34" charset="-120"/>
              </a:rPr>
              <a:t>all parts act on the same data</a:t>
            </a:r>
            <a:endParaRPr lang="en-US" sz="1080" dirty="0"/>
          </a:p>
        </p:txBody>
      </p:sp>
      <p:sp>
        <p:nvSpPr>
          <p:cNvPr id="20" name="Shape 18"/>
          <p:cNvSpPr/>
          <p:nvPr/>
        </p:nvSpPr>
        <p:spPr>
          <a:xfrm>
            <a:off x="713232" y="3200400"/>
            <a:ext cx="347472" cy="347472"/>
          </a:xfrm>
          <a:prstGeom prst="ellipse">
            <a:avLst/>
          </a:prstGeom>
          <a:solidFill>
            <a:srgbClr val="FFFFFF"/>
          </a:solidFill>
          <a:ln/>
        </p:spPr>
      </p:sp>
      <p:sp>
        <p:nvSpPr>
          <p:cNvPr id="21" name="Text 19"/>
          <p:cNvSpPr/>
          <p:nvPr/>
        </p:nvSpPr>
        <p:spPr>
          <a:xfrm>
            <a:off x="713232" y="3200400"/>
            <a:ext cx="347472" cy="347472"/>
          </a:xfrm>
          <a:prstGeom prst="rect">
            <a:avLst/>
          </a:prstGeom>
          <a:noFill/>
          <a:ln/>
        </p:spPr>
        <p:txBody>
          <a:bodyPr wrap="square" lIns="0" tIns="0" rIns="0" bIns="0" rtlCol="0" anchor="ctr"/>
          <a:lstStyle/>
          <a:p>
            <a:pPr marL="0" indent="0" algn="ctr">
              <a:lnSpc>
                <a:spcPct val="100000"/>
              </a:lnSpc>
              <a:buNone/>
            </a:pPr>
            <a:r>
              <a:rPr lang="en-US" sz="1200" b="1" dirty="0">
                <a:solidFill>
                  <a:srgbClr val="0E8F8F"/>
                </a:solidFill>
                <a:latin typeface="Calibri" pitchFamily="34" charset="0"/>
                <a:ea typeface="Calibri" pitchFamily="34" charset="-122"/>
                <a:cs typeface="Calibri" pitchFamily="34" charset="-120"/>
              </a:rPr>
              <a:t>5</a:t>
            </a:r>
            <a:endParaRPr lang="en-US" sz="1200" dirty="0"/>
          </a:p>
        </p:txBody>
      </p:sp>
      <p:sp>
        <p:nvSpPr>
          <p:cNvPr id="22" name="Shape 20"/>
          <p:cNvSpPr/>
          <p:nvPr/>
        </p:nvSpPr>
        <p:spPr>
          <a:xfrm>
            <a:off x="566928" y="3767328"/>
            <a:ext cx="6217920" cy="566928"/>
          </a:xfrm>
          <a:prstGeom prst="roundRect">
            <a:avLst>
              <a:gd name="adj" fmla="val 12903"/>
            </a:avLst>
          </a:prstGeom>
          <a:solidFill>
            <a:srgbClr val="35618E"/>
          </a:solidFill>
          <a:ln/>
        </p:spPr>
      </p:sp>
      <p:sp>
        <p:nvSpPr>
          <p:cNvPr id="23" name="Text 21"/>
          <p:cNvSpPr/>
          <p:nvPr/>
        </p:nvSpPr>
        <p:spPr>
          <a:xfrm>
            <a:off x="1389888" y="3767328"/>
            <a:ext cx="3840480" cy="566928"/>
          </a:xfrm>
          <a:prstGeom prst="rect">
            <a:avLst/>
          </a:prstGeom>
          <a:noFill/>
          <a:ln/>
        </p:spPr>
        <p:txBody>
          <a:bodyPr wrap="square" lIns="0" tIns="0" rIns="0" bIns="0" rtlCol="0" anchor="ctr"/>
          <a:lstStyle/>
          <a:p>
            <a:pPr marL="0" indent="0" algn="l">
              <a:lnSpc>
                <a:spcPct val="100000"/>
              </a:lnSpc>
              <a:buNone/>
            </a:pPr>
            <a:r>
              <a:rPr lang="en-US" sz="1350" b="1" dirty="0">
                <a:solidFill>
                  <a:srgbClr val="FFFFFF"/>
                </a:solidFill>
                <a:latin typeface="Calibri" pitchFamily="34" charset="0"/>
                <a:ea typeface="Calibri" pitchFamily="34" charset="-122"/>
                <a:cs typeface="Calibri" pitchFamily="34" charset="-120"/>
              </a:rPr>
              <a:t>Procedural</a:t>
            </a:r>
            <a:endParaRPr lang="en-US" sz="1350" dirty="0"/>
          </a:p>
        </p:txBody>
      </p:sp>
      <p:sp>
        <p:nvSpPr>
          <p:cNvPr id="24" name="Text 22"/>
          <p:cNvSpPr/>
          <p:nvPr/>
        </p:nvSpPr>
        <p:spPr>
          <a:xfrm>
            <a:off x="1389888" y="3767328"/>
            <a:ext cx="5303520" cy="566928"/>
          </a:xfrm>
          <a:prstGeom prst="rect">
            <a:avLst/>
          </a:prstGeom>
          <a:noFill/>
          <a:ln/>
        </p:spPr>
        <p:txBody>
          <a:bodyPr wrap="square" lIns="0" tIns="0" rIns="0" bIns="0" rtlCol="0" anchor="ctr"/>
          <a:lstStyle/>
          <a:p>
            <a:pPr marL="0" indent="0" algn="r">
              <a:lnSpc>
                <a:spcPct val="100000"/>
              </a:lnSpc>
              <a:buNone/>
            </a:pPr>
            <a:r>
              <a:rPr lang="en-US" sz="1080" dirty="0">
                <a:solidFill>
                  <a:srgbClr val="FFFFFF"/>
                </a:solidFill>
                <a:latin typeface="Calibri" pitchFamily="34" charset="0"/>
                <a:ea typeface="Calibri" pitchFamily="34" charset="-122"/>
                <a:cs typeface="Calibri" pitchFamily="34" charset="-120"/>
              </a:rPr>
              <a:t>elements follow a control sequence</a:t>
            </a:r>
            <a:endParaRPr lang="en-US" sz="1080" dirty="0"/>
          </a:p>
        </p:txBody>
      </p:sp>
      <p:sp>
        <p:nvSpPr>
          <p:cNvPr id="25" name="Shape 23"/>
          <p:cNvSpPr/>
          <p:nvPr/>
        </p:nvSpPr>
        <p:spPr>
          <a:xfrm>
            <a:off x="713232" y="3877056"/>
            <a:ext cx="347472" cy="347472"/>
          </a:xfrm>
          <a:prstGeom prst="ellipse">
            <a:avLst/>
          </a:prstGeom>
          <a:solidFill>
            <a:srgbClr val="FFFFFF"/>
          </a:solidFill>
          <a:ln/>
        </p:spPr>
      </p:sp>
      <p:sp>
        <p:nvSpPr>
          <p:cNvPr id="26" name="Text 24"/>
          <p:cNvSpPr/>
          <p:nvPr/>
        </p:nvSpPr>
        <p:spPr>
          <a:xfrm>
            <a:off x="713232" y="3877056"/>
            <a:ext cx="347472" cy="347472"/>
          </a:xfrm>
          <a:prstGeom prst="rect">
            <a:avLst/>
          </a:prstGeom>
          <a:noFill/>
          <a:ln/>
        </p:spPr>
        <p:txBody>
          <a:bodyPr wrap="square" lIns="0" tIns="0" rIns="0" bIns="0" rtlCol="0" anchor="ctr"/>
          <a:lstStyle/>
          <a:p>
            <a:pPr marL="0" indent="0" algn="ctr">
              <a:lnSpc>
                <a:spcPct val="100000"/>
              </a:lnSpc>
              <a:buNone/>
            </a:pPr>
            <a:r>
              <a:rPr lang="en-US" sz="1200" b="1" dirty="0">
                <a:solidFill>
                  <a:srgbClr val="35618E"/>
                </a:solidFill>
                <a:latin typeface="Calibri" pitchFamily="34" charset="0"/>
                <a:ea typeface="Calibri" pitchFamily="34" charset="-122"/>
                <a:cs typeface="Calibri" pitchFamily="34" charset="-120"/>
              </a:rPr>
              <a:t>4</a:t>
            </a:r>
            <a:endParaRPr lang="en-US" sz="1200" dirty="0"/>
          </a:p>
        </p:txBody>
      </p:sp>
      <p:sp>
        <p:nvSpPr>
          <p:cNvPr id="27" name="Shape 25"/>
          <p:cNvSpPr/>
          <p:nvPr/>
        </p:nvSpPr>
        <p:spPr>
          <a:xfrm>
            <a:off x="566928" y="4443984"/>
            <a:ext cx="6217920" cy="566928"/>
          </a:xfrm>
          <a:prstGeom prst="roundRect">
            <a:avLst>
              <a:gd name="adj" fmla="val 12903"/>
            </a:avLst>
          </a:prstGeom>
          <a:solidFill>
            <a:srgbClr val="D98A28"/>
          </a:solidFill>
          <a:ln/>
        </p:spPr>
      </p:sp>
      <p:sp>
        <p:nvSpPr>
          <p:cNvPr id="28" name="Text 26"/>
          <p:cNvSpPr/>
          <p:nvPr/>
        </p:nvSpPr>
        <p:spPr>
          <a:xfrm>
            <a:off x="1389888" y="4443984"/>
            <a:ext cx="3840480" cy="566928"/>
          </a:xfrm>
          <a:prstGeom prst="rect">
            <a:avLst/>
          </a:prstGeom>
          <a:noFill/>
          <a:ln/>
        </p:spPr>
        <p:txBody>
          <a:bodyPr wrap="square" lIns="0" tIns="0" rIns="0" bIns="0" rtlCol="0" anchor="ctr"/>
          <a:lstStyle/>
          <a:p>
            <a:pPr marL="0" indent="0" algn="l">
              <a:lnSpc>
                <a:spcPct val="100000"/>
              </a:lnSpc>
              <a:buNone/>
            </a:pPr>
            <a:r>
              <a:rPr lang="en-US" sz="1350" b="1" dirty="0">
                <a:solidFill>
                  <a:srgbClr val="FFFFFF"/>
                </a:solidFill>
                <a:latin typeface="Calibri" pitchFamily="34" charset="0"/>
                <a:ea typeface="Calibri" pitchFamily="34" charset="-122"/>
                <a:cs typeface="Calibri" pitchFamily="34" charset="-120"/>
              </a:rPr>
              <a:t>Temporal</a:t>
            </a:r>
            <a:endParaRPr lang="en-US" sz="1350" dirty="0"/>
          </a:p>
        </p:txBody>
      </p:sp>
      <p:sp>
        <p:nvSpPr>
          <p:cNvPr id="29" name="Text 27"/>
          <p:cNvSpPr/>
          <p:nvPr/>
        </p:nvSpPr>
        <p:spPr>
          <a:xfrm>
            <a:off x="1389888" y="4443984"/>
            <a:ext cx="5303520" cy="566928"/>
          </a:xfrm>
          <a:prstGeom prst="rect">
            <a:avLst/>
          </a:prstGeom>
          <a:noFill/>
          <a:ln/>
        </p:spPr>
        <p:txBody>
          <a:bodyPr wrap="square" lIns="0" tIns="0" rIns="0" bIns="0" rtlCol="0" anchor="ctr"/>
          <a:lstStyle/>
          <a:p>
            <a:pPr marL="0" indent="0" algn="r">
              <a:lnSpc>
                <a:spcPct val="100000"/>
              </a:lnSpc>
              <a:buNone/>
            </a:pPr>
            <a:r>
              <a:rPr lang="en-US" sz="1080" dirty="0">
                <a:solidFill>
                  <a:srgbClr val="FFFFFF"/>
                </a:solidFill>
                <a:latin typeface="Calibri" pitchFamily="34" charset="0"/>
                <a:ea typeface="Calibri" pitchFamily="34" charset="-122"/>
                <a:cs typeface="Calibri" pitchFamily="34" charset="-120"/>
              </a:rPr>
              <a:t>elements run at the same time (e.g. init)</a:t>
            </a:r>
            <a:endParaRPr lang="en-US" sz="1080" dirty="0"/>
          </a:p>
        </p:txBody>
      </p:sp>
      <p:sp>
        <p:nvSpPr>
          <p:cNvPr id="30" name="Shape 28"/>
          <p:cNvSpPr/>
          <p:nvPr/>
        </p:nvSpPr>
        <p:spPr>
          <a:xfrm>
            <a:off x="713232" y="4553712"/>
            <a:ext cx="347472" cy="347472"/>
          </a:xfrm>
          <a:prstGeom prst="ellipse">
            <a:avLst/>
          </a:prstGeom>
          <a:solidFill>
            <a:srgbClr val="FFFFFF"/>
          </a:solidFill>
          <a:ln/>
        </p:spPr>
      </p:sp>
      <p:sp>
        <p:nvSpPr>
          <p:cNvPr id="31" name="Text 29"/>
          <p:cNvSpPr/>
          <p:nvPr/>
        </p:nvSpPr>
        <p:spPr>
          <a:xfrm>
            <a:off x="713232" y="4553712"/>
            <a:ext cx="347472" cy="347472"/>
          </a:xfrm>
          <a:prstGeom prst="rect">
            <a:avLst/>
          </a:prstGeom>
          <a:noFill/>
          <a:ln/>
        </p:spPr>
        <p:txBody>
          <a:bodyPr wrap="square" lIns="0" tIns="0" rIns="0" bIns="0" rtlCol="0" anchor="ctr"/>
          <a:lstStyle/>
          <a:p>
            <a:pPr marL="0" indent="0" algn="ctr">
              <a:lnSpc>
                <a:spcPct val="100000"/>
              </a:lnSpc>
              <a:buNone/>
            </a:pPr>
            <a:r>
              <a:rPr lang="en-US" sz="1200" b="1" dirty="0">
                <a:solidFill>
                  <a:srgbClr val="D98A28"/>
                </a:solidFill>
                <a:latin typeface="Calibri" pitchFamily="34" charset="0"/>
                <a:ea typeface="Calibri" pitchFamily="34" charset="-122"/>
                <a:cs typeface="Calibri" pitchFamily="34" charset="-120"/>
              </a:rPr>
              <a:t>3</a:t>
            </a:r>
            <a:endParaRPr lang="en-US" sz="1200" dirty="0"/>
          </a:p>
        </p:txBody>
      </p:sp>
      <p:sp>
        <p:nvSpPr>
          <p:cNvPr id="32" name="Shape 30"/>
          <p:cNvSpPr/>
          <p:nvPr/>
        </p:nvSpPr>
        <p:spPr>
          <a:xfrm>
            <a:off x="566928" y="5120640"/>
            <a:ext cx="6217920" cy="566928"/>
          </a:xfrm>
          <a:prstGeom prst="roundRect">
            <a:avLst>
              <a:gd name="adj" fmla="val 12903"/>
            </a:avLst>
          </a:prstGeom>
          <a:solidFill>
            <a:srgbClr val="C77A3A"/>
          </a:solidFill>
          <a:ln/>
        </p:spPr>
      </p:sp>
      <p:sp>
        <p:nvSpPr>
          <p:cNvPr id="33" name="Text 31"/>
          <p:cNvSpPr/>
          <p:nvPr/>
        </p:nvSpPr>
        <p:spPr>
          <a:xfrm>
            <a:off x="1389888" y="5120640"/>
            <a:ext cx="3840480" cy="566928"/>
          </a:xfrm>
          <a:prstGeom prst="rect">
            <a:avLst/>
          </a:prstGeom>
          <a:noFill/>
          <a:ln/>
        </p:spPr>
        <p:txBody>
          <a:bodyPr wrap="square" lIns="0" tIns="0" rIns="0" bIns="0" rtlCol="0" anchor="ctr"/>
          <a:lstStyle/>
          <a:p>
            <a:pPr marL="0" indent="0" algn="l">
              <a:lnSpc>
                <a:spcPct val="100000"/>
              </a:lnSpc>
              <a:buNone/>
            </a:pPr>
            <a:r>
              <a:rPr lang="en-US" sz="1350" b="1" dirty="0">
                <a:solidFill>
                  <a:srgbClr val="FFFFFF"/>
                </a:solidFill>
                <a:latin typeface="Calibri" pitchFamily="34" charset="0"/>
                <a:ea typeface="Calibri" pitchFamily="34" charset="-122"/>
                <a:cs typeface="Calibri" pitchFamily="34" charset="-120"/>
              </a:rPr>
              <a:t>Logical</a:t>
            </a:r>
            <a:endParaRPr lang="en-US" sz="1350" dirty="0"/>
          </a:p>
        </p:txBody>
      </p:sp>
      <p:sp>
        <p:nvSpPr>
          <p:cNvPr id="34" name="Text 32"/>
          <p:cNvSpPr/>
          <p:nvPr/>
        </p:nvSpPr>
        <p:spPr>
          <a:xfrm>
            <a:off x="1389888" y="5120640"/>
            <a:ext cx="5303520" cy="566928"/>
          </a:xfrm>
          <a:prstGeom prst="rect">
            <a:avLst/>
          </a:prstGeom>
          <a:noFill/>
          <a:ln/>
        </p:spPr>
        <p:txBody>
          <a:bodyPr wrap="square" lIns="0" tIns="0" rIns="0" bIns="0" rtlCol="0" anchor="ctr"/>
          <a:lstStyle/>
          <a:p>
            <a:pPr marL="0" indent="0" algn="r">
              <a:lnSpc>
                <a:spcPct val="100000"/>
              </a:lnSpc>
              <a:buNone/>
            </a:pPr>
            <a:r>
              <a:rPr lang="en-US" sz="1080" dirty="0">
                <a:solidFill>
                  <a:srgbClr val="FFFFFF"/>
                </a:solidFill>
                <a:latin typeface="Calibri" pitchFamily="34" charset="0"/>
                <a:ea typeface="Calibri" pitchFamily="34" charset="-122"/>
                <a:cs typeface="Calibri" pitchFamily="34" charset="-120"/>
              </a:rPr>
              <a:t>similar-category actions, one chosen by flag</a:t>
            </a:r>
            <a:endParaRPr lang="en-US" sz="1080" dirty="0"/>
          </a:p>
        </p:txBody>
      </p:sp>
      <p:sp>
        <p:nvSpPr>
          <p:cNvPr id="35" name="Shape 33"/>
          <p:cNvSpPr/>
          <p:nvPr/>
        </p:nvSpPr>
        <p:spPr>
          <a:xfrm>
            <a:off x="713232" y="5230368"/>
            <a:ext cx="347472" cy="347472"/>
          </a:xfrm>
          <a:prstGeom prst="ellipse">
            <a:avLst/>
          </a:prstGeom>
          <a:solidFill>
            <a:srgbClr val="FFFFFF"/>
          </a:solidFill>
          <a:ln/>
        </p:spPr>
      </p:sp>
      <p:sp>
        <p:nvSpPr>
          <p:cNvPr id="36" name="Text 34"/>
          <p:cNvSpPr/>
          <p:nvPr/>
        </p:nvSpPr>
        <p:spPr>
          <a:xfrm>
            <a:off x="713232" y="5230368"/>
            <a:ext cx="347472" cy="347472"/>
          </a:xfrm>
          <a:prstGeom prst="rect">
            <a:avLst/>
          </a:prstGeom>
          <a:noFill/>
          <a:ln/>
        </p:spPr>
        <p:txBody>
          <a:bodyPr wrap="square" lIns="0" tIns="0" rIns="0" bIns="0" rtlCol="0" anchor="ctr"/>
          <a:lstStyle/>
          <a:p>
            <a:pPr marL="0" indent="0" algn="ctr">
              <a:lnSpc>
                <a:spcPct val="100000"/>
              </a:lnSpc>
              <a:buNone/>
            </a:pPr>
            <a:r>
              <a:rPr lang="en-US" sz="1200" b="1" dirty="0">
                <a:solidFill>
                  <a:srgbClr val="C77A3A"/>
                </a:solidFill>
                <a:latin typeface="Calibri" pitchFamily="34" charset="0"/>
                <a:ea typeface="Calibri" pitchFamily="34" charset="-122"/>
                <a:cs typeface="Calibri" pitchFamily="34" charset="-120"/>
              </a:rPr>
              <a:t>2</a:t>
            </a:r>
            <a:endParaRPr lang="en-US" sz="1200" dirty="0"/>
          </a:p>
        </p:txBody>
      </p:sp>
      <p:sp>
        <p:nvSpPr>
          <p:cNvPr id="37" name="Shape 35"/>
          <p:cNvSpPr/>
          <p:nvPr/>
        </p:nvSpPr>
        <p:spPr>
          <a:xfrm>
            <a:off x="566928" y="5797296"/>
            <a:ext cx="6217920" cy="566928"/>
          </a:xfrm>
          <a:prstGeom prst="roundRect">
            <a:avLst>
              <a:gd name="adj" fmla="val 12903"/>
            </a:avLst>
          </a:prstGeom>
          <a:solidFill>
            <a:srgbClr val="D9542B"/>
          </a:solidFill>
          <a:ln/>
        </p:spPr>
      </p:sp>
      <p:sp>
        <p:nvSpPr>
          <p:cNvPr id="38" name="Text 36"/>
          <p:cNvSpPr/>
          <p:nvPr/>
        </p:nvSpPr>
        <p:spPr>
          <a:xfrm>
            <a:off x="1389888" y="5797296"/>
            <a:ext cx="3840480" cy="566928"/>
          </a:xfrm>
          <a:prstGeom prst="rect">
            <a:avLst/>
          </a:prstGeom>
          <a:noFill/>
          <a:ln/>
        </p:spPr>
        <p:txBody>
          <a:bodyPr wrap="square" lIns="0" tIns="0" rIns="0" bIns="0" rtlCol="0" anchor="ctr"/>
          <a:lstStyle/>
          <a:p>
            <a:pPr marL="0" indent="0" algn="l">
              <a:lnSpc>
                <a:spcPct val="100000"/>
              </a:lnSpc>
              <a:buNone/>
            </a:pPr>
            <a:r>
              <a:rPr lang="en-US" sz="1350" b="1" dirty="0">
                <a:solidFill>
                  <a:srgbClr val="FFFFFF"/>
                </a:solidFill>
                <a:latin typeface="Calibri" pitchFamily="34" charset="0"/>
                <a:ea typeface="Calibri" pitchFamily="34" charset="-122"/>
                <a:cs typeface="Calibri" pitchFamily="34" charset="-120"/>
              </a:rPr>
              <a:t>Coincidental</a:t>
            </a:r>
            <a:endParaRPr lang="en-US" sz="1350" dirty="0"/>
          </a:p>
        </p:txBody>
      </p:sp>
      <p:sp>
        <p:nvSpPr>
          <p:cNvPr id="39" name="Text 37"/>
          <p:cNvSpPr/>
          <p:nvPr/>
        </p:nvSpPr>
        <p:spPr>
          <a:xfrm>
            <a:off x="1389888" y="5797296"/>
            <a:ext cx="5303520" cy="566928"/>
          </a:xfrm>
          <a:prstGeom prst="rect">
            <a:avLst/>
          </a:prstGeom>
          <a:noFill/>
          <a:ln/>
        </p:spPr>
        <p:txBody>
          <a:bodyPr wrap="square" lIns="0" tIns="0" rIns="0" bIns="0" rtlCol="0" anchor="ctr"/>
          <a:lstStyle/>
          <a:p>
            <a:pPr marL="0" indent="0" algn="r">
              <a:lnSpc>
                <a:spcPct val="100000"/>
              </a:lnSpc>
              <a:buNone/>
            </a:pPr>
            <a:r>
              <a:rPr lang="en-US" sz="1080" dirty="0">
                <a:solidFill>
                  <a:srgbClr val="FFFFFF"/>
                </a:solidFill>
                <a:latin typeface="Calibri" pitchFamily="34" charset="0"/>
                <a:ea typeface="Calibri" pitchFamily="34" charset="-122"/>
                <a:cs typeface="Calibri" pitchFamily="34" charset="-120"/>
              </a:rPr>
              <a:t>no meaningful relationship at all</a:t>
            </a:r>
            <a:endParaRPr lang="en-US" sz="1080" dirty="0"/>
          </a:p>
        </p:txBody>
      </p:sp>
      <p:sp>
        <p:nvSpPr>
          <p:cNvPr id="40" name="Shape 38"/>
          <p:cNvSpPr/>
          <p:nvPr/>
        </p:nvSpPr>
        <p:spPr>
          <a:xfrm>
            <a:off x="713232" y="5907024"/>
            <a:ext cx="347472" cy="347472"/>
          </a:xfrm>
          <a:prstGeom prst="ellipse">
            <a:avLst/>
          </a:prstGeom>
          <a:solidFill>
            <a:srgbClr val="FFFFFF"/>
          </a:solidFill>
          <a:ln/>
        </p:spPr>
      </p:sp>
      <p:sp>
        <p:nvSpPr>
          <p:cNvPr id="41" name="Text 39"/>
          <p:cNvSpPr/>
          <p:nvPr/>
        </p:nvSpPr>
        <p:spPr>
          <a:xfrm>
            <a:off x="713232" y="5907024"/>
            <a:ext cx="347472" cy="347472"/>
          </a:xfrm>
          <a:prstGeom prst="rect">
            <a:avLst/>
          </a:prstGeom>
          <a:noFill/>
          <a:ln/>
        </p:spPr>
        <p:txBody>
          <a:bodyPr wrap="square" lIns="0" tIns="0" rIns="0" bIns="0" rtlCol="0" anchor="ctr"/>
          <a:lstStyle/>
          <a:p>
            <a:pPr marL="0" indent="0" algn="ctr">
              <a:lnSpc>
                <a:spcPct val="100000"/>
              </a:lnSpc>
              <a:buNone/>
            </a:pPr>
            <a:r>
              <a:rPr lang="en-US" sz="1200" b="1" dirty="0">
                <a:solidFill>
                  <a:srgbClr val="D9542B"/>
                </a:solidFill>
                <a:latin typeface="Calibri" pitchFamily="34" charset="0"/>
                <a:ea typeface="Calibri" pitchFamily="34" charset="-122"/>
                <a:cs typeface="Calibri" pitchFamily="34" charset="-120"/>
              </a:rPr>
              <a:t>1</a:t>
            </a:r>
            <a:endParaRPr lang="en-US" sz="1200" dirty="0"/>
          </a:p>
        </p:txBody>
      </p:sp>
      <p:sp>
        <p:nvSpPr>
          <p:cNvPr id="42" name="Shape 40"/>
          <p:cNvSpPr/>
          <p:nvPr/>
        </p:nvSpPr>
        <p:spPr>
          <a:xfrm>
            <a:off x="6967728" y="2194560"/>
            <a:ext cx="50292" cy="3566160"/>
          </a:xfrm>
          <a:prstGeom prst="rect">
            <a:avLst/>
          </a:prstGeom>
          <a:solidFill>
            <a:srgbClr val="2E8B57"/>
          </a:solidFill>
          <a:ln/>
        </p:spPr>
      </p:sp>
      <p:sp>
        <p:nvSpPr>
          <p:cNvPr id="43" name="Shape 41"/>
          <p:cNvSpPr/>
          <p:nvPr/>
        </p:nvSpPr>
        <p:spPr>
          <a:xfrm>
            <a:off x="6858000" y="1920240"/>
            <a:ext cx="274320" cy="310896"/>
          </a:xfrm>
          <a:prstGeom prst="triangle">
            <a:avLst/>
          </a:prstGeom>
          <a:solidFill>
            <a:srgbClr val="2E8B57"/>
          </a:solidFill>
          <a:ln/>
        </p:spPr>
      </p:sp>
      <p:sp>
        <p:nvSpPr>
          <p:cNvPr id="44" name="Text 42"/>
          <p:cNvSpPr/>
          <p:nvPr/>
        </p:nvSpPr>
        <p:spPr>
          <a:xfrm rot="16200000">
            <a:off x="5486400" y="3611880"/>
            <a:ext cx="3566160" cy="365760"/>
          </a:xfrm>
          <a:prstGeom prst="rect">
            <a:avLst/>
          </a:prstGeom>
          <a:noFill/>
          <a:ln/>
        </p:spPr>
        <p:txBody>
          <a:bodyPr wrap="square" lIns="0" tIns="0" rIns="0" bIns="0" rtlCol="0" anchor="ctr"/>
          <a:lstStyle/>
          <a:p>
            <a:pPr marL="0" indent="0" algn="ctr">
              <a:buNone/>
            </a:pPr>
            <a:r>
              <a:rPr lang="en-US" sz="1100" b="1" kern="0" spc="100" dirty="0">
                <a:solidFill>
                  <a:srgbClr val="2E8B57"/>
                </a:solidFill>
                <a:latin typeface="Calibri" pitchFamily="34" charset="0"/>
                <a:ea typeface="Calibri" pitchFamily="34" charset="-122"/>
                <a:cs typeface="Calibri" pitchFamily="34" charset="-120"/>
              </a:rPr>
              <a:t>INCREASING COHESION  →  MORE DESIRABLE</a:t>
            </a:r>
            <a:endParaRPr lang="en-US" sz="1100" dirty="0"/>
          </a:p>
        </p:txBody>
      </p:sp>
      <p:sp>
        <p:nvSpPr>
          <p:cNvPr id="45" name="Shape 43"/>
          <p:cNvSpPr/>
          <p:nvPr/>
        </p:nvSpPr>
        <p:spPr>
          <a:xfrm>
            <a:off x="7772400" y="1737360"/>
            <a:ext cx="3858768" cy="2084832"/>
          </a:xfrm>
          <a:prstGeom prst="roundRect">
            <a:avLst>
              <a:gd name="adj" fmla="val 5263"/>
            </a:avLst>
          </a:prstGeom>
          <a:solidFill>
            <a:srgbClr val="E4F1E9"/>
          </a:solidFill>
          <a:ln/>
          <a:effectLst>
            <a:outerShdw blurRad="1524" dist="889" dir="5400000" algn="bl" rotWithShape="0">
              <a:srgbClr val="1B3A5F">
                <a:alpha val="18000"/>
              </a:srgbClr>
            </a:outerShdw>
          </a:effectLst>
        </p:spPr>
      </p:sp>
      <p:sp>
        <p:nvSpPr>
          <p:cNvPr id="46" name="Text 44"/>
          <p:cNvSpPr/>
          <p:nvPr/>
        </p:nvSpPr>
        <p:spPr>
          <a:xfrm>
            <a:off x="8001000" y="1938528"/>
            <a:ext cx="3383280" cy="365760"/>
          </a:xfrm>
          <a:prstGeom prst="rect">
            <a:avLst/>
          </a:prstGeom>
          <a:noFill/>
          <a:ln/>
        </p:spPr>
        <p:txBody>
          <a:bodyPr wrap="square" lIns="0" tIns="0" rIns="0" bIns="0" rtlCol="0" anchor="t"/>
          <a:lstStyle/>
          <a:p>
            <a:pPr marL="0" indent="0" algn="l">
              <a:lnSpc>
                <a:spcPct val="100000"/>
              </a:lnSpc>
              <a:buNone/>
            </a:pPr>
            <a:r>
              <a:rPr lang="en-US" sz="1450" b="1" dirty="0">
                <a:solidFill>
                  <a:srgbClr val="256B45"/>
                </a:solidFill>
                <a:latin typeface="Cambria" pitchFamily="34" charset="0"/>
                <a:ea typeface="Cambria" pitchFamily="34" charset="-122"/>
                <a:cs typeface="Cambria" pitchFamily="34" charset="-120"/>
              </a:rPr>
              <a:t>Aim for functional cohesion</a:t>
            </a:r>
            <a:endParaRPr lang="en-US" sz="1450" dirty="0"/>
          </a:p>
        </p:txBody>
      </p:sp>
      <p:sp>
        <p:nvSpPr>
          <p:cNvPr id="47" name="Text 45"/>
          <p:cNvSpPr/>
          <p:nvPr/>
        </p:nvSpPr>
        <p:spPr>
          <a:xfrm>
            <a:off x="8001000" y="2359152"/>
            <a:ext cx="3401568" cy="1188720"/>
          </a:xfrm>
          <a:prstGeom prst="rect">
            <a:avLst/>
          </a:prstGeom>
          <a:noFill/>
          <a:ln/>
        </p:spPr>
        <p:txBody>
          <a:bodyPr wrap="square" lIns="0" tIns="0" rIns="0" bIns="0" rtlCol="0" anchor="t"/>
          <a:lstStyle/>
          <a:p>
            <a:pPr marL="0" indent="0" algn="l">
              <a:lnSpc>
                <a:spcPct val="114000"/>
              </a:lnSpc>
              <a:buNone/>
            </a:pPr>
            <a:r>
              <a:rPr lang="en-US" sz="1220" dirty="0">
                <a:solidFill>
                  <a:srgbClr val="1B3A5F"/>
                </a:solidFill>
                <a:latin typeface="Calibri" pitchFamily="34" charset="0"/>
                <a:ea typeface="Calibri" pitchFamily="34" charset="-122"/>
                <a:cs typeface="Calibri" pitchFamily="34" charset="-120"/>
              </a:rPr>
              <a:t>"Find the square root", "sort the list", "compute payroll tax" — a module you can name with a single, precise verb phrase.</a:t>
            </a:r>
            <a:endParaRPr lang="en-US" sz="1220" dirty="0"/>
          </a:p>
        </p:txBody>
      </p:sp>
      <p:sp>
        <p:nvSpPr>
          <p:cNvPr id="48" name="Shape 46"/>
          <p:cNvSpPr/>
          <p:nvPr/>
        </p:nvSpPr>
        <p:spPr>
          <a:xfrm>
            <a:off x="7772400" y="3950208"/>
            <a:ext cx="3858768" cy="2084832"/>
          </a:xfrm>
          <a:prstGeom prst="roundRect">
            <a:avLst>
              <a:gd name="adj" fmla="val 5263"/>
            </a:avLst>
          </a:prstGeom>
          <a:solidFill>
            <a:srgbClr val="FBE7DF"/>
          </a:solidFill>
          <a:ln/>
          <a:effectLst>
            <a:outerShdw blurRad="1524" dist="889" dir="5400000" algn="bl" rotWithShape="0">
              <a:srgbClr val="1B3A5F">
                <a:alpha val="18000"/>
              </a:srgbClr>
            </a:outerShdw>
          </a:effectLst>
        </p:spPr>
      </p:sp>
      <p:sp>
        <p:nvSpPr>
          <p:cNvPr id="49" name="Text 47"/>
          <p:cNvSpPr/>
          <p:nvPr/>
        </p:nvSpPr>
        <p:spPr>
          <a:xfrm>
            <a:off x="8001000" y="4151376"/>
            <a:ext cx="3383280" cy="365760"/>
          </a:xfrm>
          <a:prstGeom prst="rect">
            <a:avLst/>
          </a:prstGeom>
          <a:noFill/>
          <a:ln/>
        </p:spPr>
        <p:txBody>
          <a:bodyPr wrap="square" lIns="0" tIns="0" rIns="0" bIns="0" rtlCol="0" anchor="t"/>
          <a:lstStyle/>
          <a:p>
            <a:pPr marL="0" indent="0" algn="l">
              <a:lnSpc>
                <a:spcPct val="100000"/>
              </a:lnSpc>
              <a:buNone/>
            </a:pPr>
            <a:r>
              <a:rPr lang="en-US" sz="1450" b="1" dirty="0">
                <a:solidFill>
                  <a:srgbClr val="A23F22"/>
                </a:solidFill>
                <a:latin typeface="Cambria" pitchFamily="34" charset="0"/>
                <a:ea typeface="Cambria" pitchFamily="34" charset="-122"/>
                <a:cs typeface="Cambria" pitchFamily="34" charset="-120"/>
              </a:rPr>
              <a:t>Avoid coincidental cohesion</a:t>
            </a:r>
            <a:endParaRPr lang="en-US" sz="1450" dirty="0"/>
          </a:p>
        </p:txBody>
      </p:sp>
      <p:sp>
        <p:nvSpPr>
          <p:cNvPr id="50" name="Text 48"/>
          <p:cNvSpPr/>
          <p:nvPr/>
        </p:nvSpPr>
        <p:spPr>
          <a:xfrm>
            <a:off x="8001000" y="4572000"/>
            <a:ext cx="3401568" cy="1188720"/>
          </a:xfrm>
          <a:prstGeom prst="rect">
            <a:avLst/>
          </a:prstGeom>
          <a:noFill/>
          <a:ln/>
        </p:spPr>
        <p:txBody>
          <a:bodyPr wrap="square" lIns="0" tIns="0" rIns="0" bIns="0" rtlCol="0" anchor="t"/>
          <a:lstStyle/>
          <a:p>
            <a:pPr marL="0" indent="0" algn="l">
              <a:lnSpc>
                <a:spcPct val="114000"/>
              </a:lnSpc>
              <a:buNone/>
            </a:pPr>
            <a:r>
              <a:rPr lang="en-US" sz="1220" dirty="0">
                <a:solidFill>
                  <a:srgbClr val="1B3A5F"/>
                </a:solidFill>
                <a:latin typeface="Calibri" pitchFamily="34" charset="0"/>
                <a:ea typeface="Calibri" pitchFamily="34" charset="-122"/>
                <a:cs typeface="Calibri" pitchFamily="34" charset="-120"/>
              </a:rPr>
              <a:t>A "utility" or "misc" module holding unrelated routines lumped together for no reason — the hardest kind to maintain.</a:t>
            </a:r>
            <a:endParaRPr lang="en-US" sz="1220" dirty="0"/>
          </a:p>
        </p:txBody>
      </p:sp>
      <p:pic>
        <p:nvPicPr>
          <p:cNvPr id="51" name="Picture 50" descr="gitam_logo.png"/>
          <p:cNvPicPr>
            <a:picLocks noChangeAspect="1"/>
          </p:cNvPicPr>
          <p:nvPr/>
        </p:nvPicPr>
        <p:blipFill>
          <a:blip r:embed="rId4"/>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2464495056"/>
      </p:ext>
    </p:extLst>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rtlCol="0" anchor="ctr"/>
          <a:lstStyle/>
          <a:p>
            <a:pPr marL="0" indent="0" algn="l">
              <a:buNone/>
            </a:pPr>
            <a:r>
              <a:rPr lang="en-US" sz="1250" b="1" kern="0" spc="200" dirty="0">
                <a:solidFill>
                  <a:srgbClr val="0E8F8F"/>
                </a:solidFill>
                <a:latin typeface="Calibri" pitchFamily="34" charset="0"/>
                <a:ea typeface="Calibri" pitchFamily="34" charset="-122"/>
                <a:cs typeface="Calibri" pitchFamily="34" charset="-120"/>
              </a:rPr>
              <a:t>COHESION &amp; COUPLING</a:t>
            </a:r>
            <a:endParaRPr lang="en-US" sz="1250" dirty="0"/>
          </a:p>
        </p:txBody>
      </p:sp>
      <p:sp>
        <p:nvSpPr>
          <p:cNvPr id="3" name="Text 1"/>
          <p:cNvSpPr/>
          <p:nvPr/>
        </p:nvSpPr>
        <p:spPr>
          <a:xfrm>
            <a:off x="548640" y="658368"/>
            <a:ext cx="10881360" cy="822960"/>
          </a:xfrm>
          <a:prstGeom prst="rect">
            <a:avLst/>
          </a:prstGeom>
          <a:noFill/>
          <a:ln/>
        </p:spPr>
        <p:txBody>
          <a:bodyPr wrap="square" rtlCol="0" anchor="t"/>
          <a:lstStyle/>
          <a:p>
            <a:pPr marL="0" indent="0" algn="l">
              <a:buNone/>
            </a:pPr>
            <a:r>
              <a:rPr lang="en-US" sz="3100" b="1" dirty="0">
                <a:solidFill>
                  <a:srgbClr val="13294B"/>
                </a:solidFill>
                <a:latin typeface="Cambria" pitchFamily="34" charset="0"/>
                <a:ea typeface="Cambria" pitchFamily="34" charset="-122"/>
                <a:cs typeface="Cambria" pitchFamily="34" charset="-120"/>
              </a:rPr>
              <a:t>Coupling — interdependence between modules</a:t>
            </a:r>
            <a:endParaRPr lang="en-US" sz="3100" dirty="0"/>
          </a:p>
        </p:txBody>
      </p:sp>
      <p:sp>
        <p:nvSpPr>
          <p:cNvPr id="6" name="Text 4"/>
          <p:cNvSpPr/>
          <p:nvPr/>
        </p:nvSpPr>
        <p:spPr>
          <a:xfrm>
            <a:off x="11292840" y="6382512"/>
            <a:ext cx="502920" cy="329184"/>
          </a:xfrm>
          <a:prstGeom prst="rect">
            <a:avLst/>
          </a:prstGeom>
          <a:noFill/>
          <a:ln/>
        </p:spPr>
        <p:txBody>
          <a:bodyPr wrap="square" rtlCol="0" anchor="ctr"/>
          <a:lstStyle/>
          <a:p>
            <a:pPr marL="0" indent="0" algn="r">
              <a:buNone/>
            </a:pPr>
            <a:r>
              <a:rPr lang="en-US" sz="1100" b="1" dirty="0">
                <a:solidFill>
                  <a:srgbClr val="35618E"/>
                </a:solidFill>
                <a:latin typeface="Calibri" pitchFamily="34" charset="0"/>
                <a:ea typeface="Calibri" pitchFamily="34" charset="-122"/>
                <a:cs typeface="Calibri" pitchFamily="34" charset="-120"/>
              </a:rPr>
              <a:t>12</a:t>
            </a:r>
            <a:endParaRPr lang="en-US" sz="1100" dirty="0"/>
          </a:p>
        </p:txBody>
      </p:sp>
      <p:sp>
        <p:nvSpPr>
          <p:cNvPr id="7" name="Shape 5"/>
          <p:cNvSpPr/>
          <p:nvPr/>
        </p:nvSpPr>
        <p:spPr>
          <a:xfrm>
            <a:off x="566928" y="1691640"/>
            <a:ext cx="11064240" cy="1234440"/>
          </a:xfrm>
          <a:prstGeom prst="roundRect">
            <a:avLst>
              <a:gd name="adj" fmla="val 8889"/>
            </a:avLst>
          </a:prstGeom>
          <a:solidFill>
            <a:srgbClr val="13294B"/>
          </a:solidFill>
          <a:ln/>
          <a:effectLst>
            <a:outerShdw blurRad="1524" dist="889" dir="5400000" algn="bl" rotWithShape="0">
              <a:srgbClr val="1B3A5F">
                <a:alpha val="18000"/>
              </a:srgbClr>
            </a:outerShdw>
          </a:effectLst>
        </p:spPr>
      </p:sp>
      <p:sp>
        <p:nvSpPr>
          <p:cNvPr id="8" name="Shape 6"/>
          <p:cNvSpPr/>
          <p:nvPr/>
        </p:nvSpPr>
        <p:spPr>
          <a:xfrm>
            <a:off x="822960" y="1938528"/>
            <a:ext cx="731520" cy="731520"/>
          </a:xfrm>
          <a:prstGeom prst="ellipse">
            <a:avLst/>
          </a:prstGeom>
          <a:solidFill>
            <a:srgbClr val="D98A28"/>
          </a:solidFill>
          <a:ln/>
          <a:effectLst>
            <a:outerShdw blurRad="1270" dist="635" dir="5400000" algn="bl" rotWithShape="0">
              <a:srgbClr val="1B3A5F">
                <a:alpha val="25000"/>
              </a:srgbClr>
            </a:outerShdw>
          </a:effectLst>
        </p:spPr>
      </p:sp>
      <p:pic>
        <p:nvPicPr>
          <p:cNvPr id="9" name="Image 0" descr="/home/claude/deck/icons/coupling.png"/>
          <p:cNvPicPr>
            <a:picLocks noChangeAspect="1"/>
          </p:cNvPicPr>
          <p:nvPr/>
        </p:nvPicPr>
        <p:blipFill>
          <a:blip r:embed="rId4"/>
          <a:stretch>
            <a:fillRect/>
          </a:stretch>
        </p:blipFill>
        <p:spPr>
          <a:xfrm>
            <a:off x="1013155" y="2128723"/>
            <a:ext cx="351130" cy="351130"/>
          </a:xfrm>
          <a:prstGeom prst="rect">
            <a:avLst/>
          </a:prstGeom>
        </p:spPr>
      </p:pic>
      <p:sp>
        <p:nvSpPr>
          <p:cNvPr id="10" name="Text 7"/>
          <p:cNvSpPr/>
          <p:nvPr/>
        </p:nvSpPr>
        <p:spPr>
          <a:xfrm>
            <a:off x="1783080" y="1874520"/>
            <a:ext cx="9509760" cy="457200"/>
          </a:xfrm>
          <a:prstGeom prst="rect">
            <a:avLst/>
          </a:prstGeom>
          <a:noFill/>
          <a:ln/>
        </p:spPr>
        <p:txBody>
          <a:bodyPr wrap="square" lIns="0" tIns="0" rIns="0" bIns="0" rtlCol="0" anchor="t"/>
          <a:lstStyle/>
          <a:p>
            <a:pPr marL="0" indent="0" algn="l">
              <a:lnSpc>
                <a:spcPct val="100000"/>
              </a:lnSpc>
              <a:buNone/>
            </a:pPr>
            <a:r>
              <a:rPr lang="en-US" sz="1650" b="1" dirty="0">
                <a:solidFill>
                  <a:srgbClr val="FFFFFF"/>
                </a:solidFill>
                <a:latin typeface="Cambria" pitchFamily="34" charset="0"/>
                <a:ea typeface="Cambria" pitchFamily="34" charset="-122"/>
                <a:cs typeface="Cambria" pitchFamily="34" charset="-120"/>
              </a:rPr>
              <a:t>Coupling measures the degree of interdependence between two modules.</a:t>
            </a:r>
            <a:endParaRPr lang="en-US" sz="1650" dirty="0"/>
          </a:p>
        </p:txBody>
      </p:sp>
      <p:sp>
        <p:nvSpPr>
          <p:cNvPr id="11" name="Text 8"/>
          <p:cNvSpPr/>
          <p:nvPr/>
        </p:nvSpPr>
        <p:spPr>
          <a:xfrm>
            <a:off x="1783080" y="2286000"/>
            <a:ext cx="9509760" cy="548640"/>
          </a:xfrm>
          <a:prstGeom prst="rect">
            <a:avLst/>
          </a:prstGeom>
          <a:noFill/>
          <a:ln/>
        </p:spPr>
        <p:txBody>
          <a:bodyPr wrap="square" lIns="0" tIns="0" rIns="0" bIns="0" rtlCol="0" anchor="t"/>
          <a:lstStyle/>
          <a:p>
            <a:pPr marL="0" indent="0" algn="l">
              <a:lnSpc>
                <a:spcPct val="110000"/>
              </a:lnSpc>
              <a:buNone/>
            </a:pPr>
            <a:r>
              <a:rPr lang="en-US" sz="1300" dirty="0">
                <a:solidFill>
                  <a:srgbClr val="C6D2E6"/>
                </a:solidFill>
                <a:latin typeface="Calibri" pitchFamily="34" charset="0"/>
                <a:ea typeface="Calibri" pitchFamily="34" charset="-122"/>
                <a:cs typeface="Calibri" pitchFamily="34" charset="-120"/>
              </a:rPr>
              <a:t>The more one module must know about another's internals, the higher the coupling — and the harder it becomes to change either one in isolation.</a:t>
            </a:r>
            <a:endParaRPr lang="en-US" sz="1300" dirty="0"/>
          </a:p>
        </p:txBody>
      </p:sp>
      <p:sp>
        <p:nvSpPr>
          <p:cNvPr id="12" name="Shape 9"/>
          <p:cNvSpPr/>
          <p:nvPr/>
        </p:nvSpPr>
        <p:spPr>
          <a:xfrm>
            <a:off x="566928" y="3200400"/>
            <a:ext cx="5468112" cy="2834640"/>
          </a:xfrm>
          <a:prstGeom prst="roundRect">
            <a:avLst>
              <a:gd name="adj" fmla="val 3871"/>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sp>
      <p:sp>
        <p:nvSpPr>
          <p:cNvPr id="13" name="Shape 10"/>
          <p:cNvSpPr/>
          <p:nvPr/>
        </p:nvSpPr>
        <p:spPr>
          <a:xfrm>
            <a:off x="804672" y="3419856"/>
            <a:ext cx="603504" cy="603504"/>
          </a:xfrm>
          <a:prstGeom prst="ellipse">
            <a:avLst/>
          </a:prstGeom>
          <a:solidFill>
            <a:srgbClr val="2E8B57"/>
          </a:solidFill>
          <a:ln/>
          <a:effectLst>
            <a:outerShdw blurRad="1270" dist="635" dir="5400000" algn="bl" rotWithShape="0">
              <a:srgbClr val="1B3A5F">
                <a:alpha val="25000"/>
              </a:srgbClr>
            </a:outerShdw>
          </a:effectLst>
        </p:spPr>
      </p:sp>
      <p:pic>
        <p:nvPicPr>
          <p:cNvPr id="14" name="Image 1" descr="/home/claude/deck/icons/star.png"/>
          <p:cNvPicPr>
            <a:picLocks noChangeAspect="1"/>
          </p:cNvPicPr>
          <p:nvPr/>
        </p:nvPicPr>
        <p:blipFill>
          <a:blip r:embed="rId5"/>
          <a:stretch>
            <a:fillRect/>
          </a:stretch>
        </p:blipFill>
        <p:spPr>
          <a:xfrm>
            <a:off x="961583" y="3576767"/>
            <a:ext cx="289682" cy="289682"/>
          </a:xfrm>
          <a:prstGeom prst="rect">
            <a:avLst/>
          </a:prstGeom>
        </p:spPr>
      </p:pic>
      <p:sp>
        <p:nvSpPr>
          <p:cNvPr id="15" name="Text 11"/>
          <p:cNvSpPr/>
          <p:nvPr/>
        </p:nvSpPr>
        <p:spPr>
          <a:xfrm>
            <a:off x="1536192" y="3493008"/>
            <a:ext cx="4297680" cy="457200"/>
          </a:xfrm>
          <a:prstGeom prst="rect">
            <a:avLst/>
          </a:prstGeom>
          <a:noFill/>
          <a:ln/>
        </p:spPr>
        <p:txBody>
          <a:bodyPr wrap="square" lIns="0" tIns="0" rIns="0" bIns="0" rtlCol="0" anchor="t"/>
          <a:lstStyle/>
          <a:p>
            <a:pPr marL="0" indent="0" algn="l">
              <a:lnSpc>
                <a:spcPct val="100000"/>
              </a:lnSpc>
              <a:buNone/>
            </a:pPr>
            <a:r>
              <a:rPr lang="en-US" sz="1500" b="1" dirty="0">
                <a:solidFill>
                  <a:srgbClr val="13294B"/>
                </a:solidFill>
                <a:latin typeface="Cambria" pitchFamily="34" charset="0"/>
                <a:ea typeface="Cambria" pitchFamily="34" charset="-122"/>
                <a:cs typeface="Cambria" pitchFamily="34" charset="-120"/>
              </a:rPr>
              <a:t>Why low coupling helps</a:t>
            </a:r>
            <a:endParaRPr lang="en-US" sz="1500" dirty="0"/>
          </a:p>
        </p:txBody>
      </p:sp>
      <p:sp>
        <p:nvSpPr>
          <p:cNvPr id="16" name="Text 12"/>
          <p:cNvSpPr/>
          <p:nvPr/>
        </p:nvSpPr>
        <p:spPr>
          <a:xfrm>
            <a:off x="859536" y="4206240"/>
            <a:ext cx="4937760" cy="1737360"/>
          </a:xfrm>
          <a:prstGeom prst="rect">
            <a:avLst/>
          </a:prstGeom>
          <a:noFill/>
          <a:ln/>
        </p:spPr>
        <p:txBody>
          <a:bodyPr wrap="square" lIns="0" tIns="0" rIns="0" bIns="0" rtlCol="0" anchor="t"/>
          <a:lstStyle/>
          <a:p>
            <a:pPr marL="177800" indent="-177800" algn="l">
              <a:spcAft>
                <a:spcPts val="700"/>
              </a:spcAft>
              <a:buSzPct val="100000"/>
              <a:buChar char="•"/>
            </a:pPr>
            <a:r>
              <a:rPr lang="en-US" sz="1280" dirty="0">
                <a:solidFill>
                  <a:srgbClr val="1B3A5F"/>
                </a:solidFill>
                <a:latin typeface="Calibri" pitchFamily="34" charset="0"/>
                <a:ea typeface="Calibri" pitchFamily="34" charset="-122"/>
                <a:cs typeface="Calibri" pitchFamily="34" charset="-120"/>
              </a:rPr>
              <a:t>Change a module without breaking its neighbours</a:t>
            </a:r>
            <a:endParaRPr lang="en-US" sz="1280" dirty="0"/>
          </a:p>
          <a:p>
            <a:pPr marL="177800" indent="-177800" algn="l">
              <a:spcAft>
                <a:spcPts val="700"/>
              </a:spcAft>
              <a:buSzPct val="100000"/>
              <a:buChar char="•"/>
            </a:pPr>
            <a:r>
              <a:rPr lang="en-US" sz="1280" dirty="0">
                <a:solidFill>
                  <a:srgbClr val="1B3A5F"/>
                </a:solidFill>
                <a:latin typeface="Calibri" pitchFamily="34" charset="0"/>
                <a:ea typeface="Calibri" pitchFamily="34" charset="-122"/>
                <a:cs typeface="Calibri" pitchFamily="34" charset="-120"/>
              </a:rPr>
              <a:t>Understand a module without reading the whole system</a:t>
            </a:r>
            <a:endParaRPr lang="en-US" sz="1280" dirty="0"/>
          </a:p>
          <a:p>
            <a:pPr marL="177800" indent="-177800" algn="l">
              <a:spcAft>
                <a:spcPts val="700"/>
              </a:spcAft>
              <a:buSzPct val="100000"/>
              <a:buChar char="•"/>
            </a:pPr>
            <a:r>
              <a:rPr lang="en-US" sz="1280" dirty="0">
                <a:solidFill>
                  <a:srgbClr val="1B3A5F"/>
                </a:solidFill>
                <a:latin typeface="Calibri" pitchFamily="34" charset="0"/>
                <a:ea typeface="Calibri" pitchFamily="34" charset="-122"/>
                <a:cs typeface="Calibri" pitchFamily="34" charset="-120"/>
              </a:rPr>
              <a:t>Reuse and test modules in isolation</a:t>
            </a:r>
            <a:endParaRPr lang="en-US" sz="1280" dirty="0"/>
          </a:p>
          <a:p>
            <a:pPr marL="177800" indent="-177800" algn="l">
              <a:spcAft>
                <a:spcPts val="700"/>
              </a:spcAft>
              <a:buSzPct val="100000"/>
              <a:buChar char="•"/>
            </a:pPr>
            <a:r>
              <a:rPr lang="en-US" sz="1280" dirty="0">
                <a:solidFill>
                  <a:srgbClr val="1B3A5F"/>
                </a:solidFill>
                <a:latin typeface="Calibri" pitchFamily="34" charset="0"/>
                <a:ea typeface="Calibri" pitchFamily="34" charset="-122"/>
                <a:cs typeface="Calibri" pitchFamily="34" charset="-120"/>
              </a:rPr>
              <a:t>Fewer bugs propagate across module boundaries</a:t>
            </a:r>
            <a:endParaRPr lang="en-US" sz="1280" dirty="0"/>
          </a:p>
        </p:txBody>
      </p:sp>
      <p:sp>
        <p:nvSpPr>
          <p:cNvPr id="17" name="Shape 13"/>
          <p:cNvSpPr/>
          <p:nvPr/>
        </p:nvSpPr>
        <p:spPr>
          <a:xfrm>
            <a:off x="6181344" y="3200400"/>
            <a:ext cx="5468112" cy="2834640"/>
          </a:xfrm>
          <a:prstGeom prst="roundRect">
            <a:avLst>
              <a:gd name="adj" fmla="val 3871"/>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sp>
      <p:sp>
        <p:nvSpPr>
          <p:cNvPr id="18" name="Shape 14"/>
          <p:cNvSpPr/>
          <p:nvPr/>
        </p:nvSpPr>
        <p:spPr>
          <a:xfrm>
            <a:off x="6419088" y="3419856"/>
            <a:ext cx="603504" cy="603504"/>
          </a:xfrm>
          <a:prstGeom prst="ellipse">
            <a:avLst/>
          </a:prstGeom>
          <a:solidFill>
            <a:srgbClr val="D9542B"/>
          </a:solidFill>
          <a:ln/>
          <a:effectLst>
            <a:outerShdw blurRad="1270" dist="635" dir="5400000" algn="bl" rotWithShape="0">
              <a:srgbClr val="1B3A5F">
                <a:alpha val="25000"/>
              </a:srgbClr>
            </a:outerShdw>
          </a:effectLst>
        </p:spPr>
      </p:sp>
      <p:pic>
        <p:nvPicPr>
          <p:cNvPr id="19" name="Image 2" descr="/home/claude/deck/icons/bolt.png"/>
          <p:cNvPicPr>
            <a:picLocks noChangeAspect="1"/>
          </p:cNvPicPr>
          <p:nvPr/>
        </p:nvPicPr>
        <p:blipFill>
          <a:blip r:embed="rId6"/>
          <a:stretch>
            <a:fillRect/>
          </a:stretch>
        </p:blipFill>
        <p:spPr>
          <a:xfrm>
            <a:off x="6575999" y="3576767"/>
            <a:ext cx="289682" cy="289682"/>
          </a:xfrm>
          <a:prstGeom prst="rect">
            <a:avLst/>
          </a:prstGeom>
        </p:spPr>
      </p:pic>
      <p:sp>
        <p:nvSpPr>
          <p:cNvPr id="20" name="Text 15"/>
          <p:cNvSpPr/>
          <p:nvPr/>
        </p:nvSpPr>
        <p:spPr>
          <a:xfrm>
            <a:off x="7150608" y="3493008"/>
            <a:ext cx="4297680" cy="457200"/>
          </a:xfrm>
          <a:prstGeom prst="rect">
            <a:avLst/>
          </a:prstGeom>
          <a:noFill/>
          <a:ln/>
        </p:spPr>
        <p:txBody>
          <a:bodyPr wrap="square" lIns="0" tIns="0" rIns="0" bIns="0" rtlCol="0" anchor="t"/>
          <a:lstStyle/>
          <a:p>
            <a:pPr marL="0" indent="0" algn="l">
              <a:lnSpc>
                <a:spcPct val="100000"/>
              </a:lnSpc>
              <a:buNone/>
            </a:pPr>
            <a:r>
              <a:rPr lang="en-US" sz="1500" b="1" dirty="0">
                <a:solidFill>
                  <a:srgbClr val="13294B"/>
                </a:solidFill>
                <a:latin typeface="Cambria" pitchFamily="34" charset="0"/>
                <a:ea typeface="Cambria" pitchFamily="34" charset="-122"/>
                <a:cs typeface="Cambria" pitchFamily="34" charset="-120"/>
              </a:rPr>
              <a:t>What raises coupling</a:t>
            </a:r>
            <a:endParaRPr lang="en-US" sz="1500" dirty="0"/>
          </a:p>
        </p:txBody>
      </p:sp>
      <p:sp>
        <p:nvSpPr>
          <p:cNvPr id="21" name="Text 16"/>
          <p:cNvSpPr/>
          <p:nvPr/>
        </p:nvSpPr>
        <p:spPr>
          <a:xfrm>
            <a:off x="6473952" y="4206240"/>
            <a:ext cx="4937760" cy="1737360"/>
          </a:xfrm>
          <a:prstGeom prst="rect">
            <a:avLst/>
          </a:prstGeom>
          <a:noFill/>
          <a:ln/>
        </p:spPr>
        <p:txBody>
          <a:bodyPr wrap="square" lIns="0" tIns="0" rIns="0" bIns="0" rtlCol="0" anchor="t"/>
          <a:lstStyle/>
          <a:p>
            <a:pPr marL="177800" indent="-177800" algn="l">
              <a:spcAft>
                <a:spcPts val="700"/>
              </a:spcAft>
              <a:buSzPct val="100000"/>
              <a:buChar char="•"/>
            </a:pPr>
            <a:r>
              <a:rPr lang="en-US" sz="1280" dirty="0">
                <a:solidFill>
                  <a:srgbClr val="1B3A5F"/>
                </a:solidFill>
                <a:latin typeface="Calibri" pitchFamily="34" charset="0"/>
                <a:ea typeface="Calibri" pitchFamily="34" charset="-122"/>
                <a:cs typeface="Calibri" pitchFamily="34" charset="-120"/>
              </a:rPr>
              <a:t>Sharing global data between modules</a:t>
            </a:r>
            <a:endParaRPr lang="en-US" sz="1280" dirty="0"/>
          </a:p>
          <a:p>
            <a:pPr marL="177800" indent="-177800" algn="l">
              <a:spcAft>
                <a:spcPts val="700"/>
              </a:spcAft>
              <a:buSzPct val="100000"/>
              <a:buChar char="•"/>
            </a:pPr>
            <a:r>
              <a:rPr lang="en-US" sz="1280" dirty="0">
                <a:solidFill>
                  <a:srgbClr val="1B3A5F"/>
                </a:solidFill>
                <a:latin typeface="Calibri" pitchFamily="34" charset="0"/>
                <a:ea typeface="Calibri" pitchFamily="34" charset="-122"/>
                <a:cs typeface="Calibri" pitchFamily="34" charset="-120"/>
              </a:rPr>
              <a:t>Passing control flags that steer another module's logic</a:t>
            </a:r>
            <a:endParaRPr lang="en-US" sz="1280" dirty="0"/>
          </a:p>
          <a:p>
            <a:pPr marL="177800" indent="-177800" algn="l">
              <a:spcAft>
                <a:spcPts val="700"/>
              </a:spcAft>
              <a:buSzPct val="100000"/>
              <a:buChar char="•"/>
            </a:pPr>
            <a:r>
              <a:rPr lang="en-US" sz="1280" dirty="0">
                <a:solidFill>
                  <a:srgbClr val="1B3A5F"/>
                </a:solidFill>
                <a:latin typeface="Calibri" pitchFamily="34" charset="0"/>
                <a:ea typeface="Calibri" pitchFamily="34" charset="-122"/>
                <a:cs typeface="Calibri" pitchFamily="34" charset="-120"/>
              </a:rPr>
              <a:t>One module reaching into another's internal data</a:t>
            </a:r>
            <a:endParaRPr lang="en-US" sz="1280" dirty="0"/>
          </a:p>
          <a:p>
            <a:pPr marL="177800" indent="-177800" algn="l">
              <a:spcAft>
                <a:spcPts val="700"/>
              </a:spcAft>
              <a:buSzPct val="100000"/>
              <a:buChar char="•"/>
            </a:pPr>
            <a:r>
              <a:rPr lang="en-US" sz="1280" dirty="0">
                <a:solidFill>
                  <a:srgbClr val="1B3A5F"/>
                </a:solidFill>
                <a:latin typeface="Calibri" pitchFamily="34" charset="0"/>
                <a:ea typeface="Calibri" pitchFamily="34" charset="-122"/>
                <a:cs typeface="Calibri" pitchFamily="34" charset="-120"/>
              </a:rPr>
              <a:t>Fat interfaces passing whole records for one field</a:t>
            </a:r>
            <a:endParaRPr lang="en-US" sz="1280" dirty="0"/>
          </a:p>
        </p:txBody>
      </p:sp>
      <p:pic>
        <p:nvPicPr>
          <p:cNvPr id="22" name="Picture 21" descr="gitam_logo.png"/>
          <p:cNvPicPr>
            <a:picLocks noChangeAspect="1"/>
          </p:cNvPicPr>
          <p:nvPr/>
        </p:nvPicPr>
        <p:blipFill>
          <a:blip r:embed="rId7"/>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4246217411"/>
      </p:ext>
    </p:extLst>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64103" y="0"/>
            <a:ext cx="11928293" cy="7023887"/>
          </a:xfrm>
          <a:prstGeom prst="rect">
            <a:avLst/>
          </a:prstGeom>
        </p:spPr>
      </p:pic>
      <p:pic>
        <p:nvPicPr>
          <p:cNvPr id="3" name="Picture 2" descr="gitam_logo.png"/>
          <p:cNvPicPr>
            <a:picLocks noChangeAspect="1"/>
          </p:cNvPicPr>
          <p:nvPr/>
        </p:nvPicPr>
        <p:blipFill>
          <a:blip r:embed="rId4"/>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2841408467"/>
      </p:ext>
    </p:extLst>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485745" y="2000098"/>
            <a:ext cx="9292045" cy="4248302"/>
          </a:xfrm>
          <a:prstGeom prst="rect">
            <a:avLst/>
          </a:prstGeom>
        </p:spPr>
      </p:pic>
      <p:sp>
        <p:nvSpPr>
          <p:cNvPr id="5" name="Rectangle 4"/>
          <p:cNvSpPr/>
          <p:nvPr/>
        </p:nvSpPr>
        <p:spPr>
          <a:xfrm>
            <a:off x="-59267" y="-1"/>
            <a:ext cx="12429067" cy="1831271"/>
          </a:xfrm>
          <a:prstGeom prst="rect">
            <a:avLst/>
          </a:prstGeom>
        </p:spPr>
        <p:txBody>
          <a:bodyPr wrap="square">
            <a:spAutoFit/>
          </a:bodyPr>
          <a:lstStyle/>
          <a:p>
            <a:pPr marL="227965" marR="678815" indent="457200" algn="just">
              <a:lnSpc>
                <a:spcPct val="150000"/>
              </a:lnSpc>
              <a:spcBef>
                <a:spcPts val="625"/>
              </a:spcBef>
              <a:spcAft>
                <a:spcPts val="0"/>
              </a:spcAft>
            </a:pPr>
            <a:r>
              <a:rPr lang="en-US" sz="3200" b="1" dirty="0">
                <a:latin typeface="Times New Roman" panose="02020603050405020304" pitchFamily="18" charset="0"/>
                <a:ea typeface="Times New Roman" panose="02020603050405020304" pitchFamily="18" charset="0"/>
              </a:rPr>
              <a:t>                       Stepwise refinement</a:t>
            </a:r>
          </a:p>
          <a:p>
            <a:pPr marL="227965" marR="678815" indent="457200" algn="just">
              <a:lnSpc>
                <a:spcPct val="150000"/>
              </a:lnSpc>
              <a:spcBef>
                <a:spcPts val="625"/>
              </a:spcBef>
              <a:spcAft>
                <a:spcPts val="0"/>
              </a:spcAft>
            </a:pPr>
            <a:r>
              <a:rPr lang="en-US" sz="2000" dirty="0">
                <a:latin typeface="Times New Roman" panose="02020603050405020304" pitchFamily="18" charset="0"/>
                <a:ea typeface="Times New Roman" panose="02020603050405020304" pitchFamily="18" charset="0"/>
              </a:rPr>
              <a:t>It is a </a:t>
            </a:r>
            <a:r>
              <a:rPr lang="en-US" sz="2000" b="1" dirty="0">
                <a:latin typeface="Times New Roman" panose="02020603050405020304" pitchFamily="18" charset="0"/>
                <a:ea typeface="Times New Roman" panose="02020603050405020304" pitchFamily="18" charset="0"/>
              </a:rPr>
              <a:t>top-down </a:t>
            </a:r>
            <a:r>
              <a:rPr lang="en-US" sz="2000" dirty="0">
                <a:latin typeface="Times New Roman" panose="02020603050405020304" pitchFamily="18" charset="0"/>
                <a:ea typeface="Times New Roman" panose="02020603050405020304" pitchFamily="18" charset="0"/>
              </a:rPr>
              <a:t>design strategy originally proposed by Niklaus Wirth. Refinement is  actually a process of </a:t>
            </a:r>
            <a:r>
              <a:rPr lang="en-US" sz="2000" b="1" i="1" dirty="0">
                <a:latin typeface="Times New Roman" panose="02020603050405020304" pitchFamily="18" charset="0"/>
                <a:ea typeface="Times New Roman" panose="02020603050405020304" pitchFamily="18" charset="0"/>
              </a:rPr>
              <a:t>elaboration</a:t>
            </a:r>
            <a:r>
              <a:rPr lang="en-US" sz="2000" i="1" dirty="0">
                <a:latin typeface="Times New Roman" panose="02020603050405020304" pitchFamily="18" charset="0"/>
                <a:ea typeface="Times New Roman" panose="02020603050405020304" pitchFamily="18" charset="0"/>
              </a:rPr>
              <a:t>. </a:t>
            </a:r>
            <a:r>
              <a:rPr lang="en-US" sz="2000" dirty="0">
                <a:latin typeface="Times New Roman" panose="02020603050405020304" pitchFamily="18" charset="0"/>
                <a:ea typeface="Times New Roman" panose="02020603050405020304" pitchFamily="18" charset="0"/>
              </a:rPr>
              <a:t>You begin with a statement of function that is defined at a high level of abstraction.</a:t>
            </a:r>
            <a:endParaRPr lang="en-IN" sz="2000" dirty="0">
              <a:effectLst/>
              <a:latin typeface="Times New Roman" panose="02020603050405020304" pitchFamily="18" charset="0"/>
              <a:ea typeface="Times New Roman" panose="02020603050405020304" pitchFamily="18" charset="0"/>
            </a:endParaRPr>
          </a:p>
        </p:txBody>
      </p:sp>
      <p:pic>
        <p:nvPicPr>
          <p:cNvPr id="6" name="Picture 5" descr="gitam_logo.png"/>
          <p:cNvPicPr>
            <a:picLocks noChangeAspect="1"/>
          </p:cNvPicPr>
          <p:nvPr/>
        </p:nvPicPr>
        <p:blipFill>
          <a:blip r:embed="rId4"/>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492960319"/>
      </p:ext>
    </p:extLst>
  </p:cSld>
  <p:clrMapOvr>
    <a:overrideClrMapping bg1="lt1" tx1="dk1" bg2="lt2" tx2="dk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5795"/>
            <a:ext cx="0" cy="0"/>
          </a:xfrm>
        </p:spPr>
        <p:txBody>
          <a:bodyPr>
            <a:normAutofit fontScale="25000" lnSpcReduction="20000"/>
          </a:bodyPr>
          <a:lstStyle/>
          <a:p>
            <a:pPr marL="0" indent="0"/>
            <a:endParaRPr lang="en-IN" dirty="0"/>
          </a:p>
        </p:txBody>
      </p:sp>
      <p:sp>
        <p:nvSpPr>
          <p:cNvPr id="4" name="Rectangle 3"/>
          <p:cNvSpPr/>
          <p:nvPr/>
        </p:nvSpPr>
        <p:spPr>
          <a:xfrm>
            <a:off x="3820789" y="43208"/>
            <a:ext cx="3646811" cy="646331"/>
          </a:xfrm>
          <a:prstGeom prst="rect">
            <a:avLst/>
          </a:prstGeom>
        </p:spPr>
        <p:txBody>
          <a:bodyPr wrap="square">
            <a:spAutoFit/>
          </a:bodyPr>
          <a:lstStyle/>
          <a:p>
            <a:pPr lvl="0" algn="ctr"/>
            <a:r>
              <a:rPr lang="en-IN" sz="3600" b="1" dirty="0">
                <a:solidFill>
                  <a:prstClr val="black">
                    <a:hueOff val="0"/>
                    <a:satOff val="0"/>
                    <a:lumOff val="0"/>
                    <a:alphaOff val="0"/>
                  </a:prstClr>
                </a:solidFill>
                <a:latin typeface="Times New Roman" panose="02020603050405020304" pitchFamily="18" charset="0"/>
                <a:cs typeface="Times New Roman" panose="02020603050405020304" pitchFamily="18" charset="0"/>
              </a:rPr>
              <a:t>Refactoring</a:t>
            </a:r>
          </a:p>
        </p:txBody>
      </p:sp>
      <p:sp>
        <p:nvSpPr>
          <p:cNvPr id="14" name="Rectangle 13"/>
          <p:cNvSpPr/>
          <p:nvPr/>
        </p:nvSpPr>
        <p:spPr>
          <a:xfrm>
            <a:off x="192628" y="1177864"/>
            <a:ext cx="11207931" cy="1421992"/>
          </a:xfrm>
          <a:prstGeom prst="rect">
            <a:avLst/>
          </a:prstGeom>
        </p:spPr>
        <p:txBody>
          <a:bodyPr wrap="square">
            <a:spAutoFit/>
          </a:bodyPr>
          <a:lstStyle/>
          <a:p>
            <a:pPr marL="227965" marR="676275" algn="just">
              <a:lnSpc>
                <a:spcPct val="150000"/>
              </a:lnSpc>
              <a:spcBef>
                <a:spcPts val="650"/>
              </a:spcBef>
              <a:spcAft>
                <a:spcPts val="0"/>
              </a:spcAft>
            </a:pPr>
            <a:r>
              <a:rPr lang="en-US" sz="2000" dirty="0">
                <a:latin typeface="Times New Roman" panose="02020603050405020304" pitchFamily="18" charset="0"/>
                <a:ea typeface="Times New Roman" panose="02020603050405020304" pitchFamily="18" charset="0"/>
              </a:rPr>
              <a:t>An important design activity suggested for many agile methods, </a:t>
            </a:r>
            <a:r>
              <a:rPr lang="en-US" sz="2000" b="1" i="1" dirty="0">
                <a:latin typeface="Times New Roman" panose="02020603050405020304" pitchFamily="18" charset="0"/>
                <a:ea typeface="Times New Roman" panose="02020603050405020304" pitchFamily="18" charset="0"/>
              </a:rPr>
              <a:t>refactoring </a:t>
            </a:r>
            <a:r>
              <a:rPr lang="en-US" sz="2000" dirty="0">
                <a:latin typeface="Times New Roman" panose="02020603050405020304" pitchFamily="18" charset="0"/>
                <a:ea typeface="Times New Roman" panose="02020603050405020304" pitchFamily="18" charset="0"/>
              </a:rPr>
              <a:t>is a reorganization technique that simplifies the design (or code) of a component without</a:t>
            </a:r>
            <a:r>
              <a:rPr lang="en-US" sz="2000" spc="390" dirty="0">
                <a:latin typeface="Times New Roman" panose="02020603050405020304" pitchFamily="18" charset="0"/>
                <a:ea typeface="Times New Roman" panose="02020603050405020304" pitchFamily="18" charset="0"/>
              </a:rPr>
              <a:t> </a:t>
            </a:r>
            <a:r>
              <a:rPr lang="en-US" sz="2000" dirty="0">
                <a:latin typeface="Times New Roman" panose="02020603050405020304" pitchFamily="18" charset="0"/>
                <a:ea typeface="Times New Roman" panose="02020603050405020304" pitchFamily="18" charset="0"/>
              </a:rPr>
              <a:t>changing</a:t>
            </a:r>
            <a:r>
              <a:rPr lang="en-US" sz="2000" spc="225" dirty="0">
                <a:latin typeface="Times New Roman" panose="02020603050405020304" pitchFamily="18" charset="0"/>
                <a:ea typeface="Times New Roman" panose="02020603050405020304" pitchFamily="18" charset="0"/>
              </a:rPr>
              <a:t> </a:t>
            </a:r>
            <a:r>
              <a:rPr lang="en-US" sz="2000" dirty="0">
                <a:latin typeface="Times New Roman" panose="02020603050405020304" pitchFamily="18" charset="0"/>
                <a:ea typeface="Times New Roman" panose="02020603050405020304" pitchFamily="18" charset="0"/>
              </a:rPr>
              <a:t>its</a:t>
            </a:r>
            <a:r>
              <a:rPr lang="en-US" sz="2000" spc="250" dirty="0">
                <a:latin typeface="Times New Roman" panose="02020603050405020304" pitchFamily="18" charset="0"/>
                <a:ea typeface="Times New Roman" panose="02020603050405020304" pitchFamily="18" charset="0"/>
              </a:rPr>
              <a:t> </a:t>
            </a:r>
            <a:r>
              <a:rPr lang="en-US" sz="2000" dirty="0">
                <a:latin typeface="Times New Roman" panose="02020603050405020304" pitchFamily="18" charset="0"/>
                <a:ea typeface="Times New Roman" panose="02020603050405020304" pitchFamily="18" charset="0"/>
              </a:rPr>
              <a:t>function</a:t>
            </a:r>
            <a:r>
              <a:rPr lang="en-US" sz="2000" spc="380" dirty="0">
                <a:latin typeface="Times New Roman" panose="02020603050405020304" pitchFamily="18" charset="0"/>
                <a:ea typeface="Times New Roman" panose="02020603050405020304" pitchFamily="18" charset="0"/>
              </a:rPr>
              <a:t> </a:t>
            </a:r>
            <a:r>
              <a:rPr lang="en-US" sz="2000" dirty="0">
                <a:latin typeface="Times New Roman" panose="02020603050405020304" pitchFamily="18" charset="0"/>
                <a:ea typeface="Times New Roman" panose="02020603050405020304" pitchFamily="18" charset="0"/>
              </a:rPr>
              <a:t>or</a:t>
            </a:r>
            <a:r>
              <a:rPr lang="en-US" sz="2000" spc="395" dirty="0">
                <a:latin typeface="Times New Roman" panose="02020603050405020304" pitchFamily="18" charset="0"/>
                <a:ea typeface="Times New Roman" panose="02020603050405020304" pitchFamily="18" charset="0"/>
              </a:rPr>
              <a:t> </a:t>
            </a:r>
            <a:r>
              <a:rPr lang="en-US" sz="2000" dirty="0">
                <a:latin typeface="Times New Roman" panose="02020603050405020304" pitchFamily="18" charset="0"/>
                <a:ea typeface="Times New Roman" panose="02020603050405020304" pitchFamily="18" charset="0"/>
              </a:rPr>
              <a:t>behavior.</a:t>
            </a:r>
            <a:r>
              <a:rPr lang="en-US" sz="2000" spc="255" dirty="0">
                <a:latin typeface="Times New Roman" panose="02020603050405020304" pitchFamily="18" charset="0"/>
                <a:ea typeface="Times New Roman" panose="02020603050405020304" pitchFamily="18" charset="0"/>
              </a:rPr>
              <a:t> </a:t>
            </a:r>
            <a:endParaRPr lang="en-IN" sz="2000" dirty="0">
              <a:effectLst/>
              <a:latin typeface="Times New Roman" panose="02020603050405020304" pitchFamily="18" charset="0"/>
              <a:ea typeface="Times New Roman" panose="02020603050405020304" pitchFamily="18" charset="0"/>
            </a:endParaRPr>
          </a:p>
        </p:txBody>
      </p:sp>
      <p:sp>
        <p:nvSpPr>
          <p:cNvPr id="21" name="Rectangle 24"/>
          <p:cNvSpPr>
            <a:spLocks noChangeArrowheads="1"/>
          </p:cNvSpPr>
          <p:nvPr/>
        </p:nvSpPr>
        <p:spPr bwMode="auto">
          <a:xfrm>
            <a:off x="345027" y="748197"/>
            <a:ext cx="10903131" cy="23839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28528" tIns="44436" rIns="682410" bIns="0" numCol="1" anchor="ctr" anchorCtr="0" compatLnSpc="1">
            <a:prstTxWarp prst="textNoShape">
              <a:avLst/>
            </a:prstTxWarp>
            <a:spAutoFit/>
          </a:bodyPr>
          <a:lstStyle/>
          <a:p>
            <a:pPr marL="0" marR="0" lvl="0" indent="7938" algn="just" defTabSz="914400" rtl="0" eaLnBrk="0" fontAlgn="base" latinLnBrk="0" hangingPunct="0">
              <a:lnSpc>
                <a:spcPct val="100000"/>
              </a:lnSpc>
              <a:spcBef>
                <a:spcPct val="0"/>
              </a:spcBef>
              <a:spcAft>
                <a:spcPct val="0"/>
              </a:spcAft>
              <a:buClrTx/>
              <a:buSzTx/>
              <a:buFontTx/>
              <a:buNone/>
              <a:tabLst/>
            </a:pPr>
            <a:endParaRPr kumimoji="0" lang="en-US" altLang="en-US" sz="160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7938" algn="just" defTabSz="914400" rtl="0" eaLnBrk="0" fontAlgn="base" latinLnBrk="0" hangingPunct="0">
              <a:lnSpc>
                <a:spcPct val="100000"/>
              </a:lnSpc>
              <a:spcBef>
                <a:spcPct val="0"/>
              </a:spcBef>
              <a:spcAft>
                <a:spcPct val="0"/>
              </a:spcAft>
              <a:buClrTx/>
              <a:buSzTx/>
              <a:buFontTx/>
              <a:buNone/>
              <a:tabLst/>
            </a:pPr>
            <a:endParaRPr lang="en-US" altLang="en-US" sz="16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7938" algn="just" defTabSz="914400" rtl="0" eaLnBrk="0" fontAlgn="base" latinLnBrk="0" hangingPunct="0">
              <a:lnSpc>
                <a:spcPct val="100000"/>
              </a:lnSpc>
              <a:spcBef>
                <a:spcPct val="0"/>
              </a:spcBef>
              <a:spcAft>
                <a:spcPct val="0"/>
              </a:spcAft>
              <a:buClrTx/>
              <a:buSzTx/>
              <a:buFontTx/>
              <a:buNone/>
              <a:tabLst/>
            </a:pPr>
            <a:endParaRPr kumimoji="0" lang="en-US" altLang="en-US" sz="160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7938" algn="just" defTabSz="914400" rtl="0" eaLnBrk="0" fontAlgn="base" latinLnBrk="0" hangingPunct="0">
              <a:lnSpc>
                <a:spcPct val="100000"/>
              </a:lnSpc>
              <a:spcBef>
                <a:spcPct val="0"/>
              </a:spcBef>
              <a:spcAft>
                <a:spcPct val="0"/>
              </a:spcAft>
              <a:buClrTx/>
              <a:buSzTx/>
              <a:buFontTx/>
              <a:buNone/>
              <a:tabLst/>
            </a:pPr>
            <a:endParaRPr lang="en-US" altLang="en-US" sz="16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7938" algn="just" defTabSz="914400" rtl="0" eaLnBrk="0" fontAlgn="base" latinLnBrk="0" hangingPunct="0">
              <a:lnSpc>
                <a:spcPct val="100000"/>
              </a:lnSpc>
              <a:spcBef>
                <a:spcPct val="0"/>
              </a:spcBef>
              <a:spcAft>
                <a:spcPct val="0"/>
              </a:spcAft>
              <a:buClrTx/>
              <a:buSzTx/>
              <a:buFontTx/>
              <a:buNone/>
              <a:tabLst/>
            </a:pPr>
            <a:endParaRPr kumimoji="0" lang="en-US" altLang="en-US" sz="160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7938" algn="just" defTabSz="914400" rtl="0" eaLnBrk="0" fontAlgn="base" latinLnBrk="0" hangingPunct="0">
              <a:lnSpc>
                <a:spcPct val="100000"/>
              </a:lnSpc>
              <a:spcBef>
                <a:spcPct val="0"/>
              </a:spcBef>
              <a:spcAft>
                <a:spcPct val="0"/>
              </a:spcAft>
              <a:buClrTx/>
              <a:buSzTx/>
              <a:buFontTx/>
              <a:buNone/>
              <a:tabLst/>
            </a:pPr>
            <a:endParaRPr lang="en-US" altLang="en-US" sz="16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7938" algn="just" defTabSz="914400" rtl="0" eaLnBrk="0" fontAlgn="base" latinLnBrk="0" hangingPunct="0">
              <a:lnSpc>
                <a:spcPct val="100000"/>
              </a:lnSpc>
              <a:spcBef>
                <a:spcPct val="0"/>
              </a:spcBef>
              <a:spcAft>
                <a:spcPct val="0"/>
              </a:spcAft>
              <a:buClrTx/>
              <a:buSzTx/>
              <a:buFontTx/>
              <a:buNone/>
              <a:tabLst/>
            </a:pPr>
            <a:endParaRPr kumimoji="0" lang="en-US" altLang="en-US" sz="160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7938" algn="just" defTabSz="914400" rtl="0" eaLnBrk="0" fontAlgn="base" latinLnBrk="0" hangingPunct="0">
              <a:lnSpc>
                <a:spcPct val="100000"/>
              </a:lnSpc>
              <a:spcBef>
                <a:spcPct val="0"/>
              </a:spcBef>
              <a:spcAft>
                <a:spcPct val="0"/>
              </a:spcAft>
              <a:buClrTx/>
              <a:buSzTx/>
              <a:buFontTx/>
              <a:buNone/>
              <a:tabLst/>
            </a:pPr>
            <a:r>
              <a:rPr kumimoji="0" lang="en-US" altLang="en-US" sz="200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Refactoring is the process of changing a software system in such a way that it does not alter the external behavior of the code [design] yet improves its internal system </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3"/>
          <a:stretch>
            <a:fillRect/>
          </a:stretch>
        </p:blipFill>
        <p:spPr>
          <a:xfrm>
            <a:off x="345027" y="3561835"/>
            <a:ext cx="11097318" cy="2338281"/>
          </a:xfrm>
          <a:prstGeom prst="rect">
            <a:avLst/>
          </a:prstGeom>
        </p:spPr>
      </p:pic>
      <p:pic>
        <p:nvPicPr>
          <p:cNvPr id="8" name="Picture 7" descr="gitam_logo.png"/>
          <p:cNvPicPr>
            <a:picLocks noChangeAspect="1"/>
          </p:cNvPicPr>
          <p:nvPr/>
        </p:nvPicPr>
        <p:blipFill>
          <a:blip r:embed="rId4"/>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3916299941"/>
      </p:ext>
    </p:extLst>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4" name="Rectangle 3"/>
          <p:cNvSpPr/>
          <p:nvPr/>
        </p:nvSpPr>
        <p:spPr>
          <a:xfrm>
            <a:off x="160866" y="269017"/>
            <a:ext cx="11430001" cy="5203989"/>
          </a:xfrm>
          <a:prstGeom prst="rect">
            <a:avLst/>
          </a:prstGeom>
        </p:spPr>
        <p:txBody>
          <a:bodyPr wrap="square">
            <a:spAutoFit/>
          </a:bodyPr>
          <a:lstStyle/>
          <a:p>
            <a:pPr>
              <a:lnSpc>
                <a:spcPct val="90000"/>
              </a:lnSpc>
              <a:spcAft>
                <a:spcPts val="1200"/>
              </a:spcAft>
              <a:defRPr/>
            </a:pPr>
            <a:r>
              <a:rPr lang="en-US" sz="2400" b="1" dirty="0"/>
              <a:t>                                                         </a:t>
            </a:r>
            <a:r>
              <a:rPr lang="en-US" sz="3600" b="1" dirty="0">
                <a:latin typeface="Times New Roman" panose="02020603050405020304" pitchFamily="18" charset="0"/>
                <a:cs typeface="Times New Roman" panose="02020603050405020304" pitchFamily="18" charset="0"/>
              </a:rPr>
              <a:t>Architecture </a:t>
            </a:r>
          </a:p>
          <a:p>
            <a:pPr>
              <a:lnSpc>
                <a:spcPct val="90000"/>
              </a:lnSpc>
              <a:spcAft>
                <a:spcPts val="1200"/>
              </a:spcAft>
              <a:buNone/>
              <a:defRPr/>
            </a:pPr>
            <a:r>
              <a:rPr lang="en-GB" sz="2200" dirty="0">
                <a:latin typeface="Cambria" pitchFamily="18" charset="0"/>
              </a:rPr>
              <a:t>The overall structure of the software and the ways in which the structure provides </a:t>
            </a:r>
            <a:r>
              <a:rPr lang="en-GB" sz="2200" i="1" dirty="0">
                <a:solidFill>
                  <a:srgbClr val="C00000"/>
                </a:solidFill>
                <a:latin typeface="Cambria" pitchFamily="18" charset="0"/>
              </a:rPr>
              <a:t>conceptual integrity</a:t>
            </a:r>
            <a:r>
              <a:rPr lang="en-GB" sz="2200" dirty="0">
                <a:latin typeface="Cambria" pitchFamily="18" charset="0"/>
              </a:rPr>
              <a:t> for a system :</a:t>
            </a:r>
          </a:p>
          <a:p>
            <a:pPr lvl="1">
              <a:lnSpc>
                <a:spcPct val="90000"/>
              </a:lnSpc>
              <a:spcAft>
                <a:spcPts val="1200"/>
              </a:spcAft>
              <a:buFont typeface="Wingdings" pitchFamily="2" charset="2"/>
              <a:buChar char="§"/>
              <a:defRPr/>
            </a:pPr>
            <a:r>
              <a:rPr lang="en-GB" sz="2000" dirty="0">
                <a:latin typeface="Cambria" pitchFamily="18" charset="0"/>
              </a:rPr>
              <a:t>Consists of components, connectors, and the relationship between them.</a:t>
            </a:r>
            <a:endParaRPr lang="en-US" sz="2000" dirty="0">
              <a:latin typeface="Cambria" pitchFamily="18" charset="0"/>
            </a:endParaRPr>
          </a:p>
          <a:p>
            <a:pPr lvl="1">
              <a:lnSpc>
                <a:spcPct val="90000"/>
              </a:lnSpc>
              <a:spcAft>
                <a:spcPts val="1200"/>
              </a:spcAft>
              <a:buFont typeface="Wingdings" pitchFamily="2" charset="2"/>
              <a:buChar char="§"/>
              <a:defRPr/>
            </a:pPr>
            <a:r>
              <a:rPr lang="en-US" sz="2000" dirty="0">
                <a:latin typeface="Cambria" pitchFamily="18" charset="0"/>
              </a:rPr>
              <a:t>Some of the Architecture models are described below, </a:t>
            </a:r>
          </a:p>
          <a:p>
            <a:pPr lvl="1">
              <a:lnSpc>
                <a:spcPct val="90000"/>
              </a:lnSpc>
              <a:spcAft>
                <a:spcPts val="1200"/>
              </a:spcAft>
              <a:buFont typeface="Wingdings" pitchFamily="2" charset="2"/>
              <a:buChar char="§"/>
              <a:defRPr/>
            </a:pPr>
            <a:r>
              <a:rPr lang="en-US" sz="2000" b="1" dirty="0">
                <a:solidFill>
                  <a:schemeClr val="bg2">
                    <a:lumMod val="25000"/>
                  </a:schemeClr>
                </a:solidFill>
                <a:latin typeface="Cambria" pitchFamily="18" charset="0"/>
              </a:rPr>
              <a:t>Structural models </a:t>
            </a:r>
            <a:r>
              <a:rPr lang="en-US" sz="2000" dirty="0">
                <a:latin typeface="Cambria" pitchFamily="18" charset="0"/>
              </a:rPr>
              <a:t>– architecture as organized collection of components</a:t>
            </a:r>
          </a:p>
          <a:p>
            <a:pPr lvl="1">
              <a:lnSpc>
                <a:spcPct val="90000"/>
              </a:lnSpc>
              <a:spcAft>
                <a:spcPts val="1200"/>
              </a:spcAft>
              <a:buFont typeface="Wingdings" pitchFamily="2" charset="2"/>
              <a:buChar char="§"/>
              <a:defRPr/>
            </a:pPr>
            <a:r>
              <a:rPr lang="en-US" sz="2000" b="1" dirty="0">
                <a:solidFill>
                  <a:schemeClr val="bg2">
                    <a:lumMod val="25000"/>
                  </a:schemeClr>
                </a:solidFill>
                <a:latin typeface="Cambria" pitchFamily="18" charset="0"/>
              </a:rPr>
              <a:t>Framework models </a:t>
            </a:r>
            <a:r>
              <a:rPr lang="en-US" sz="2000" dirty="0">
                <a:latin typeface="Cambria" pitchFamily="18" charset="0"/>
              </a:rPr>
              <a:t>– attempt to identify repeatable architectural patterns</a:t>
            </a:r>
          </a:p>
          <a:p>
            <a:pPr lvl="1">
              <a:lnSpc>
                <a:spcPct val="90000"/>
              </a:lnSpc>
              <a:spcAft>
                <a:spcPts val="1200"/>
              </a:spcAft>
              <a:buFont typeface="Wingdings" pitchFamily="2" charset="2"/>
              <a:buChar char="§"/>
              <a:defRPr/>
            </a:pPr>
            <a:r>
              <a:rPr lang="en-US" sz="2000" b="1" dirty="0">
                <a:solidFill>
                  <a:schemeClr val="bg2">
                    <a:lumMod val="25000"/>
                  </a:schemeClr>
                </a:solidFill>
                <a:latin typeface="Cambria" pitchFamily="18" charset="0"/>
              </a:rPr>
              <a:t>Dynamic models </a:t>
            </a:r>
            <a:r>
              <a:rPr lang="en-US" sz="2000" dirty="0">
                <a:latin typeface="Cambria" pitchFamily="18" charset="0"/>
              </a:rPr>
              <a:t>– indicate how program structure changes as a function of external events</a:t>
            </a:r>
          </a:p>
          <a:p>
            <a:pPr lvl="1">
              <a:lnSpc>
                <a:spcPct val="90000"/>
              </a:lnSpc>
              <a:spcAft>
                <a:spcPts val="1200"/>
              </a:spcAft>
              <a:buFont typeface="Wingdings" pitchFamily="2" charset="2"/>
              <a:buChar char="§"/>
              <a:defRPr/>
            </a:pPr>
            <a:r>
              <a:rPr lang="en-US" sz="2000" b="1" dirty="0">
                <a:solidFill>
                  <a:schemeClr val="bg2">
                    <a:lumMod val="25000"/>
                  </a:schemeClr>
                </a:solidFill>
                <a:latin typeface="Cambria" pitchFamily="18" charset="0"/>
              </a:rPr>
              <a:t>Process models </a:t>
            </a:r>
            <a:r>
              <a:rPr lang="en-US" sz="2000" dirty="0">
                <a:latin typeface="Cambria" pitchFamily="18" charset="0"/>
              </a:rPr>
              <a:t>– focus on the design of the business or technical process that system must accommodate</a:t>
            </a:r>
          </a:p>
          <a:p>
            <a:pPr lvl="1">
              <a:lnSpc>
                <a:spcPct val="90000"/>
              </a:lnSpc>
              <a:spcAft>
                <a:spcPts val="1200"/>
              </a:spcAft>
              <a:buFont typeface="Wingdings" pitchFamily="2" charset="2"/>
              <a:buChar char="§"/>
              <a:defRPr/>
            </a:pPr>
            <a:r>
              <a:rPr lang="en-US" sz="2000" b="1" dirty="0">
                <a:solidFill>
                  <a:schemeClr val="bg2">
                    <a:lumMod val="25000"/>
                  </a:schemeClr>
                </a:solidFill>
                <a:latin typeface="Cambria" pitchFamily="18" charset="0"/>
              </a:rPr>
              <a:t>Functional models </a:t>
            </a:r>
            <a:r>
              <a:rPr lang="en-US" dirty="0">
                <a:latin typeface="Cambria" pitchFamily="18" charset="0"/>
              </a:rPr>
              <a:t>– </a:t>
            </a:r>
            <a:r>
              <a:rPr lang="en-US" sz="2000" dirty="0">
                <a:latin typeface="Cambria" pitchFamily="18" charset="0"/>
              </a:rPr>
              <a:t>used to represent system functional hierarchy</a:t>
            </a:r>
          </a:p>
          <a:p>
            <a:pPr lvl="1">
              <a:spcBef>
                <a:spcPts val="450"/>
              </a:spcBef>
              <a:spcAft>
                <a:spcPts val="120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endParaRPr lang="en-GB" sz="2200" dirty="0">
              <a:latin typeface="Cambria" pitchFamily="18" charset="0"/>
            </a:endParaRPr>
          </a:p>
        </p:txBody>
      </p:sp>
      <p:pic>
        <p:nvPicPr>
          <p:cNvPr id="5" name="Picture 4" descr="gitam_logo.png"/>
          <p:cNvPicPr>
            <a:picLocks noChangeAspect="1"/>
          </p:cNvPicPr>
          <p:nvPr/>
        </p:nvPicPr>
        <p:blipFill>
          <a:blip r:embed="rId3"/>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1631167597"/>
      </p:ext>
    </p:extLst>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3"/>
          <a:stretch>
            <a:fillRect/>
          </a:stretch>
        </p:blipFill>
        <p:spPr>
          <a:xfrm>
            <a:off x="228601" y="274638"/>
            <a:ext cx="11074400" cy="5922962"/>
          </a:xfrm>
          <a:prstGeom prst="rect">
            <a:avLst/>
          </a:prstGeom>
        </p:spPr>
      </p:pic>
    </p:spTree>
    <p:extLst>
      <p:ext uri="{BB962C8B-B14F-4D97-AF65-F5344CB8AC3E}">
        <p14:creationId xmlns:p14="http://schemas.microsoft.com/office/powerpoint/2010/main" val="1899499167"/>
      </p:ext>
    </p:extLst>
  </p:cSld>
  <p:clrMapOvr>
    <a:overrideClrMapping bg1="lt1" tx1="dk1" bg2="lt2" tx2="dk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3" name="Title 1"/>
          <p:cNvSpPr txBox="1">
            <a:spLocks/>
          </p:cNvSpPr>
          <p:nvPr/>
        </p:nvSpPr>
        <p:spPr>
          <a:xfrm>
            <a:off x="1236133" y="0"/>
            <a:ext cx="8873068" cy="98689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solidFill>
                  <a:srgbClr val="FF0000"/>
                </a:solidFill>
                <a:effectLst>
                  <a:outerShdw blurRad="38100" dist="38100" dir="2700000" algn="tl">
                    <a:srgbClr val="000000">
                      <a:alpha val="43137"/>
                    </a:srgbClr>
                  </a:outerShdw>
                </a:effectLst>
                <a:latin typeface="Cambria" pitchFamily="18" charset="0"/>
              </a:rPr>
              <a:t>Patterns</a:t>
            </a:r>
            <a:endParaRPr lang="en-US" sz="4800" b="1" dirty="0">
              <a:solidFill>
                <a:srgbClr val="FF0000"/>
              </a:solidFill>
              <a:effectLst>
                <a:outerShdw blurRad="38100" dist="38100" dir="2700000" algn="tl">
                  <a:srgbClr val="000000">
                    <a:alpha val="43137"/>
                  </a:srgbClr>
                </a:outerShdw>
              </a:effectLst>
            </a:endParaRPr>
          </a:p>
        </p:txBody>
      </p:sp>
      <p:sp>
        <p:nvSpPr>
          <p:cNvPr id="4" name="Title 1"/>
          <p:cNvSpPr txBox="1">
            <a:spLocks/>
          </p:cNvSpPr>
          <p:nvPr/>
        </p:nvSpPr>
        <p:spPr>
          <a:xfrm>
            <a:off x="94343" y="838200"/>
            <a:ext cx="12003314" cy="5128379"/>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endParaRPr lang="en-US" sz="2400" dirty="0"/>
          </a:p>
          <a:p>
            <a:pPr marL="342900" indent="-342900"/>
            <a:r>
              <a:rPr lang="en-US" sz="2400" dirty="0">
                <a:latin typeface="Times New Roman" panose="02020603050405020304" pitchFamily="18" charset="0"/>
                <a:cs typeface="Times New Roman" panose="02020603050405020304" pitchFamily="18" charset="0"/>
              </a:rPr>
              <a:t>Software engineer can use the design pattern during the entire software design process.</a:t>
            </a:r>
          </a:p>
          <a:p>
            <a:pPr marL="342900" indent="-342900"/>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Each pattern is to provide an insight to a designer who can determine the following-:</a:t>
            </a:r>
          </a:p>
          <a:p>
            <a:endParaRPr lang="en-US" sz="2400" dirty="0">
              <a:latin typeface="Times New Roman" panose="02020603050405020304" pitchFamily="18" charset="0"/>
              <a:cs typeface="Times New Roman" panose="02020603050405020304" pitchFamily="18" charset="0"/>
            </a:endParaRPr>
          </a:p>
          <a:p>
            <a:pPr marL="290513" lvl="0" indent="-290513">
              <a:lnSpc>
                <a:spcPct val="150000"/>
              </a:lnSpc>
              <a:buClr>
                <a:schemeClr val="accent1">
                  <a:lumMod val="75000"/>
                </a:schemeClr>
              </a:buClr>
              <a:buFont typeface="Wingdings" pitchFamily="2" charset="2"/>
              <a:buChar char="§"/>
            </a:pPr>
            <a:r>
              <a:rPr lang="en-US" sz="2400" dirty="0">
                <a:latin typeface="Times New Roman" panose="02020603050405020304" pitchFamily="18" charset="0"/>
                <a:cs typeface="Times New Roman" panose="02020603050405020304" pitchFamily="18" charset="0"/>
              </a:rPr>
              <a:t>Whether the </a:t>
            </a:r>
            <a:r>
              <a:rPr lang="en-US" sz="2400" i="1" dirty="0">
                <a:latin typeface="Times New Roman" panose="02020603050405020304" pitchFamily="18" charset="0"/>
                <a:cs typeface="Times New Roman" panose="02020603050405020304" pitchFamily="18" charset="0"/>
              </a:rPr>
              <a:t>pattern can be reused.</a:t>
            </a:r>
          </a:p>
          <a:p>
            <a:pPr marL="290513" lvl="0" indent="-290513">
              <a:lnSpc>
                <a:spcPct val="150000"/>
              </a:lnSpc>
              <a:buClr>
                <a:schemeClr val="accent1">
                  <a:lumMod val="75000"/>
                </a:schemeClr>
              </a:buClr>
              <a:buFont typeface="Wingdings" pitchFamily="2" charset="2"/>
              <a:buChar char="§"/>
            </a:pPr>
            <a:r>
              <a:rPr lang="en-US" sz="2400" dirty="0">
                <a:latin typeface="Times New Roman" panose="02020603050405020304" pitchFamily="18" charset="0"/>
                <a:cs typeface="Times New Roman" panose="02020603050405020304" pitchFamily="18" charset="0"/>
              </a:rPr>
              <a:t>Whether the pattern is applicable to the current project.</a:t>
            </a:r>
          </a:p>
          <a:p>
            <a:pPr marL="290513" lvl="0" indent="-290513">
              <a:lnSpc>
                <a:spcPct val="150000"/>
              </a:lnSpc>
              <a:buClr>
                <a:schemeClr val="accent1">
                  <a:lumMod val="75000"/>
                </a:schemeClr>
              </a:buClr>
              <a:buFont typeface="Wingdings" pitchFamily="2" charset="2"/>
              <a:buChar char="§"/>
            </a:pPr>
            <a:r>
              <a:rPr lang="en-US" sz="2400" dirty="0">
                <a:latin typeface="Times New Roman" panose="02020603050405020304" pitchFamily="18" charset="0"/>
                <a:cs typeface="Times New Roman" panose="02020603050405020304" pitchFamily="18" charset="0"/>
              </a:rPr>
              <a:t>Whether the pattern can be used to develop a similar but functionally or structurally different design pattern.</a:t>
            </a:r>
          </a:p>
          <a:p>
            <a:pPr marL="342900" indent="-342900">
              <a:lnSpc>
                <a:spcPct val="150000"/>
              </a:lnSpc>
            </a:pPr>
            <a:r>
              <a:rPr lang="en-US" sz="2400" dirty="0"/>
              <a:t> </a:t>
            </a:r>
            <a:endParaRPr lang="en-US" sz="2400" dirty="0">
              <a:latin typeface="+mn-lt"/>
            </a:endParaRPr>
          </a:p>
        </p:txBody>
      </p:sp>
      <p:sp>
        <p:nvSpPr>
          <p:cNvPr id="5" name="Slide Number Placeholder 4"/>
          <p:cNvSpPr>
            <a:spLocks noGrp="1"/>
          </p:cNvSpPr>
          <p:nvPr>
            <p:ph type="sldNum" sz="quarter" idx="12"/>
          </p:nvPr>
        </p:nvSpPr>
        <p:spPr/>
        <p:txBody>
          <a:bodyPr/>
          <a:lstStyle/>
          <a:p>
            <a:endParaRPr lang="en-US" dirty="0"/>
          </a:p>
        </p:txBody>
      </p:sp>
      <p:pic>
        <p:nvPicPr>
          <p:cNvPr id="6" name="Picture 5" descr="gitam_logo.png"/>
          <p:cNvPicPr>
            <a:picLocks noChangeAspect="1"/>
          </p:cNvPicPr>
          <p:nvPr/>
        </p:nvPicPr>
        <p:blipFill>
          <a:blip r:embed="rId3"/>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2499468423"/>
      </p:ext>
    </p:extLst>
  </p:cSld>
  <p:clrMapOvr>
    <a:overrideClrMapping bg1="lt1" tx1="dk1" bg2="lt2" tx2="dk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061563"/>
            <a:ext cx="11359704" cy="4386132"/>
          </a:xfrm>
        </p:spPr>
        <p:txBody>
          <a:bodyPr>
            <a:noAutofit/>
          </a:bodyPr>
          <a:lstStyle/>
          <a:p>
            <a:pPr>
              <a:lnSpc>
                <a:spcPct val="150000"/>
              </a:lnSpc>
            </a:pPr>
            <a:r>
              <a:rPr lang="en-US" dirty="0">
                <a:latin typeface="Times New Roman" panose="02020603050405020304" pitchFamily="18" charset="0"/>
                <a:cs typeface="Times New Roman" panose="02020603050405020304" pitchFamily="18" charset="0"/>
              </a:rPr>
              <a:t>The requirements model defines a set of analysis classes</a:t>
            </a:r>
          </a:p>
          <a:p>
            <a:pPr>
              <a:lnSpc>
                <a:spcPct val="150000"/>
              </a:lnSpc>
            </a:pPr>
            <a:r>
              <a:rPr lang="en-US" dirty="0">
                <a:latin typeface="Times New Roman" panose="02020603050405020304" pitchFamily="18" charset="0"/>
                <a:cs typeface="Times New Roman" panose="02020603050405020304" pitchFamily="18" charset="0"/>
              </a:rPr>
              <a:t>Set of </a:t>
            </a:r>
            <a:r>
              <a:rPr lang="en-US" i="1" dirty="0">
                <a:latin typeface="Times New Roman" panose="02020603050405020304" pitchFamily="18" charset="0"/>
                <a:cs typeface="Times New Roman" panose="02020603050405020304" pitchFamily="18" charset="0"/>
              </a:rPr>
              <a:t>design classes </a:t>
            </a:r>
            <a:r>
              <a:rPr lang="en-US" dirty="0">
                <a:latin typeface="Times New Roman" panose="02020603050405020304" pitchFamily="18" charset="0"/>
                <a:cs typeface="Times New Roman" panose="02020603050405020304" pitchFamily="18" charset="0"/>
              </a:rPr>
              <a:t>that refine the analysis classes by providing design detail that will enable the classes to be implemented, and implement a software infrastructure that supports the business solution.</a:t>
            </a:r>
          </a:p>
        </p:txBody>
      </p:sp>
      <p:sp>
        <p:nvSpPr>
          <p:cNvPr id="5" name="Slide Number Placeholder 4"/>
          <p:cNvSpPr>
            <a:spLocks noGrp="1"/>
          </p:cNvSpPr>
          <p:nvPr>
            <p:ph type="sldNum" sz="quarter" idx="12"/>
          </p:nvPr>
        </p:nvSpPr>
        <p:spPr/>
        <p:txBody>
          <a:bodyPr/>
          <a:lstStyle/>
          <a:p>
            <a:endParaRPr lang="en-US" dirty="0"/>
          </a:p>
        </p:txBody>
      </p:sp>
      <p:sp>
        <p:nvSpPr>
          <p:cNvPr id="4" name="Title 1"/>
          <p:cNvSpPr txBox="1">
            <a:spLocks/>
          </p:cNvSpPr>
          <p:nvPr/>
        </p:nvSpPr>
        <p:spPr>
          <a:xfrm>
            <a:off x="0" y="0"/>
            <a:ext cx="121920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effectLst>
                  <a:outerShdw blurRad="38100" dist="38100" dir="2700000" algn="tl">
                    <a:srgbClr val="000000">
                      <a:alpha val="43137"/>
                    </a:srgbClr>
                  </a:outerShdw>
                </a:effectLst>
                <a:latin typeface="Cambria" pitchFamily="18" charset="0"/>
              </a:rPr>
              <a:t>Design Classes</a:t>
            </a:r>
            <a:endParaRPr lang="en-US" sz="4800" dirty="0">
              <a:effectLst>
                <a:outerShdw blurRad="38100" dist="38100" dir="2700000" algn="tl">
                  <a:srgbClr val="000000">
                    <a:alpha val="43137"/>
                  </a:srgbClr>
                </a:outerShdw>
              </a:effectLst>
            </a:endParaRPr>
          </a:p>
        </p:txBody>
      </p:sp>
      <p:pic>
        <p:nvPicPr>
          <p:cNvPr id="6" name="Picture 5" descr="gitam_logo.png"/>
          <p:cNvPicPr>
            <a:picLocks noChangeAspect="1"/>
          </p:cNvPicPr>
          <p:nvPr/>
        </p:nvPicPr>
        <p:blipFill>
          <a:blip r:embed="rId3"/>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3313802077"/>
      </p:ext>
    </p:extLst>
  </p:cSld>
  <p:clrMapOvr>
    <a:overrideClrMapping bg1="lt1" tx1="dk1" bg2="lt2" tx2="dk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7633" y="342627"/>
            <a:ext cx="10854267" cy="636361"/>
          </a:xfrm>
        </p:spPr>
        <p:txBody>
          <a:bodyPr>
            <a:noAutofit/>
          </a:bodyPr>
          <a:lstStyle/>
          <a:p>
            <a:pPr algn="ctr"/>
            <a:r>
              <a:rPr lang="en-US" sz="2800" dirty="0">
                <a:effectLst>
                  <a:outerShdw blurRad="38100" dist="38100" dir="2700000" algn="tl">
                    <a:srgbClr val="000000">
                      <a:alpha val="43137"/>
                    </a:srgbClr>
                  </a:outerShdw>
                </a:effectLst>
                <a:latin typeface="Cambria" pitchFamily="18" charset="0"/>
              </a:rPr>
              <a:t>Design class for FloorPlan and composite aggregation for the class</a:t>
            </a:r>
            <a:br>
              <a:rPr lang="en-US" sz="2800" dirty="0">
                <a:effectLst>
                  <a:outerShdw blurRad="38100" dist="38100" dir="2700000" algn="tl">
                    <a:srgbClr val="000000">
                      <a:alpha val="43137"/>
                    </a:srgbClr>
                  </a:outerShdw>
                </a:effectLst>
                <a:latin typeface="Cambria" pitchFamily="18" charset="0"/>
              </a:rPr>
            </a:br>
            <a:endParaRPr lang="en-US" sz="2800" dirty="0">
              <a:effectLst>
                <a:outerShdw blurRad="38100" dist="38100" dir="2700000" algn="tl">
                  <a:srgbClr val="000000">
                    <a:alpha val="43137"/>
                  </a:srgbClr>
                </a:outerShdw>
              </a:effectLst>
              <a:latin typeface="Cambria" pitchFamily="18" charset="0"/>
            </a:endParaRPr>
          </a:p>
        </p:txBody>
      </p:sp>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885389" y="863601"/>
            <a:ext cx="9638678" cy="5675312"/>
          </a:xfrm>
        </p:spPr>
      </p:pic>
      <p:sp>
        <p:nvSpPr>
          <p:cNvPr id="5" name="Slide Number Placeholder 4"/>
          <p:cNvSpPr>
            <a:spLocks noGrp="1"/>
          </p:cNvSpPr>
          <p:nvPr>
            <p:ph type="sldNum" sz="quarter" idx="12"/>
          </p:nvPr>
        </p:nvSpPr>
        <p:spPr/>
        <p:txBody>
          <a:bodyPr/>
          <a:lstStyle/>
          <a:p>
            <a:fld id="{6364E262-8944-447C-B1E6-4AAB066E807B}" type="slidenum">
              <a:rPr lang="en-US" smtClean="0"/>
              <a:pPr/>
              <a:t>35</a:t>
            </a:fld>
            <a:endParaRPr lang="en-US"/>
          </a:p>
        </p:txBody>
      </p:sp>
      <p:pic>
        <p:nvPicPr>
          <p:cNvPr id="6" name="Picture 5" descr="gitam_logo.png"/>
          <p:cNvPicPr>
            <a:picLocks noChangeAspect="1"/>
          </p:cNvPicPr>
          <p:nvPr/>
        </p:nvPicPr>
        <p:blipFill>
          <a:blip r:embed="rId4"/>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801660834"/>
      </p:ext>
    </p:extLst>
  </p:cSld>
  <p:clrMapOvr>
    <a:overrideClrMapping bg1="lt1" tx1="dk1" bg2="lt2" tx2="dk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3" name="Text 1"/>
          <p:cNvSpPr/>
          <p:nvPr/>
        </p:nvSpPr>
        <p:spPr>
          <a:xfrm>
            <a:off x="548640" y="658368"/>
            <a:ext cx="10881360" cy="822960"/>
          </a:xfrm>
          <a:prstGeom prst="rect">
            <a:avLst/>
          </a:prstGeom>
          <a:noFill/>
          <a:ln/>
        </p:spPr>
        <p:txBody>
          <a:bodyPr wrap="square" rtlCol="0" anchor="t"/>
          <a:lstStyle/>
          <a:p>
            <a:pPr marL="0" indent="0" algn="l">
              <a:buNone/>
            </a:pPr>
            <a:r>
              <a:rPr lang="en-US" sz="3100" b="1" dirty="0">
                <a:solidFill>
                  <a:srgbClr val="13294B"/>
                </a:solidFill>
                <a:latin typeface="Cambria" pitchFamily="34" charset="0"/>
                <a:ea typeface="Cambria" pitchFamily="34" charset="-122"/>
                <a:cs typeface="Cambria" pitchFamily="34" charset="-120"/>
              </a:rPr>
              <a:t>Layered arrangement of modules</a:t>
            </a:r>
            <a:endParaRPr lang="en-US" sz="3100" dirty="0"/>
          </a:p>
        </p:txBody>
      </p:sp>
      <p:sp>
        <p:nvSpPr>
          <p:cNvPr id="6" name="Text 4"/>
          <p:cNvSpPr/>
          <p:nvPr/>
        </p:nvSpPr>
        <p:spPr>
          <a:xfrm>
            <a:off x="11292840" y="6382512"/>
            <a:ext cx="502920" cy="329184"/>
          </a:xfrm>
          <a:prstGeom prst="rect">
            <a:avLst/>
          </a:prstGeom>
          <a:noFill/>
          <a:ln/>
        </p:spPr>
        <p:txBody>
          <a:bodyPr wrap="square" rtlCol="0" anchor="ctr"/>
          <a:lstStyle/>
          <a:p>
            <a:pPr marL="0" indent="0" algn="r">
              <a:buNone/>
            </a:pPr>
            <a:r>
              <a:rPr lang="en-US" sz="1100" b="1" dirty="0">
                <a:solidFill>
                  <a:srgbClr val="35618E"/>
                </a:solidFill>
                <a:latin typeface="Calibri" pitchFamily="34" charset="0"/>
                <a:ea typeface="Calibri" pitchFamily="34" charset="-122"/>
                <a:cs typeface="Calibri" pitchFamily="34" charset="-120"/>
              </a:rPr>
              <a:t>16</a:t>
            </a:r>
            <a:endParaRPr lang="en-US" sz="1100" dirty="0"/>
          </a:p>
        </p:txBody>
      </p:sp>
      <p:sp>
        <p:nvSpPr>
          <p:cNvPr id="7" name="Text 5"/>
          <p:cNvSpPr/>
          <p:nvPr/>
        </p:nvSpPr>
        <p:spPr>
          <a:xfrm>
            <a:off x="143933" y="1325880"/>
            <a:ext cx="11395795" cy="795528"/>
          </a:xfrm>
          <a:prstGeom prst="rect">
            <a:avLst/>
          </a:prstGeom>
          <a:noFill/>
          <a:ln/>
        </p:spPr>
        <p:txBody>
          <a:bodyPr wrap="square" lIns="0" tIns="0" rIns="0" bIns="0" rtlCol="0" anchor="t"/>
          <a:lstStyle/>
          <a:p>
            <a:pPr marL="0" indent="0" algn="l">
              <a:lnSpc>
                <a:spcPct val="112000"/>
              </a:lnSpc>
              <a:buNone/>
            </a:pPr>
            <a:r>
              <a:rPr lang="en-US" sz="2000" dirty="0">
                <a:latin typeface="Times New Roman" panose="02020603050405020304" pitchFamily="18" charset="0"/>
                <a:ea typeface="Calibri" pitchFamily="34" charset="-122"/>
                <a:cs typeface="Times New Roman" panose="02020603050405020304" pitchFamily="18" charset="0"/>
              </a:rPr>
              <a:t>In a good design, modules are arranged in a hierarchy (a tree-like control structure). Higher-level modules control and invoke lower-level ones. The control hierarchy is captured in a structure chart.</a:t>
            </a:r>
            <a:endParaRPr lang="en-US" sz="2000" dirty="0">
              <a:latin typeface="Times New Roman" panose="02020603050405020304" pitchFamily="18" charset="0"/>
              <a:cs typeface="Times New Roman" panose="02020603050405020304" pitchFamily="18" charset="0"/>
            </a:endParaRPr>
          </a:p>
        </p:txBody>
      </p:sp>
      <p:sp>
        <p:nvSpPr>
          <p:cNvPr id="8" name="Shape 6"/>
          <p:cNvSpPr/>
          <p:nvPr/>
        </p:nvSpPr>
        <p:spPr>
          <a:xfrm>
            <a:off x="2514600" y="2331720"/>
            <a:ext cx="1371600" cy="502920"/>
          </a:xfrm>
          <a:prstGeom prst="roundRect">
            <a:avLst>
              <a:gd name="adj" fmla="val 12727"/>
            </a:avLst>
          </a:prstGeom>
          <a:solidFill>
            <a:srgbClr val="13294B"/>
          </a:solidFill>
          <a:ln/>
          <a:effectLst>
            <a:outerShdw blurRad="1016" dist="508" dir="5400000" algn="bl" rotWithShape="0">
              <a:srgbClr val="1B3A5F">
                <a:alpha val="20000"/>
              </a:srgbClr>
            </a:outerShdw>
          </a:effectLst>
        </p:spPr>
      </p:sp>
      <p:sp>
        <p:nvSpPr>
          <p:cNvPr id="9" name="Text 7"/>
          <p:cNvSpPr/>
          <p:nvPr/>
        </p:nvSpPr>
        <p:spPr>
          <a:xfrm>
            <a:off x="2514600" y="2331720"/>
            <a:ext cx="1371600" cy="502920"/>
          </a:xfrm>
          <a:prstGeom prst="rect">
            <a:avLst/>
          </a:prstGeom>
          <a:noFill/>
          <a:ln/>
        </p:spPr>
        <p:txBody>
          <a:bodyPr wrap="square" lIns="0" tIns="0" rIns="0" bIns="0" rtlCol="0" anchor="ctr"/>
          <a:lstStyle/>
          <a:p>
            <a:pPr marL="0" indent="0" algn="ctr">
              <a:lnSpc>
                <a:spcPct val="100000"/>
              </a:lnSpc>
              <a:buNone/>
            </a:pPr>
            <a:r>
              <a:rPr lang="en-US" sz="1150" b="1" dirty="0">
                <a:solidFill>
                  <a:srgbClr val="FFFFFF"/>
                </a:solidFill>
                <a:latin typeface="Calibri" pitchFamily="34" charset="0"/>
                <a:ea typeface="Calibri" pitchFamily="34" charset="-122"/>
                <a:cs typeface="Calibri" pitchFamily="34" charset="-120"/>
              </a:rPr>
              <a:t>Main</a:t>
            </a:r>
            <a:endParaRPr lang="en-US" sz="1150" dirty="0"/>
          </a:p>
        </p:txBody>
      </p:sp>
      <p:sp>
        <p:nvSpPr>
          <p:cNvPr id="10" name="Shape 8"/>
          <p:cNvSpPr/>
          <p:nvPr/>
        </p:nvSpPr>
        <p:spPr>
          <a:xfrm flipH="1">
            <a:off x="1783080" y="2834640"/>
            <a:ext cx="914400" cy="502920"/>
          </a:xfrm>
          <a:prstGeom prst="line">
            <a:avLst/>
          </a:prstGeom>
          <a:noFill/>
          <a:ln w="19050">
            <a:solidFill>
              <a:srgbClr val="35618E"/>
            </a:solidFill>
            <a:prstDash val="solid"/>
          </a:ln>
        </p:spPr>
      </p:sp>
      <p:sp>
        <p:nvSpPr>
          <p:cNvPr id="11" name="Shape 9"/>
          <p:cNvSpPr/>
          <p:nvPr/>
        </p:nvSpPr>
        <p:spPr>
          <a:xfrm>
            <a:off x="3200400" y="2834640"/>
            <a:ext cx="0" cy="457200"/>
          </a:xfrm>
          <a:prstGeom prst="line">
            <a:avLst/>
          </a:prstGeom>
          <a:noFill/>
          <a:ln w="19050">
            <a:solidFill>
              <a:srgbClr val="35618E"/>
            </a:solidFill>
            <a:prstDash val="solid"/>
          </a:ln>
        </p:spPr>
      </p:sp>
      <p:sp>
        <p:nvSpPr>
          <p:cNvPr id="12" name="Shape 10"/>
          <p:cNvSpPr/>
          <p:nvPr/>
        </p:nvSpPr>
        <p:spPr>
          <a:xfrm>
            <a:off x="3657600" y="2834640"/>
            <a:ext cx="1143000" cy="457200"/>
          </a:xfrm>
          <a:prstGeom prst="line">
            <a:avLst/>
          </a:prstGeom>
          <a:noFill/>
          <a:ln w="19050">
            <a:solidFill>
              <a:srgbClr val="35618E"/>
            </a:solidFill>
            <a:prstDash val="solid"/>
          </a:ln>
        </p:spPr>
      </p:sp>
      <p:sp>
        <p:nvSpPr>
          <p:cNvPr id="13" name="Shape 11"/>
          <p:cNvSpPr/>
          <p:nvPr/>
        </p:nvSpPr>
        <p:spPr>
          <a:xfrm>
            <a:off x="1005840" y="3291840"/>
            <a:ext cx="1280160" cy="502920"/>
          </a:xfrm>
          <a:prstGeom prst="roundRect">
            <a:avLst>
              <a:gd name="adj" fmla="val 12727"/>
            </a:avLst>
          </a:prstGeom>
          <a:solidFill>
            <a:srgbClr val="35618E"/>
          </a:solidFill>
          <a:ln/>
          <a:effectLst>
            <a:outerShdw blurRad="1016" dist="508" dir="5400000" algn="bl" rotWithShape="0">
              <a:srgbClr val="1B3A5F">
                <a:alpha val="20000"/>
              </a:srgbClr>
            </a:outerShdw>
          </a:effectLst>
        </p:spPr>
      </p:sp>
      <p:sp>
        <p:nvSpPr>
          <p:cNvPr id="14" name="Text 12"/>
          <p:cNvSpPr/>
          <p:nvPr/>
        </p:nvSpPr>
        <p:spPr>
          <a:xfrm>
            <a:off x="1005840" y="3291840"/>
            <a:ext cx="1280160" cy="502920"/>
          </a:xfrm>
          <a:prstGeom prst="rect">
            <a:avLst/>
          </a:prstGeom>
          <a:noFill/>
          <a:ln/>
        </p:spPr>
        <p:txBody>
          <a:bodyPr wrap="square" lIns="0" tIns="0" rIns="0" bIns="0" rtlCol="0" anchor="ctr"/>
          <a:lstStyle/>
          <a:p>
            <a:pPr marL="0" indent="0" algn="ctr">
              <a:lnSpc>
                <a:spcPct val="100000"/>
              </a:lnSpc>
              <a:buNone/>
            </a:pPr>
            <a:r>
              <a:rPr lang="en-US" sz="1150" b="1" dirty="0">
                <a:solidFill>
                  <a:srgbClr val="FFFFFF"/>
                </a:solidFill>
                <a:latin typeface="Calibri" pitchFamily="34" charset="0"/>
                <a:ea typeface="Calibri" pitchFamily="34" charset="-122"/>
                <a:cs typeface="Calibri" pitchFamily="34" charset="-120"/>
              </a:rPr>
              <a:t>Input</a:t>
            </a:r>
            <a:endParaRPr lang="en-US" sz="1150" dirty="0"/>
          </a:p>
        </p:txBody>
      </p:sp>
      <p:sp>
        <p:nvSpPr>
          <p:cNvPr id="15" name="Shape 13"/>
          <p:cNvSpPr/>
          <p:nvPr/>
        </p:nvSpPr>
        <p:spPr>
          <a:xfrm>
            <a:off x="2606040" y="3291840"/>
            <a:ext cx="1234440" cy="502920"/>
          </a:xfrm>
          <a:prstGeom prst="roundRect">
            <a:avLst>
              <a:gd name="adj" fmla="val 12727"/>
            </a:avLst>
          </a:prstGeom>
          <a:solidFill>
            <a:srgbClr val="0E8F8F"/>
          </a:solidFill>
          <a:ln/>
          <a:effectLst>
            <a:outerShdw blurRad="1016" dist="508" dir="5400000" algn="bl" rotWithShape="0">
              <a:srgbClr val="1B3A5F">
                <a:alpha val="20000"/>
              </a:srgbClr>
            </a:outerShdw>
          </a:effectLst>
        </p:spPr>
        <p:txBody>
          <a:bodyPr/>
          <a:lstStyle/>
          <a:p>
            <a:endParaRPr lang="en-IN"/>
          </a:p>
        </p:txBody>
      </p:sp>
      <p:sp>
        <p:nvSpPr>
          <p:cNvPr id="16" name="Text 14"/>
          <p:cNvSpPr/>
          <p:nvPr/>
        </p:nvSpPr>
        <p:spPr>
          <a:xfrm>
            <a:off x="2606040" y="3291840"/>
            <a:ext cx="1234440" cy="502920"/>
          </a:xfrm>
          <a:prstGeom prst="rect">
            <a:avLst/>
          </a:prstGeom>
          <a:noFill/>
          <a:ln/>
        </p:spPr>
        <p:txBody>
          <a:bodyPr wrap="square" lIns="0" tIns="0" rIns="0" bIns="0" rtlCol="0" anchor="ctr"/>
          <a:lstStyle/>
          <a:p>
            <a:pPr marL="0" indent="0" algn="ctr">
              <a:lnSpc>
                <a:spcPct val="100000"/>
              </a:lnSpc>
              <a:buNone/>
            </a:pPr>
            <a:r>
              <a:rPr lang="en-US" sz="1150" b="1" dirty="0">
                <a:solidFill>
                  <a:srgbClr val="FFFFFF"/>
                </a:solidFill>
                <a:latin typeface="Calibri" pitchFamily="34" charset="0"/>
                <a:ea typeface="Calibri" pitchFamily="34" charset="-122"/>
                <a:cs typeface="Calibri" pitchFamily="34" charset="-120"/>
              </a:rPr>
              <a:t>Process</a:t>
            </a:r>
            <a:endParaRPr lang="en-US" sz="1150" dirty="0"/>
          </a:p>
        </p:txBody>
      </p:sp>
      <p:sp>
        <p:nvSpPr>
          <p:cNvPr id="17" name="Shape 15"/>
          <p:cNvSpPr/>
          <p:nvPr/>
        </p:nvSpPr>
        <p:spPr>
          <a:xfrm>
            <a:off x="4251960" y="3291840"/>
            <a:ext cx="1234440" cy="502920"/>
          </a:xfrm>
          <a:prstGeom prst="roundRect">
            <a:avLst>
              <a:gd name="adj" fmla="val 12727"/>
            </a:avLst>
          </a:prstGeom>
          <a:solidFill>
            <a:srgbClr val="35618E"/>
          </a:solidFill>
          <a:ln/>
          <a:effectLst>
            <a:outerShdw blurRad="1016" dist="508" dir="5400000" algn="bl" rotWithShape="0">
              <a:srgbClr val="1B3A5F">
                <a:alpha val="20000"/>
              </a:srgbClr>
            </a:outerShdw>
          </a:effectLst>
        </p:spPr>
      </p:sp>
      <p:sp>
        <p:nvSpPr>
          <p:cNvPr id="18" name="Text 16"/>
          <p:cNvSpPr/>
          <p:nvPr/>
        </p:nvSpPr>
        <p:spPr>
          <a:xfrm>
            <a:off x="4251960" y="3291840"/>
            <a:ext cx="1234440" cy="502920"/>
          </a:xfrm>
          <a:prstGeom prst="rect">
            <a:avLst/>
          </a:prstGeom>
          <a:noFill/>
          <a:ln/>
        </p:spPr>
        <p:txBody>
          <a:bodyPr wrap="square" lIns="0" tIns="0" rIns="0" bIns="0" rtlCol="0" anchor="ctr"/>
          <a:lstStyle/>
          <a:p>
            <a:pPr marL="0" indent="0" algn="ctr">
              <a:lnSpc>
                <a:spcPct val="100000"/>
              </a:lnSpc>
              <a:buNone/>
            </a:pPr>
            <a:r>
              <a:rPr lang="en-US" sz="1150" b="1" dirty="0">
                <a:solidFill>
                  <a:srgbClr val="FFFFFF"/>
                </a:solidFill>
                <a:latin typeface="Calibri" pitchFamily="34" charset="0"/>
                <a:ea typeface="Calibri" pitchFamily="34" charset="-122"/>
                <a:cs typeface="Calibri" pitchFamily="34" charset="-120"/>
              </a:rPr>
              <a:t>Output</a:t>
            </a:r>
            <a:endParaRPr lang="en-US" sz="1150" dirty="0"/>
          </a:p>
        </p:txBody>
      </p:sp>
      <p:sp>
        <p:nvSpPr>
          <p:cNvPr id="19" name="Shape 17"/>
          <p:cNvSpPr/>
          <p:nvPr/>
        </p:nvSpPr>
        <p:spPr>
          <a:xfrm flipH="1">
            <a:off x="2286000" y="3794760"/>
            <a:ext cx="914400" cy="457200"/>
          </a:xfrm>
          <a:prstGeom prst="line">
            <a:avLst/>
          </a:prstGeom>
          <a:noFill/>
          <a:ln w="19050">
            <a:solidFill>
              <a:srgbClr val="35618E"/>
            </a:solidFill>
            <a:prstDash val="solid"/>
          </a:ln>
        </p:spPr>
      </p:sp>
      <p:sp>
        <p:nvSpPr>
          <p:cNvPr id="20" name="Shape 18"/>
          <p:cNvSpPr/>
          <p:nvPr/>
        </p:nvSpPr>
        <p:spPr>
          <a:xfrm>
            <a:off x="3246120" y="3794760"/>
            <a:ext cx="914400" cy="457200"/>
          </a:xfrm>
          <a:prstGeom prst="line">
            <a:avLst/>
          </a:prstGeom>
          <a:noFill/>
          <a:ln w="19050">
            <a:solidFill>
              <a:srgbClr val="35618E"/>
            </a:solidFill>
            <a:prstDash val="solid"/>
          </a:ln>
        </p:spPr>
      </p:sp>
      <p:sp>
        <p:nvSpPr>
          <p:cNvPr id="21" name="Shape 19"/>
          <p:cNvSpPr/>
          <p:nvPr/>
        </p:nvSpPr>
        <p:spPr>
          <a:xfrm>
            <a:off x="1645920" y="4251960"/>
            <a:ext cx="1188720" cy="502920"/>
          </a:xfrm>
          <a:prstGeom prst="roundRect">
            <a:avLst>
              <a:gd name="adj" fmla="val 12727"/>
            </a:avLst>
          </a:prstGeom>
          <a:solidFill>
            <a:srgbClr val="D98A28"/>
          </a:solidFill>
          <a:ln/>
          <a:effectLst>
            <a:outerShdw blurRad="1016" dist="508" dir="5400000" algn="bl" rotWithShape="0">
              <a:srgbClr val="1B3A5F">
                <a:alpha val="20000"/>
              </a:srgbClr>
            </a:outerShdw>
          </a:effectLst>
        </p:spPr>
      </p:sp>
      <p:sp>
        <p:nvSpPr>
          <p:cNvPr id="22" name="Text 20"/>
          <p:cNvSpPr/>
          <p:nvPr/>
        </p:nvSpPr>
        <p:spPr>
          <a:xfrm>
            <a:off x="1645920" y="4251960"/>
            <a:ext cx="1188720" cy="502920"/>
          </a:xfrm>
          <a:prstGeom prst="rect">
            <a:avLst/>
          </a:prstGeom>
          <a:noFill/>
          <a:ln/>
        </p:spPr>
        <p:txBody>
          <a:bodyPr wrap="square" lIns="0" tIns="0" rIns="0" bIns="0" rtlCol="0" anchor="ctr"/>
          <a:lstStyle/>
          <a:p>
            <a:pPr marL="0" indent="0" algn="ctr">
              <a:lnSpc>
                <a:spcPct val="100000"/>
              </a:lnSpc>
              <a:buNone/>
            </a:pPr>
            <a:r>
              <a:rPr lang="en-US" sz="1150" b="1" dirty="0">
                <a:solidFill>
                  <a:srgbClr val="FFFFFF"/>
                </a:solidFill>
                <a:latin typeface="Calibri" pitchFamily="34" charset="0"/>
                <a:ea typeface="Calibri" pitchFamily="34" charset="-122"/>
                <a:cs typeface="Calibri" pitchFamily="34" charset="-120"/>
              </a:rPr>
              <a:t>Compute</a:t>
            </a:r>
            <a:endParaRPr lang="en-US" sz="1150" dirty="0"/>
          </a:p>
        </p:txBody>
      </p:sp>
      <p:sp>
        <p:nvSpPr>
          <p:cNvPr id="23" name="Shape 21"/>
          <p:cNvSpPr/>
          <p:nvPr/>
        </p:nvSpPr>
        <p:spPr>
          <a:xfrm>
            <a:off x="3657600" y="4251960"/>
            <a:ext cx="1188720" cy="502920"/>
          </a:xfrm>
          <a:prstGeom prst="roundRect">
            <a:avLst>
              <a:gd name="adj" fmla="val 12727"/>
            </a:avLst>
          </a:prstGeom>
          <a:solidFill>
            <a:srgbClr val="D98A28"/>
          </a:solidFill>
          <a:ln/>
          <a:effectLst>
            <a:outerShdw blurRad="1016" dist="508" dir="5400000" algn="bl" rotWithShape="0">
              <a:srgbClr val="1B3A5F">
                <a:alpha val="20000"/>
              </a:srgbClr>
            </a:outerShdw>
          </a:effectLst>
        </p:spPr>
      </p:sp>
      <p:sp>
        <p:nvSpPr>
          <p:cNvPr id="24" name="Text 22"/>
          <p:cNvSpPr/>
          <p:nvPr/>
        </p:nvSpPr>
        <p:spPr>
          <a:xfrm>
            <a:off x="3657600" y="4251960"/>
            <a:ext cx="1188720" cy="502920"/>
          </a:xfrm>
          <a:prstGeom prst="rect">
            <a:avLst/>
          </a:prstGeom>
          <a:noFill/>
          <a:ln/>
        </p:spPr>
        <p:txBody>
          <a:bodyPr wrap="square" lIns="0" tIns="0" rIns="0" bIns="0" rtlCol="0" anchor="ctr"/>
          <a:lstStyle/>
          <a:p>
            <a:pPr marL="0" indent="0" algn="ctr">
              <a:lnSpc>
                <a:spcPct val="100000"/>
              </a:lnSpc>
              <a:buNone/>
            </a:pPr>
            <a:r>
              <a:rPr lang="en-US" sz="1150" b="1" dirty="0">
                <a:solidFill>
                  <a:srgbClr val="FFFFFF"/>
                </a:solidFill>
                <a:latin typeface="Calibri" pitchFamily="34" charset="0"/>
                <a:ea typeface="Calibri" pitchFamily="34" charset="-122"/>
                <a:cs typeface="Calibri" pitchFamily="34" charset="-120"/>
              </a:rPr>
              <a:t>Validate</a:t>
            </a:r>
            <a:endParaRPr lang="en-US" sz="1150" dirty="0"/>
          </a:p>
        </p:txBody>
      </p:sp>
      <p:sp>
        <p:nvSpPr>
          <p:cNvPr id="25" name="Shape 23"/>
          <p:cNvSpPr/>
          <p:nvPr/>
        </p:nvSpPr>
        <p:spPr>
          <a:xfrm>
            <a:off x="6309360" y="2286000"/>
            <a:ext cx="5321808" cy="3749040"/>
          </a:xfrm>
          <a:prstGeom prst="roundRect">
            <a:avLst>
              <a:gd name="adj" fmla="val 2927"/>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sp>
      <p:sp>
        <p:nvSpPr>
          <p:cNvPr id="26" name="Text 24"/>
          <p:cNvSpPr/>
          <p:nvPr/>
        </p:nvSpPr>
        <p:spPr>
          <a:xfrm>
            <a:off x="6583680" y="2487168"/>
            <a:ext cx="4846320" cy="365760"/>
          </a:xfrm>
          <a:prstGeom prst="rect">
            <a:avLst/>
          </a:prstGeom>
          <a:noFill/>
          <a:ln/>
        </p:spPr>
        <p:txBody>
          <a:bodyPr wrap="square" lIns="0" tIns="0" rIns="0" bIns="0" rtlCol="0" anchor="t"/>
          <a:lstStyle/>
          <a:p>
            <a:pPr marL="0" indent="0" algn="l">
              <a:lnSpc>
                <a:spcPct val="100000"/>
              </a:lnSpc>
              <a:buNone/>
            </a:pPr>
            <a:r>
              <a:rPr lang="en-US" sz="1550" b="1" dirty="0">
                <a:solidFill>
                  <a:srgbClr val="13294B"/>
                </a:solidFill>
                <a:latin typeface="Cambria" pitchFamily="34" charset="0"/>
                <a:ea typeface="Cambria" pitchFamily="34" charset="-122"/>
                <a:cs typeface="Cambria" pitchFamily="34" charset="-120"/>
              </a:rPr>
              <a:t>Structure-chart terminology</a:t>
            </a:r>
            <a:endParaRPr lang="en-US" sz="1550" dirty="0"/>
          </a:p>
        </p:txBody>
      </p:sp>
      <p:sp>
        <p:nvSpPr>
          <p:cNvPr id="27" name="Shape 25"/>
          <p:cNvSpPr/>
          <p:nvPr/>
        </p:nvSpPr>
        <p:spPr>
          <a:xfrm>
            <a:off x="6583680" y="2926080"/>
            <a:ext cx="1691640" cy="365760"/>
          </a:xfrm>
          <a:prstGeom prst="roundRect">
            <a:avLst>
              <a:gd name="adj" fmla="val 50000"/>
            </a:avLst>
          </a:prstGeom>
          <a:solidFill>
            <a:srgbClr val="E1F1F1"/>
          </a:solidFill>
          <a:ln/>
        </p:spPr>
      </p:sp>
      <p:sp>
        <p:nvSpPr>
          <p:cNvPr id="28" name="Text 26"/>
          <p:cNvSpPr/>
          <p:nvPr/>
        </p:nvSpPr>
        <p:spPr>
          <a:xfrm>
            <a:off x="6583680" y="2926080"/>
            <a:ext cx="1691640" cy="365760"/>
          </a:xfrm>
          <a:prstGeom prst="rect">
            <a:avLst/>
          </a:prstGeom>
          <a:noFill/>
          <a:ln/>
        </p:spPr>
        <p:txBody>
          <a:bodyPr wrap="square" lIns="0" tIns="0" rIns="0" bIns="0" rtlCol="0" anchor="ctr"/>
          <a:lstStyle/>
          <a:p>
            <a:pPr marL="0" indent="0" algn="ctr">
              <a:buNone/>
            </a:pPr>
            <a:r>
              <a:rPr lang="en-US" sz="1200" b="1" dirty="0">
                <a:solidFill>
                  <a:srgbClr val="0A6E6E"/>
                </a:solidFill>
                <a:latin typeface="Calibri" pitchFamily="34" charset="0"/>
                <a:ea typeface="Calibri" pitchFamily="34" charset="-122"/>
                <a:cs typeface="Calibri" pitchFamily="34" charset="-120"/>
              </a:rPr>
              <a:t>Depth</a:t>
            </a:r>
            <a:endParaRPr lang="en-US" sz="1200" dirty="0"/>
          </a:p>
        </p:txBody>
      </p:sp>
      <p:sp>
        <p:nvSpPr>
          <p:cNvPr id="29" name="Text 27"/>
          <p:cNvSpPr/>
          <p:nvPr/>
        </p:nvSpPr>
        <p:spPr>
          <a:xfrm>
            <a:off x="8412480" y="2926080"/>
            <a:ext cx="3108960" cy="365760"/>
          </a:xfrm>
          <a:prstGeom prst="rect">
            <a:avLst/>
          </a:prstGeom>
          <a:noFill/>
          <a:ln/>
        </p:spPr>
        <p:txBody>
          <a:bodyPr wrap="square" lIns="0" tIns="0" rIns="0" bIns="0" rtlCol="0" anchor="ctr"/>
          <a:lstStyle/>
          <a:p>
            <a:pPr marL="0" indent="0" algn="l">
              <a:lnSpc>
                <a:spcPct val="100000"/>
              </a:lnSpc>
              <a:buNone/>
            </a:pPr>
            <a:r>
              <a:rPr lang="en-US" sz="1180" dirty="0">
                <a:solidFill>
                  <a:srgbClr val="1B3A5F"/>
                </a:solidFill>
                <a:latin typeface="Calibri" pitchFamily="34" charset="0"/>
                <a:ea typeface="Calibri" pitchFamily="34" charset="-122"/>
                <a:cs typeface="Calibri" pitchFamily="34" charset="-120"/>
              </a:rPr>
              <a:t>number of levels of control (tree height)</a:t>
            </a:r>
            <a:endParaRPr lang="en-US" sz="1180" dirty="0"/>
          </a:p>
        </p:txBody>
      </p:sp>
      <p:sp>
        <p:nvSpPr>
          <p:cNvPr id="30" name="Shape 28"/>
          <p:cNvSpPr/>
          <p:nvPr/>
        </p:nvSpPr>
        <p:spPr>
          <a:xfrm>
            <a:off x="6583680" y="3429000"/>
            <a:ext cx="1691640" cy="365760"/>
          </a:xfrm>
          <a:prstGeom prst="roundRect">
            <a:avLst>
              <a:gd name="adj" fmla="val 50000"/>
            </a:avLst>
          </a:prstGeom>
          <a:solidFill>
            <a:srgbClr val="E1F1F1"/>
          </a:solidFill>
          <a:ln/>
        </p:spPr>
      </p:sp>
      <p:sp>
        <p:nvSpPr>
          <p:cNvPr id="31" name="Text 29"/>
          <p:cNvSpPr/>
          <p:nvPr/>
        </p:nvSpPr>
        <p:spPr>
          <a:xfrm>
            <a:off x="6583680" y="3429000"/>
            <a:ext cx="1691640" cy="365760"/>
          </a:xfrm>
          <a:prstGeom prst="rect">
            <a:avLst/>
          </a:prstGeom>
          <a:noFill/>
          <a:ln/>
        </p:spPr>
        <p:txBody>
          <a:bodyPr wrap="square" lIns="0" tIns="0" rIns="0" bIns="0" rtlCol="0" anchor="ctr"/>
          <a:lstStyle/>
          <a:p>
            <a:pPr marL="0" indent="0" algn="ctr">
              <a:buNone/>
            </a:pPr>
            <a:r>
              <a:rPr lang="en-US" sz="1200" b="1" dirty="0">
                <a:solidFill>
                  <a:srgbClr val="0A6E6E"/>
                </a:solidFill>
                <a:latin typeface="Calibri" pitchFamily="34" charset="0"/>
                <a:ea typeface="Calibri" pitchFamily="34" charset="-122"/>
                <a:cs typeface="Calibri" pitchFamily="34" charset="-120"/>
              </a:rPr>
              <a:t>Width</a:t>
            </a:r>
            <a:endParaRPr lang="en-US" sz="1200" dirty="0"/>
          </a:p>
        </p:txBody>
      </p:sp>
      <p:sp>
        <p:nvSpPr>
          <p:cNvPr id="32" name="Text 30"/>
          <p:cNvSpPr/>
          <p:nvPr/>
        </p:nvSpPr>
        <p:spPr>
          <a:xfrm>
            <a:off x="8412480" y="3429000"/>
            <a:ext cx="3108960" cy="365760"/>
          </a:xfrm>
          <a:prstGeom prst="rect">
            <a:avLst/>
          </a:prstGeom>
          <a:noFill/>
          <a:ln/>
        </p:spPr>
        <p:txBody>
          <a:bodyPr wrap="square" lIns="0" tIns="0" rIns="0" bIns="0" rtlCol="0" anchor="ctr"/>
          <a:lstStyle/>
          <a:p>
            <a:pPr marL="0" indent="0" algn="l">
              <a:lnSpc>
                <a:spcPct val="100000"/>
              </a:lnSpc>
              <a:buNone/>
            </a:pPr>
            <a:r>
              <a:rPr lang="en-US" sz="1180" dirty="0">
                <a:solidFill>
                  <a:srgbClr val="1B3A5F"/>
                </a:solidFill>
                <a:latin typeface="Calibri" pitchFamily="34" charset="0"/>
                <a:ea typeface="Calibri" pitchFamily="34" charset="-122"/>
                <a:cs typeface="Calibri" pitchFamily="34" charset="-120"/>
              </a:rPr>
              <a:t>overall span of control (max modules at a level)</a:t>
            </a:r>
            <a:endParaRPr lang="en-US" sz="1180" dirty="0"/>
          </a:p>
        </p:txBody>
      </p:sp>
      <p:sp>
        <p:nvSpPr>
          <p:cNvPr id="33" name="Shape 31"/>
          <p:cNvSpPr/>
          <p:nvPr/>
        </p:nvSpPr>
        <p:spPr>
          <a:xfrm>
            <a:off x="6583680" y="3931920"/>
            <a:ext cx="1691640" cy="365760"/>
          </a:xfrm>
          <a:prstGeom prst="roundRect">
            <a:avLst>
              <a:gd name="adj" fmla="val 50000"/>
            </a:avLst>
          </a:prstGeom>
          <a:solidFill>
            <a:srgbClr val="E1F1F1"/>
          </a:solidFill>
          <a:ln/>
        </p:spPr>
      </p:sp>
      <p:sp>
        <p:nvSpPr>
          <p:cNvPr id="34" name="Text 32"/>
          <p:cNvSpPr/>
          <p:nvPr/>
        </p:nvSpPr>
        <p:spPr>
          <a:xfrm>
            <a:off x="6583680" y="3931920"/>
            <a:ext cx="1691640" cy="365760"/>
          </a:xfrm>
          <a:prstGeom prst="rect">
            <a:avLst/>
          </a:prstGeom>
          <a:noFill/>
          <a:ln/>
        </p:spPr>
        <p:txBody>
          <a:bodyPr wrap="square" lIns="0" tIns="0" rIns="0" bIns="0" rtlCol="0" anchor="ctr"/>
          <a:lstStyle/>
          <a:p>
            <a:pPr marL="0" indent="0" algn="ctr">
              <a:buNone/>
            </a:pPr>
            <a:r>
              <a:rPr lang="en-US" sz="1200" b="1" dirty="0">
                <a:solidFill>
                  <a:srgbClr val="0A6E6E"/>
                </a:solidFill>
                <a:latin typeface="Calibri" pitchFamily="34" charset="0"/>
                <a:ea typeface="Calibri" pitchFamily="34" charset="-122"/>
                <a:cs typeface="Calibri" pitchFamily="34" charset="-120"/>
              </a:rPr>
              <a:t>Fan-out</a:t>
            </a:r>
            <a:endParaRPr lang="en-US" sz="1200" dirty="0"/>
          </a:p>
        </p:txBody>
      </p:sp>
      <p:sp>
        <p:nvSpPr>
          <p:cNvPr id="35" name="Text 33"/>
          <p:cNvSpPr/>
          <p:nvPr/>
        </p:nvSpPr>
        <p:spPr>
          <a:xfrm>
            <a:off x="8412480" y="3931920"/>
            <a:ext cx="3108960" cy="365760"/>
          </a:xfrm>
          <a:prstGeom prst="rect">
            <a:avLst/>
          </a:prstGeom>
          <a:noFill/>
          <a:ln/>
        </p:spPr>
        <p:txBody>
          <a:bodyPr wrap="square" lIns="0" tIns="0" rIns="0" bIns="0" rtlCol="0" anchor="ctr"/>
          <a:lstStyle/>
          <a:p>
            <a:pPr marL="0" indent="0" algn="l">
              <a:lnSpc>
                <a:spcPct val="100000"/>
              </a:lnSpc>
              <a:buNone/>
            </a:pPr>
            <a:r>
              <a:rPr lang="en-US" sz="1180" dirty="0">
                <a:solidFill>
                  <a:srgbClr val="1B3A5F"/>
                </a:solidFill>
                <a:latin typeface="Calibri" pitchFamily="34" charset="0"/>
                <a:ea typeface="Calibri" pitchFamily="34" charset="-122"/>
                <a:cs typeface="Calibri" pitchFamily="34" charset="-120"/>
              </a:rPr>
              <a:t>number of modules directly controlled by a module</a:t>
            </a:r>
            <a:endParaRPr lang="en-US" sz="1180" dirty="0"/>
          </a:p>
        </p:txBody>
      </p:sp>
      <p:sp>
        <p:nvSpPr>
          <p:cNvPr id="36" name="Shape 34"/>
          <p:cNvSpPr/>
          <p:nvPr/>
        </p:nvSpPr>
        <p:spPr>
          <a:xfrm>
            <a:off x="6583680" y="4434840"/>
            <a:ext cx="1691640" cy="365760"/>
          </a:xfrm>
          <a:prstGeom prst="roundRect">
            <a:avLst>
              <a:gd name="adj" fmla="val 50000"/>
            </a:avLst>
          </a:prstGeom>
          <a:solidFill>
            <a:srgbClr val="E1F1F1"/>
          </a:solidFill>
          <a:ln/>
        </p:spPr>
      </p:sp>
      <p:sp>
        <p:nvSpPr>
          <p:cNvPr id="37" name="Text 35"/>
          <p:cNvSpPr/>
          <p:nvPr/>
        </p:nvSpPr>
        <p:spPr>
          <a:xfrm>
            <a:off x="6583680" y="4434840"/>
            <a:ext cx="1691640" cy="365760"/>
          </a:xfrm>
          <a:prstGeom prst="rect">
            <a:avLst/>
          </a:prstGeom>
          <a:noFill/>
          <a:ln/>
        </p:spPr>
        <p:txBody>
          <a:bodyPr wrap="square" lIns="0" tIns="0" rIns="0" bIns="0" rtlCol="0" anchor="ctr"/>
          <a:lstStyle/>
          <a:p>
            <a:pPr marL="0" indent="0" algn="ctr">
              <a:buNone/>
            </a:pPr>
            <a:r>
              <a:rPr lang="en-US" sz="1200" b="1" dirty="0">
                <a:solidFill>
                  <a:srgbClr val="0A6E6E"/>
                </a:solidFill>
                <a:latin typeface="Calibri" pitchFamily="34" charset="0"/>
                <a:ea typeface="Calibri" pitchFamily="34" charset="-122"/>
                <a:cs typeface="Calibri" pitchFamily="34" charset="-120"/>
              </a:rPr>
              <a:t>Fan-in</a:t>
            </a:r>
            <a:endParaRPr lang="en-US" sz="1200" dirty="0"/>
          </a:p>
        </p:txBody>
      </p:sp>
      <p:sp>
        <p:nvSpPr>
          <p:cNvPr id="38" name="Text 36"/>
          <p:cNvSpPr/>
          <p:nvPr/>
        </p:nvSpPr>
        <p:spPr>
          <a:xfrm>
            <a:off x="8412480" y="4434840"/>
            <a:ext cx="3108960" cy="365760"/>
          </a:xfrm>
          <a:prstGeom prst="rect">
            <a:avLst/>
          </a:prstGeom>
          <a:noFill/>
          <a:ln/>
        </p:spPr>
        <p:txBody>
          <a:bodyPr wrap="square" lIns="0" tIns="0" rIns="0" bIns="0" rtlCol="0" anchor="ctr"/>
          <a:lstStyle/>
          <a:p>
            <a:pPr marL="0" indent="0" algn="l">
              <a:lnSpc>
                <a:spcPct val="100000"/>
              </a:lnSpc>
              <a:buNone/>
            </a:pPr>
            <a:r>
              <a:rPr lang="en-US" sz="1180" dirty="0">
                <a:solidFill>
                  <a:srgbClr val="1B3A5F"/>
                </a:solidFill>
                <a:latin typeface="Calibri" pitchFamily="34" charset="0"/>
                <a:ea typeface="Calibri" pitchFamily="34" charset="-122"/>
                <a:cs typeface="Calibri" pitchFamily="34" charset="-120"/>
              </a:rPr>
              <a:t>number of modules that directly control a module</a:t>
            </a:r>
            <a:endParaRPr lang="en-US" sz="1180" dirty="0"/>
          </a:p>
        </p:txBody>
      </p:sp>
      <p:sp>
        <p:nvSpPr>
          <p:cNvPr id="39" name="Shape 37"/>
          <p:cNvSpPr/>
          <p:nvPr/>
        </p:nvSpPr>
        <p:spPr>
          <a:xfrm>
            <a:off x="6583680" y="4937760"/>
            <a:ext cx="1691640" cy="365760"/>
          </a:xfrm>
          <a:prstGeom prst="roundRect">
            <a:avLst>
              <a:gd name="adj" fmla="val 50000"/>
            </a:avLst>
          </a:prstGeom>
          <a:solidFill>
            <a:srgbClr val="E1F1F1"/>
          </a:solidFill>
          <a:ln/>
        </p:spPr>
      </p:sp>
      <p:sp>
        <p:nvSpPr>
          <p:cNvPr id="40" name="Text 38"/>
          <p:cNvSpPr/>
          <p:nvPr/>
        </p:nvSpPr>
        <p:spPr>
          <a:xfrm>
            <a:off x="6583680" y="4937760"/>
            <a:ext cx="1691640" cy="365760"/>
          </a:xfrm>
          <a:prstGeom prst="rect">
            <a:avLst/>
          </a:prstGeom>
          <a:noFill/>
          <a:ln/>
        </p:spPr>
        <p:txBody>
          <a:bodyPr wrap="square" lIns="0" tIns="0" rIns="0" bIns="0" rtlCol="0" anchor="ctr"/>
          <a:lstStyle/>
          <a:p>
            <a:pPr marL="0" indent="0" algn="ctr">
              <a:buNone/>
            </a:pPr>
            <a:r>
              <a:rPr lang="en-US" sz="1200" b="1" dirty="0">
                <a:solidFill>
                  <a:srgbClr val="0A6E6E"/>
                </a:solidFill>
                <a:latin typeface="Calibri" pitchFamily="34" charset="0"/>
                <a:ea typeface="Calibri" pitchFamily="34" charset="-122"/>
                <a:cs typeface="Calibri" pitchFamily="34" charset="-120"/>
              </a:rPr>
              <a:t>Superordinate</a:t>
            </a:r>
            <a:endParaRPr lang="en-US" sz="1200" dirty="0"/>
          </a:p>
        </p:txBody>
      </p:sp>
      <p:sp>
        <p:nvSpPr>
          <p:cNvPr id="41" name="Text 39"/>
          <p:cNvSpPr/>
          <p:nvPr/>
        </p:nvSpPr>
        <p:spPr>
          <a:xfrm>
            <a:off x="8412480" y="4937760"/>
            <a:ext cx="3108960" cy="365760"/>
          </a:xfrm>
          <a:prstGeom prst="rect">
            <a:avLst/>
          </a:prstGeom>
          <a:noFill/>
          <a:ln/>
        </p:spPr>
        <p:txBody>
          <a:bodyPr wrap="square" lIns="0" tIns="0" rIns="0" bIns="0" rtlCol="0" anchor="ctr"/>
          <a:lstStyle/>
          <a:p>
            <a:pPr marL="0" indent="0" algn="l">
              <a:lnSpc>
                <a:spcPct val="100000"/>
              </a:lnSpc>
              <a:buNone/>
            </a:pPr>
            <a:r>
              <a:rPr lang="en-US" sz="1180" dirty="0">
                <a:solidFill>
                  <a:srgbClr val="1B3A5F"/>
                </a:solidFill>
                <a:latin typeface="Calibri" pitchFamily="34" charset="0"/>
                <a:ea typeface="Calibri" pitchFamily="34" charset="-122"/>
                <a:cs typeface="Calibri" pitchFamily="34" charset="-120"/>
              </a:rPr>
              <a:t>a module that controls another</a:t>
            </a:r>
            <a:endParaRPr lang="en-US" sz="1180" dirty="0"/>
          </a:p>
        </p:txBody>
      </p:sp>
      <p:sp>
        <p:nvSpPr>
          <p:cNvPr id="42" name="Shape 40"/>
          <p:cNvSpPr/>
          <p:nvPr/>
        </p:nvSpPr>
        <p:spPr>
          <a:xfrm>
            <a:off x="6583680" y="5440680"/>
            <a:ext cx="1691640" cy="365760"/>
          </a:xfrm>
          <a:prstGeom prst="roundRect">
            <a:avLst>
              <a:gd name="adj" fmla="val 50000"/>
            </a:avLst>
          </a:prstGeom>
          <a:solidFill>
            <a:srgbClr val="E1F1F1"/>
          </a:solidFill>
          <a:ln/>
        </p:spPr>
      </p:sp>
      <p:sp>
        <p:nvSpPr>
          <p:cNvPr id="43" name="Text 41"/>
          <p:cNvSpPr/>
          <p:nvPr/>
        </p:nvSpPr>
        <p:spPr>
          <a:xfrm>
            <a:off x="6583680" y="5440680"/>
            <a:ext cx="1691640" cy="365760"/>
          </a:xfrm>
          <a:prstGeom prst="rect">
            <a:avLst/>
          </a:prstGeom>
          <a:noFill/>
          <a:ln/>
        </p:spPr>
        <p:txBody>
          <a:bodyPr wrap="square" lIns="0" tIns="0" rIns="0" bIns="0" rtlCol="0" anchor="ctr"/>
          <a:lstStyle/>
          <a:p>
            <a:pPr marL="0" indent="0" algn="ctr">
              <a:buNone/>
            </a:pPr>
            <a:r>
              <a:rPr lang="en-US" sz="1200" b="1" dirty="0">
                <a:solidFill>
                  <a:srgbClr val="0A6E6E"/>
                </a:solidFill>
                <a:latin typeface="Calibri" pitchFamily="34" charset="0"/>
                <a:ea typeface="Calibri" pitchFamily="34" charset="-122"/>
                <a:cs typeface="Calibri" pitchFamily="34" charset="-120"/>
              </a:rPr>
              <a:t>Subordinate</a:t>
            </a:r>
            <a:endParaRPr lang="en-US" sz="1200" dirty="0"/>
          </a:p>
        </p:txBody>
      </p:sp>
      <p:sp>
        <p:nvSpPr>
          <p:cNvPr id="44" name="Text 42"/>
          <p:cNvSpPr/>
          <p:nvPr/>
        </p:nvSpPr>
        <p:spPr>
          <a:xfrm>
            <a:off x="8412480" y="5440680"/>
            <a:ext cx="3108960" cy="365760"/>
          </a:xfrm>
          <a:prstGeom prst="rect">
            <a:avLst/>
          </a:prstGeom>
          <a:noFill/>
          <a:ln/>
        </p:spPr>
        <p:txBody>
          <a:bodyPr wrap="square" lIns="0" tIns="0" rIns="0" bIns="0" rtlCol="0" anchor="ctr"/>
          <a:lstStyle/>
          <a:p>
            <a:pPr marL="0" indent="0" algn="l">
              <a:lnSpc>
                <a:spcPct val="100000"/>
              </a:lnSpc>
              <a:buNone/>
            </a:pPr>
            <a:r>
              <a:rPr lang="en-US" sz="1180" dirty="0">
                <a:solidFill>
                  <a:srgbClr val="1B3A5F"/>
                </a:solidFill>
                <a:latin typeface="Calibri" pitchFamily="34" charset="0"/>
                <a:ea typeface="Calibri" pitchFamily="34" charset="-122"/>
                <a:cs typeface="Calibri" pitchFamily="34" charset="-120"/>
              </a:rPr>
              <a:t>a module controlled by another</a:t>
            </a:r>
            <a:endParaRPr lang="en-US" sz="1180" dirty="0"/>
          </a:p>
        </p:txBody>
      </p:sp>
      <p:sp>
        <p:nvSpPr>
          <p:cNvPr id="45" name="Text 43"/>
          <p:cNvSpPr/>
          <p:nvPr/>
        </p:nvSpPr>
        <p:spPr>
          <a:xfrm>
            <a:off x="822960" y="5623560"/>
            <a:ext cx="5120640" cy="822960"/>
          </a:xfrm>
          <a:prstGeom prst="rect">
            <a:avLst/>
          </a:prstGeom>
          <a:noFill/>
          <a:ln/>
        </p:spPr>
        <p:txBody>
          <a:bodyPr wrap="square" lIns="0" tIns="0" rIns="0" bIns="0" rtlCol="0" anchor="t"/>
          <a:lstStyle/>
          <a:p>
            <a:pPr marL="0" indent="0" algn="l">
              <a:lnSpc>
                <a:spcPct val="110000"/>
              </a:lnSpc>
              <a:buNone/>
            </a:pPr>
            <a:r>
              <a:rPr lang="en-US" sz="1180" i="1" dirty="0">
                <a:solidFill>
                  <a:srgbClr val="35618E"/>
                </a:solidFill>
                <a:latin typeface="Calibri" pitchFamily="34" charset="0"/>
                <a:ea typeface="Calibri" pitchFamily="34" charset="-122"/>
                <a:cs typeface="Calibri" pitchFamily="34" charset="-120"/>
              </a:rPr>
              <a:t>Guideline: keep fan-out moderate (≈ 7±2) and prefer high fan-in — a sign of reusable, well-factored modules.</a:t>
            </a:r>
            <a:endParaRPr lang="en-US" sz="1180" dirty="0"/>
          </a:p>
        </p:txBody>
      </p:sp>
      <p:pic>
        <p:nvPicPr>
          <p:cNvPr id="46" name="Picture 45" descr="gitam_logo.png"/>
          <p:cNvPicPr>
            <a:picLocks noChangeAspect="1"/>
          </p:cNvPicPr>
          <p:nvPr/>
        </p:nvPicPr>
        <p:blipFill>
          <a:blip r:embed="rId4"/>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4086565663"/>
      </p:ext>
    </p:extLst>
  </p:cSld>
  <p:clrMapOvr>
    <a:overrideClrMapping bg1="lt1" tx1="dk1" bg2="lt2" tx2="dk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rtlCol="0" anchor="ctr"/>
          <a:lstStyle/>
          <a:p>
            <a:pPr marL="0" indent="0" algn="l">
              <a:buNone/>
            </a:pPr>
            <a:r>
              <a:rPr lang="en-US" sz="1250" b="1" kern="0" spc="200" dirty="0">
                <a:solidFill>
                  <a:srgbClr val="0E8F8F"/>
                </a:solidFill>
                <a:latin typeface="Calibri" pitchFamily="34" charset="0"/>
                <a:ea typeface="Calibri" pitchFamily="34" charset="-122"/>
                <a:cs typeface="Calibri" pitchFamily="34" charset="-120"/>
              </a:rPr>
              <a:t>STRUCTURE &amp; APPROACHES</a:t>
            </a:r>
            <a:endParaRPr lang="en-US" sz="1250" dirty="0"/>
          </a:p>
        </p:txBody>
      </p:sp>
      <p:sp>
        <p:nvSpPr>
          <p:cNvPr id="3" name="Text 1"/>
          <p:cNvSpPr/>
          <p:nvPr/>
        </p:nvSpPr>
        <p:spPr>
          <a:xfrm>
            <a:off x="548640" y="658368"/>
            <a:ext cx="10881360" cy="822960"/>
          </a:xfrm>
          <a:prstGeom prst="rect">
            <a:avLst/>
          </a:prstGeom>
          <a:noFill/>
          <a:ln/>
        </p:spPr>
        <p:txBody>
          <a:bodyPr wrap="square" rtlCol="0" anchor="t"/>
          <a:lstStyle/>
          <a:p>
            <a:pPr marL="0" indent="0" algn="l">
              <a:buNone/>
            </a:pPr>
            <a:r>
              <a:rPr lang="en-US" sz="3100" b="1" dirty="0">
                <a:solidFill>
                  <a:srgbClr val="13294B"/>
                </a:solidFill>
                <a:latin typeface="Cambria" pitchFamily="34" charset="0"/>
                <a:ea typeface="Cambria" pitchFamily="34" charset="-122"/>
                <a:cs typeface="Cambria" pitchFamily="34" charset="-120"/>
              </a:rPr>
              <a:t>Two approaches to software design</a:t>
            </a:r>
            <a:endParaRPr lang="en-US" sz="3100" dirty="0"/>
          </a:p>
        </p:txBody>
      </p:sp>
      <p:sp>
        <p:nvSpPr>
          <p:cNvPr id="6" name="Text 4"/>
          <p:cNvSpPr/>
          <p:nvPr/>
        </p:nvSpPr>
        <p:spPr>
          <a:xfrm>
            <a:off x="11292840" y="6382512"/>
            <a:ext cx="502920" cy="329184"/>
          </a:xfrm>
          <a:prstGeom prst="rect">
            <a:avLst/>
          </a:prstGeom>
          <a:noFill/>
          <a:ln/>
        </p:spPr>
        <p:txBody>
          <a:bodyPr wrap="square" rtlCol="0" anchor="ctr"/>
          <a:lstStyle/>
          <a:p>
            <a:pPr marL="0" indent="0" algn="r">
              <a:buNone/>
            </a:pPr>
            <a:r>
              <a:rPr lang="en-US" sz="1100" b="1" dirty="0">
                <a:solidFill>
                  <a:srgbClr val="35618E"/>
                </a:solidFill>
                <a:latin typeface="Calibri" pitchFamily="34" charset="0"/>
                <a:ea typeface="Calibri" pitchFamily="34" charset="-122"/>
                <a:cs typeface="Calibri" pitchFamily="34" charset="-120"/>
              </a:rPr>
              <a:t>17</a:t>
            </a:r>
            <a:endParaRPr lang="en-US" sz="1100" dirty="0"/>
          </a:p>
        </p:txBody>
      </p:sp>
      <p:sp>
        <p:nvSpPr>
          <p:cNvPr id="7" name="Shape 5"/>
          <p:cNvSpPr/>
          <p:nvPr/>
        </p:nvSpPr>
        <p:spPr>
          <a:xfrm>
            <a:off x="566928" y="1691640"/>
            <a:ext cx="5468112" cy="4343400"/>
          </a:xfrm>
          <a:prstGeom prst="roundRect">
            <a:avLst>
              <a:gd name="adj" fmla="val 2526"/>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sp>
      <p:sp>
        <p:nvSpPr>
          <p:cNvPr id="8" name="Shape 6"/>
          <p:cNvSpPr/>
          <p:nvPr/>
        </p:nvSpPr>
        <p:spPr>
          <a:xfrm>
            <a:off x="566928" y="1691640"/>
            <a:ext cx="5468112" cy="822960"/>
          </a:xfrm>
          <a:prstGeom prst="roundRect">
            <a:avLst>
              <a:gd name="adj" fmla="val 13333"/>
            </a:avLst>
          </a:prstGeom>
          <a:solidFill>
            <a:srgbClr val="0E8F8F"/>
          </a:solidFill>
          <a:ln/>
        </p:spPr>
      </p:sp>
      <p:sp>
        <p:nvSpPr>
          <p:cNvPr id="9" name="Shape 7"/>
          <p:cNvSpPr/>
          <p:nvPr/>
        </p:nvSpPr>
        <p:spPr>
          <a:xfrm>
            <a:off x="566928" y="2377440"/>
            <a:ext cx="5468112" cy="137160"/>
          </a:xfrm>
          <a:prstGeom prst="rect">
            <a:avLst/>
          </a:prstGeom>
          <a:solidFill>
            <a:srgbClr val="0E8F8F"/>
          </a:solidFill>
          <a:ln/>
        </p:spPr>
      </p:sp>
      <p:sp>
        <p:nvSpPr>
          <p:cNvPr id="10" name="Shape 8"/>
          <p:cNvSpPr/>
          <p:nvPr/>
        </p:nvSpPr>
        <p:spPr>
          <a:xfrm>
            <a:off x="822960" y="1874520"/>
            <a:ext cx="548640" cy="548640"/>
          </a:xfrm>
          <a:prstGeom prst="ellipse">
            <a:avLst/>
          </a:prstGeom>
          <a:solidFill>
            <a:srgbClr val="FFFFFF"/>
          </a:solidFill>
          <a:ln/>
        </p:spPr>
      </p:sp>
      <p:pic>
        <p:nvPicPr>
          <p:cNvPr id="11" name="Image 0" descr="/home/claude/deck/icons/function.png"/>
          <p:cNvPicPr>
            <a:picLocks noChangeAspect="1"/>
          </p:cNvPicPr>
          <p:nvPr/>
        </p:nvPicPr>
        <p:blipFill>
          <a:blip r:embed="rId4"/>
          <a:stretch>
            <a:fillRect/>
          </a:stretch>
        </p:blipFill>
        <p:spPr>
          <a:xfrm>
            <a:off x="954634" y="2006194"/>
            <a:ext cx="285293" cy="285293"/>
          </a:xfrm>
          <a:prstGeom prst="rect">
            <a:avLst/>
          </a:prstGeom>
        </p:spPr>
      </p:pic>
      <p:sp>
        <p:nvSpPr>
          <p:cNvPr id="12" name="Text 9"/>
          <p:cNvSpPr/>
          <p:nvPr/>
        </p:nvSpPr>
        <p:spPr>
          <a:xfrm>
            <a:off x="1527048" y="1847088"/>
            <a:ext cx="4370832" cy="640080"/>
          </a:xfrm>
          <a:prstGeom prst="rect">
            <a:avLst/>
          </a:prstGeom>
          <a:noFill/>
          <a:ln/>
        </p:spPr>
        <p:txBody>
          <a:bodyPr wrap="square" lIns="0" tIns="0" rIns="0" bIns="0" rtlCol="0" anchor="ctr"/>
          <a:lstStyle/>
          <a:p>
            <a:pPr marL="0" indent="0" algn="l">
              <a:lnSpc>
                <a:spcPct val="100000"/>
              </a:lnSpc>
              <a:buNone/>
            </a:pPr>
            <a:r>
              <a:rPr lang="en-US" sz="1700" b="1" dirty="0">
                <a:solidFill>
                  <a:srgbClr val="FFFFFF"/>
                </a:solidFill>
                <a:latin typeface="Cambria" pitchFamily="34" charset="0"/>
                <a:ea typeface="Cambria" pitchFamily="34" charset="-122"/>
                <a:cs typeface="Cambria" pitchFamily="34" charset="-120"/>
              </a:rPr>
              <a:t>Function-Oriented Design</a:t>
            </a:r>
            <a:endParaRPr lang="en-US" sz="1700" dirty="0"/>
          </a:p>
        </p:txBody>
      </p:sp>
      <p:pic>
        <p:nvPicPr>
          <p:cNvPr id="13" name="Image 1" descr="/home/claude/deck/icons/arrow.png"/>
          <p:cNvPicPr>
            <a:picLocks noChangeAspect="1"/>
          </p:cNvPicPr>
          <p:nvPr/>
        </p:nvPicPr>
        <p:blipFill>
          <a:blip r:embed="rId5"/>
          <a:stretch>
            <a:fillRect/>
          </a:stretch>
        </p:blipFill>
        <p:spPr>
          <a:xfrm>
            <a:off x="841248" y="2752344"/>
            <a:ext cx="182880" cy="182880"/>
          </a:xfrm>
          <a:prstGeom prst="rect">
            <a:avLst/>
          </a:prstGeom>
        </p:spPr>
      </p:pic>
      <p:sp>
        <p:nvSpPr>
          <p:cNvPr id="14" name="Text 10"/>
          <p:cNvSpPr/>
          <p:nvPr/>
        </p:nvSpPr>
        <p:spPr>
          <a:xfrm>
            <a:off x="1133856" y="2679192"/>
            <a:ext cx="4645152" cy="329184"/>
          </a:xfrm>
          <a:prstGeom prst="rect">
            <a:avLst/>
          </a:prstGeom>
          <a:noFill/>
          <a:ln/>
        </p:spPr>
        <p:txBody>
          <a:bodyPr wrap="square" lIns="0" tIns="0" rIns="0" bIns="0" rtlCol="0" anchor="t"/>
          <a:lstStyle/>
          <a:p>
            <a:pPr marL="0" indent="0" algn="l">
              <a:lnSpc>
                <a:spcPct val="100000"/>
              </a:lnSpc>
              <a:buNone/>
            </a:pPr>
            <a:r>
              <a:rPr lang="en-US" sz="1300" b="1" dirty="0">
                <a:solidFill>
                  <a:srgbClr val="13294B"/>
                </a:solidFill>
                <a:latin typeface="Calibri" pitchFamily="34" charset="0"/>
                <a:ea typeface="Calibri" pitchFamily="34" charset="-122"/>
                <a:cs typeface="Calibri" pitchFamily="34" charset="-120"/>
              </a:rPr>
              <a:t>Decomposes the system by function</a:t>
            </a:r>
            <a:endParaRPr lang="en-US" sz="1300" dirty="0"/>
          </a:p>
        </p:txBody>
      </p:sp>
      <p:sp>
        <p:nvSpPr>
          <p:cNvPr id="15" name="Text 11"/>
          <p:cNvSpPr/>
          <p:nvPr/>
        </p:nvSpPr>
        <p:spPr>
          <a:xfrm>
            <a:off x="1133856" y="2971800"/>
            <a:ext cx="4645152" cy="365760"/>
          </a:xfrm>
          <a:prstGeom prst="rect">
            <a:avLst/>
          </a:prstGeom>
          <a:noFill/>
          <a:ln/>
        </p:spPr>
        <p:txBody>
          <a:bodyPr wrap="square" lIns="0" tIns="0" rIns="0" bIns="0" rtlCol="0" anchor="t"/>
          <a:lstStyle/>
          <a:p>
            <a:pPr marL="0" indent="0" algn="l">
              <a:lnSpc>
                <a:spcPct val="102000"/>
              </a:lnSpc>
              <a:buNone/>
            </a:pPr>
            <a:r>
              <a:rPr lang="en-US" sz="1100" dirty="0">
                <a:solidFill>
                  <a:srgbClr val="5C6B82"/>
                </a:solidFill>
                <a:latin typeface="Calibri" pitchFamily="34" charset="0"/>
                <a:ea typeface="Calibri" pitchFamily="34" charset="-122"/>
                <a:cs typeface="Calibri" pitchFamily="34" charset="-120"/>
              </a:rPr>
              <a:t>the system is a set of interacting functions/processes</a:t>
            </a:r>
            <a:endParaRPr lang="en-US" sz="1100" dirty="0"/>
          </a:p>
        </p:txBody>
      </p:sp>
      <p:pic>
        <p:nvPicPr>
          <p:cNvPr id="16" name="Image 2" descr="/home/claude/deck/icons/arrow.png"/>
          <p:cNvPicPr>
            <a:picLocks noChangeAspect="1"/>
          </p:cNvPicPr>
          <p:nvPr/>
        </p:nvPicPr>
        <p:blipFill>
          <a:blip r:embed="rId5"/>
          <a:stretch>
            <a:fillRect/>
          </a:stretch>
        </p:blipFill>
        <p:spPr>
          <a:xfrm>
            <a:off x="841248" y="3410712"/>
            <a:ext cx="182880" cy="182880"/>
          </a:xfrm>
          <a:prstGeom prst="rect">
            <a:avLst/>
          </a:prstGeom>
        </p:spPr>
      </p:pic>
      <p:sp>
        <p:nvSpPr>
          <p:cNvPr id="17" name="Text 12"/>
          <p:cNvSpPr/>
          <p:nvPr/>
        </p:nvSpPr>
        <p:spPr>
          <a:xfrm>
            <a:off x="1133856" y="3337560"/>
            <a:ext cx="4645152" cy="329184"/>
          </a:xfrm>
          <a:prstGeom prst="rect">
            <a:avLst/>
          </a:prstGeom>
          <a:noFill/>
          <a:ln/>
        </p:spPr>
        <p:txBody>
          <a:bodyPr wrap="square" lIns="0" tIns="0" rIns="0" bIns="0" rtlCol="0" anchor="t"/>
          <a:lstStyle/>
          <a:p>
            <a:pPr marL="0" indent="0" algn="l">
              <a:lnSpc>
                <a:spcPct val="100000"/>
              </a:lnSpc>
              <a:buNone/>
            </a:pPr>
            <a:r>
              <a:rPr lang="en-US" sz="1300" b="1" dirty="0">
                <a:solidFill>
                  <a:srgbClr val="13294B"/>
                </a:solidFill>
                <a:latin typeface="Calibri" pitchFamily="34" charset="0"/>
                <a:ea typeface="Calibri" pitchFamily="34" charset="-122"/>
                <a:cs typeface="Calibri" pitchFamily="34" charset="-120"/>
              </a:rPr>
              <a:t>Centres on data flow</a:t>
            </a:r>
            <a:endParaRPr lang="en-US" sz="1300" dirty="0"/>
          </a:p>
        </p:txBody>
      </p:sp>
      <p:sp>
        <p:nvSpPr>
          <p:cNvPr id="18" name="Text 13"/>
          <p:cNvSpPr/>
          <p:nvPr/>
        </p:nvSpPr>
        <p:spPr>
          <a:xfrm>
            <a:off x="1133856" y="3630168"/>
            <a:ext cx="4645152" cy="365760"/>
          </a:xfrm>
          <a:prstGeom prst="rect">
            <a:avLst/>
          </a:prstGeom>
          <a:noFill/>
          <a:ln/>
        </p:spPr>
        <p:txBody>
          <a:bodyPr wrap="square" lIns="0" tIns="0" rIns="0" bIns="0" rtlCol="0" anchor="t"/>
          <a:lstStyle/>
          <a:p>
            <a:pPr marL="0" indent="0" algn="l">
              <a:lnSpc>
                <a:spcPct val="102000"/>
              </a:lnSpc>
              <a:buNone/>
            </a:pPr>
            <a:r>
              <a:rPr lang="en-US" sz="1100" dirty="0">
                <a:solidFill>
                  <a:srgbClr val="5C6B82"/>
                </a:solidFill>
                <a:latin typeface="Calibri" pitchFamily="34" charset="0"/>
                <a:ea typeface="Calibri" pitchFamily="34" charset="-122"/>
                <a:cs typeface="Calibri" pitchFamily="34" charset="-120"/>
              </a:rPr>
              <a:t>data moves through and is transformed by functions</a:t>
            </a:r>
            <a:endParaRPr lang="en-US" sz="1100" dirty="0"/>
          </a:p>
        </p:txBody>
      </p:sp>
      <p:pic>
        <p:nvPicPr>
          <p:cNvPr id="19" name="Image 3" descr="/home/claude/deck/icons/arrow.png"/>
          <p:cNvPicPr>
            <a:picLocks noChangeAspect="1"/>
          </p:cNvPicPr>
          <p:nvPr/>
        </p:nvPicPr>
        <p:blipFill>
          <a:blip r:embed="rId5"/>
          <a:stretch>
            <a:fillRect/>
          </a:stretch>
        </p:blipFill>
        <p:spPr>
          <a:xfrm>
            <a:off x="841248" y="4069080"/>
            <a:ext cx="182880" cy="182880"/>
          </a:xfrm>
          <a:prstGeom prst="rect">
            <a:avLst/>
          </a:prstGeom>
        </p:spPr>
      </p:pic>
      <p:sp>
        <p:nvSpPr>
          <p:cNvPr id="20" name="Text 14"/>
          <p:cNvSpPr/>
          <p:nvPr/>
        </p:nvSpPr>
        <p:spPr>
          <a:xfrm>
            <a:off x="1133856" y="3995928"/>
            <a:ext cx="4645152" cy="329184"/>
          </a:xfrm>
          <a:prstGeom prst="rect">
            <a:avLst/>
          </a:prstGeom>
          <a:noFill/>
          <a:ln/>
        </p:spPr>
        <p:txBody>
          <a:bodyPr wrap="square" lIns="0" tIns="0" rIns="0" bIns="0" rtlCol="0" anchor="t"/>
          <a:lstStyle/>
          <a:p>
            <a:pPr marL="0" indent="0" algn="l">
              <a:lnSpc>
                <a:spcPct val="100000"/>
              </a:lnSpc>
              <a:buNone/>
            </a:pPr>
            <a:r>
              <a:rPr lang="en-US" sz="1300" b="1" dirty="0">
                <a:solidFill>
                  <a:srgbClr val="13294B"/>
                </a:solidFill>
                <a:latin typeface="Calibri" pitchFamily="34" charset="0"/>
                <a:ea typeface="Calibri" pitchFamily="34" charset="-122"/>
                <a:cs typeface="Calibri" pitchFamily="34" charset="-120"/>
              </a:rPr>
              <a:t>Top-down decomposition</a:t>
            </a:r>
            <a:endParaRPr lang="en-US" sz="1300" dirty="0"/>
          </a:p>
        </p:txBody>
      </p:sp>
      <p:sp>
        <p:nvSpPr>
          <p:cNvPr id="21" name="Text 15"/>
          <p:cNvSpPr/>
          <p:nvPr/>
        </p:nvSpPr>
        <p:spPr>
          <a:xfrm>
            <a:off x="1133856" y="4288536"/>
            <a:ext cx="4645152" cy="365760"/>
          </a:xfrm>
          <a:prstGeom prst="rect">
            <a:avLst/>
          </a:prstGeom>
          <a:noFill/>
          <a:ln/>
        </p:spPr>
        <p:txBody>
          <a:bodyPr wrap="square" lIns="0" tIns="0" rIns="0" bIns="0" rtlCol="0" anchor="t"/>
          <a:lstStyle/>
          <a:p>
            <a:pPr marL="0" indent="0" algn="l">
              <a:lnSpc>
                <a:spcPct val="102000"/>
              </a:lnSpc>
              <a:buNone/>
            </a:pPr>
            <a:r>
              <a:rPr lang="en-US" sz="1100" dirty="0">
                <a:solidFill>
                  <a:srgbClr val="5C6B82"/>
                </a:solidFill>
                <a:latin typeface="Calibri" pitchFamily="34" charset="0"/>
                <a:ea typeface="Calibri" pitchFamily="34" charset="-122"/>
                <a:cs typeface="Calibri" pitchFamily="34" charset="-120"/>
              </a:rPr>
              <a:t>refine high-level functions into sub-functions</a:t>
            </a:r>
            <a:endParaRPr lang="en-US" sz="1100" dirty="0"/>
          </a:p>
        </p:txBody>
      </p:sp>
      <p:pic>
        <p:nvPicPr>
          <p:cNvPr id="22" name="Image 4" descr="/home/claude/deck/icons/arrow.png"/>
          <p:cNvPicPr>
            <a:picLocks noChangeAspect="1"/>
          </p:cNvPicPr>
          <p:nvPr/>
        </p:nvPicPr>
        <p:blipFill>
          <a:blip r:embed="rId5"/>
          <a:stretch>
            <a:fillRect/>
          </a:stretch>
        </p:blipFill>
        <p:spPr>
          <a:xfrm>
            <a:off x="841248" y="4727448"/>
            <a:ext cx="182880" cy="182880"/>
          </a:xfrm>
          <a:prstGeom prst="rect">
            <a:avLst/>
          </a:prstGeom>
        </p:spPr>
      </p:pic>
      <p:sp>
        <p:nvSpPr>
          <p:cNvPr id="23" name="Text 16"/>
          <p:cNvSpPr/>
          <p:nvPr/>
        </p:nvSpPr>
        <p:spPr>
          <a:xfrm>
            <a:off x="1133856" y="4654296"/>
            <a:ext cx="4645152" cy="329184"/>
          </a:xfrm>
          <a:prstGeom prst="rect">
            <a:avLst/>
          </a:prstGeom>
          <a:noFill/>
          <a:ln/>
        </p:spPr>
        <p:txBody>
          <a:bodyPr wrap="square" lIns="0" tIns="0" rIns="0" bIns="0" rtlCol="0" anchor="t"/>
          <a:lstStyle/>
          <a:p>
            <a:pPr marL="0" indent="0" algn="l">
              <a:lnSpc>
                <a:spcPct val="100000"/>
              </a:lnSpc>
              <a:buNone/>
            </a:pPr>
            <a:r>
              <a:rPr lang="en-US" sz="1300" b="1" dirty="0">
                <a:solidFill>
                  <a:srgbClr val="13294B"/>
                </a:solidFill>
                <a:latin typeface="Calibri" pitchFamily="34" charset="0"/>
                <a:ea typeface="Calibri" pitchFamily="34" charset="-122"/>
                <a:cs typeface="Calibri" pitchFamily="34" charset="-120"/>
              </a:rPr>
              <a:t>Data &amp; functions are separate</a:t>
            </a:r>
            <a:endParaRPr lang="en-US" sz="1300" dirty="0"/>
          </a:p>
        </p:txBody>
      </p:sp>
      <p:sp>
        <p:nvSpPr>
          <p:cNvPr id="24" name="Text 17"/>
          <p:cNvSpPr/>
          <p:nvPr/>
        </p:nvSpPr>
        <p:spPr>
          <a:xfrm>
            <a:off x="1133856" y="4946904"/>
            <a:ext cx="4645152" cy="365760"/>
          </a:xfrm>
          <a:prstGeom prst="rect">
            <a:avLst/>
          </a:prstGeom>
          <a:noFill/>
          <a:ln/>
        </p:spPr>
        <p:txBody>
          <a:bodyPr wrap="square" lIns="0" tIns="0" rIns="0" bIns="0" rtlCol="0" anchor="t"/>
          <a:lstStyle/>
          <a:p>
            <a:pPr marL="0" indent="0" algn="l">
              <a:lnSpc>
                <a:spcPct val="102000"/>
              </a:lnSpc>
              <a:buNone/>
            </a:pPr>
            <a:r>
              <a:rPr lang="en-US" sz="1100" dirty="0">
                <a:solidFill>
                  <a:srgbClr val="5C6B82"/>
                </a:solidFill>
                <a:latin typeface="Calibri" pitchFamily="34" charset="0"/>
                <a:ea typeface="Calibri" pitchFamily="34" charset="-122"/>
                <a:cs typeface="Calibri" pitchFamily="34" charset="-120"/>
              </a:rPr>
              <a:t>global/shared data acted on by procedures</a:t>
            </a:r>
            <a:endParaRPr lang="en-US" sz="1100" dirty="0"/>
          </a:p>
        </p:txBody>
      </p:sp>
      <p:pic>
        <p:nvPicPr>
          <p:cNvPr id="25" name="Image 5" descr="/home/claude/deck/icons/arrow.png"/>
          <p:cNvPicPr>
            <a:picLocks noChangeAspect="1"/>
          </p:cNvPicPr>
          <p:nvPr/>
        </p:nvPicPr>
        <p:blipFill>
          <a:blip r:embed="rId5"/>
          <a:stretch>
            <a:fillRect/>
          </a:stretch>
        </p:blipFill>
        <p:spPr>
          <a:xfrm>
            <a:off x="841248" y="5385816"/>
            <a:ext cx="182880" cy="182880"/>
          </a:xfrm>
          <a:prstGeom prst="rect">
            <a:avLst/>
          </a:prstGeom>
        </p:spPr>
      </p:pic>
      <p:sp>
        <p:nvSpPr>
          <p:cNvPr id="26" name="Text 18"/>
          <p:cNvSpPr/>
          <p:nvPr/>
        </p:nvSpPr>
        <p:spPr>
          <a:xfrm>
            <a:off x="1133856" y="5312664"/>
            <a:ext cx="4645152" cy="329184"/>
          </a:xfrm>
          <a:prstGeom prst="rect">
            <a:avLst/>
          </a:prstGeom>
          <a:noFill/>
          <a:ln/>
        </p:spPr>
        <p:txBody>
          <a:bodyPr wrap="square" lIns="0" tIns="0" rIns="0" bIns="0" rtlCol="0" anchor="t"/>
          <a:lstStyle/>
          <a:p>
            <a:pPr marL="0" indent="0" algn="l">
              <a:lnSpc>
                <a:spcPct val="100000"/>
              </a:lnSpc>
              <a:buNone/>
            </a:pPr>
            <a:r>
              <a:rPr lang="en-US" sz="1300" b="1" dirty="0">
                <a:solidFill>
                  <a:srgbClr val="13294B"/>
                </a:solidFill>
                <a:latin typeface="Calibri" pitchFamily="34" charset="0"/>
                <a:ea typeface="Calibri" pitchFamily="34" charset="-122"/>
                <a:cs typeface="Calibri" pitchFamily="34" charset="-120"/>
              </a:rPr>
              <a:t>Methods</a:t>
            </a:r>
            <a:endParaRPr lang="en-US" sz="1300" dirty="0"/>
          </a:p>
        </p:txBody>
      </p:sp>
      <p:sp>
        <p:nvSpPr>
          <p:cNvPr id="27" name="Text 19"/>
          <p:cNvSpPr/>
          <p:nvPr/>
        </p:nvSpPr>
        <p:spPr>
          <a:xfrm>
            <a:off x="1133856" y="5605272"/>
            <a:ext cx="4645152" cy="365760"/>
          </a:xfrm>
          <a:prstGeom prst="rect">
            <a:avLst/>
          </a:prstGeom>
          <a:noFill/>
          <a:ln/>
        </p:spPr>
        <p:txBody>
          <a:bodyPr wrap="square" lIns="0" tIns="0" rIns="0" bIns="0" rtlCol="0" anchor="t"/>
          <a:lstStyle/>
          <a:p>
            <a:pPr marL="0" indent="0" algn="l">
              <a:lnSpc>
                <a:spcPct val="102000"/>
              </a:lnSpc>
              <a:buNone/>
            </a:pPr>
            <a:r>
              <a:rPr lang="en-US" sz="1100" dirty="0">
                <a:solidFill>
                  <a:srgbClr val="5C6B82"/>
                </a:solidFill>
                <a:latin typeface="Calibri" pitchFamily="34" charset="0"/>
                <a:ea typeface="Calibri" pitchFamily="34" charset="-122"/>
                <a:cs typeface="Calibri" pitchFamily="34" charset="-120"/>
              </a:rPr>
              <a:t>SA/SD, Structured Design, DFDs, structure charts</a:t>
            </a:r>
            <a:endParaRPr lang="en-US" sz="1100" dirty="0"/>
          </a:p>
        </p:txBody>
      </p:sp>
      <p:sp>
        <p:nvSpPr>
          <p:cNvPr id="28" name="Shape 20"/>
          <p:cNvSpPr/>
          <p:nvPr/>
        </p:nvSpPr>
        <p:spPr>
          <a:xfrm>
            <a:off x="6181344" y="1691640"/>
            <a:ext cx="5468112" cy="4343400"/>
          </a:xfrm>
          <a:prstGeom prst="roundRect">
            <a:avLst>
              <a:gd name="adj" fmla="val 2526"/>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sp>
      <p:sp>
        <p:nvSpPr>
          <p:cNvPr id="29" name="Shape 21"/>
          <p:cNvSpPr/>
          <p:nvPr/>
        </p:nvSpPr>
        <p:spPr>
          <a:xfrm>
            <a:off x="6181344" y="1691640"/>
            <a:ext cx="5468112" cy="822960"/>
          </a:xfrm>
          <a:prstGeom prst="roundRect">
            <a:avLst>
              <a:gd name="adj" fmla="val 13333"/>
            </a:avLst>
          </a:prstGeom>
          <a:solidFill>
            <a:srgbClr val="6C5B9E"/>
          </a:solidFill>
          <a:ln/>
        </p:spPr>
      </p:sp>
      <p:sp>
        <p:nvSpPr>
          <p:cNvPr id="30" name="Shape 22"/>
          <p:cNvSpPr/>
          <p:nvPr/>
        </p:nvSpPr>
        <p:spPr>
          <a:xfrm>
            <a:off x="6181344" y="2377440"/>
            <a:ext cx="5468112" cy="137160"/>
          </a:xfrm>
          <a:prstGeom prst="rect">
            <a:avLst/>
          </a:prstGeom>
          <a:solidFill>
            <a:srgbClr val="6C5B9E"/>
          </a:solidFill>
          <a:ln/>
        </p:spPr>
      </p:sp>
      <p:sp>
        <p:nvSpPr>
          <p:cNvPr id="31" name="Shape 23"/>
          <p:cNvSpPr/>
          <p:nvPr/>
        </p:nvSpPr>
        <p:spPr>
          <a:xfrm>
            <a:off x="6437376" y="1874520"/>
            <a:ext cx="548640" cy="548640"/>
          </a:xfrm>
          <a:prstGeom prst="ellipse">
            <a:avLst/>
          </a:prstGeom>
          <a:solidFill>
            <a:srgbClr val="FFFFFF"/>
          </a:solidFill>
          <a:ln/>
        </p:spPr>
      </p:sp>
      <p:pic>
        <p:nvPicPr>
          <p:cNvPr id="32" name="Image 6" descr="/home/claude/deck/icons/cube.png"/>
          <p:cNvPicPr>
            <a:picLocks noChangeAspect="1"/>
          </p:cNvPicPr>
          <p:nvPr/>
        </p:nvPicPr>
        <p:blipFill>
          <a:blip r:embed="rId6"/>
          <a:stretch>
            <a:fillRect/>
          </a:stretch>
        </p:blipFill>
        <p:spPr>
          <a:xfrm>
            <a:off x="6569050" y="2006194"/>
            <a:ext cx="285293" cy="285293"/>
          </a:xfrm>
          <a:prstGeom prst="rect">
            <a:avLst/>
          </a:prstGeom>
        </p:spPr>
      </p:pic>
      <p:sp>
        <p:nvSpPr>
          <p:cNvPr id="33" name="Text 24"/>
          <p:cNvSpPr/>
          <p:nvPr/>
        </p:nvSpPr>
        <p:spPr>
          <a:xfrm>
            <a:off x="7141464" y="1847088"/>
            <a:ext cx="4370832" cy="640080"/>
          </a:xfrm>
          <a:prstGeom prst="rect">
            <a:avLst/>
          </a:prstGeom>
          <a:noFill/>
          <a:ln/>
        </p:spPr>
        <p:txBody>
          <a:bodyPr wrap="square" lIns="0" tIns="0" rIns="0" bIns="0" rtlCol="0" anchor="ctr"/>
          <a:lstStyle/>
          <a:p>
            <a:pPr marL="0" indent="0" algn="l">
              <a:lnSpc>
                <a:spcPct val="100000"/>
              </a:lnSpc>
              <a:buNone/>
            </a:pPr>
            <a:r>
              <a:rPr lang="en-US" sz="1700" b="1" dirty="0">
                <a:solidFill>
                  <a:srgbClr val="FFFFFF"/>
                </a:solidFill>
                <a:latin typeface="Cambria" pitchFamily="34" charset="0"/>
                <a:ea typeface="Cambria" pitchFamily="34" charset="-122"/>
                <a:cs typeface="Cambria" pitchFamily="34" charset="-120"/>
              </a:rPr>
              <a:t>Object-Oriented Design</a:t>
            </a:r>
            <a:endParaRPr lang="en-US" sz="1700" dirty="0"/>
          </a:p>
        </p:txBody>
      </p:sp>
      <p:pic>
        <p:nvPicPr>
          <p:cNvPr id="34" name="Image 7" descr="/home/claude/deck/icons/arrow.png"/>
          <p:cNvPicPr>
            <a:picLocks noChangeAspect="1"/>
          </p:cNvPicPr>
          <p:nvPr/>
        </p:nvPicPr>
        <p:blipFill>
          <a:blip r:embed="rId5"/>
          <a:stretch>
            <a:fillRect/>
          </a:stretch>
        </p:blipFill>
        <p:spPr>
          <a:xfrm>
            <a:off x="6455664" y="2752344"/>
            <a:ext cx="182880" cy="182880"/>
          </a:xfrm>
          <a:prstGeom prst="rect">
            <a:avLst/>
          </a:prstGeom>
        </p:spPr>
      </p:pic>
      <p:sp>
        <p:nvSpPr>
          <p:cNvPr id="35" name="Text 25"/>
          <p:cNvSpPr/>
          <p:nvPr/>
        </p:nvSpPr>
        <p:spPr>
          <a:xfrm>
            <a:off x="6748272" y="2679192"/>
            <a:ext cx="4645152" cy="329184"/>
          </a:xfrm>
          <a:prstGeom prst="rect">
            <a:avLst/>
          </a:prstGeom>
          <a:noFill/>
          <a:ln/>
        </p:spPr>
        <p:txBody>
          <a:bodyPr wrap="square" lIns="0" tIns="0" rIns="0" bIns="0" rtlCol="0" anchor="t"/>
          <a:lstStyle/>
          <a:p>
            <a:pPr marL="0" indent="0" algn="l">
              <a:lnSpc>
                <a:spcPct val="100000"/>
              </a:lnSpc>
              <a:buNone/>
            </a:pPr>
            <a:r>
              <a:rPr lang="en-US" sz="1300" b="1" dirty="0">
                <a:solidFill>
                  <a:srgbClr val="13294B"/>
                </a:solidFill>
                <a:latin typeface="Calibri" pitchFamily="34" charset="0"/>
                <a:ea typeface="Calibri" pitchFamily="34" charset="-122"/>
                <a:cs typeface="Calibri" pitchFamily="34" charset="-120"/>
              </a:rPr>
              <a:t>Decomposes the system by objects</a:t>
            </a:r>
            <a:endParaRPr lang="en-US" sz="1300" dirty="0"/>
          </a:p>
        </p:txBody>
      </p:sp>
      <p:sp>
        <p:nvSpPr>
          <p:cNvPr id="36" name="Text 26"/>
          <p:cNvSpPr/>
          <p:nvPr/>
        </p:nvSpPr>
        <p:spPr>
          <a:xfrm>
            <a:off x="6748272" y="2971800"/>
            <a:ext cx="4645152" cy="365760"/>
          </a:xfrm>
          <a:prstGeom prst="rect">
            <a:avLst/>
          </a:prstGeom>
          <a:noFill/>
          <a:ln/>
        </p:spPr>
        <p:txBody>
          <a:bodyPr wrap="square" lIns="0" tIns="0" rIns="0" bIns="0" rtlCol="0" anchor="t"/>
          <a:lstStyle/>
          <a:p>
            <a:pPr marL="0" indent="0" algn="l">
              <a:lnSpc>
                <a:spcPct val="102000"/>
              </a:lnSpc>
              <a:buNone/>
            </a:pPr>
            <a:r>
              <a:rPr lang="en-US" sz="1100" dirty="0">
                <a:solidFill>
                  <a:srgbClr val="5C6B82"/>
                </a:solidFill>
                <a:latin typeface="Calibri" pitchFamily="34" charset="0"/>
                <a:ea typeface="Calibri" pitchFamily="34" charset="-122"/>
                <a:cs typeface="Calibri" pitchFamily="34" charset="-120"/>
              </a:rPr>
              <a:t>the system is a set of collaborating objects</a:t>
            </a:r>
            <a:endParaRPr lang="en-US" sz="1100" dirty="0"/>
          </a:p>
        </p:txBody>
      </p:sp>
      <p:pic>
        <p:nvPicPr>
          <p:cNvPr id="37" name="Image 8" descr="/home/claude/deck/icons/arrow.png"/>
          <p:cNvPicPr>
            <a:picLocks noChangeAspect="1"/>
          </p:cNvPicPr>
          <p:nvPr/>
        </p:nvPicPr>
        <p:blipFill>
          <a:blip r:embed="rId5"/>
          <a:stretch>
            <a:fillRect/>
          </a:stretch>
        </p:blipFill>
        <p:spPr>
          <a:xfrm>
            <a:off x="6455664" y="3410712"/>
            <a:ext cx="182880" cy="182880"/>
          </a:xfrm>
          <a:prstGeom prst="rect">
            <a:avLst/>
          </a:prstGeom>
        </p:spPr>
      </p:pic>
      <p:sp>
        <p:nvSpPr>
          <p:cNvPr id="38" name="Text 27"/>
          <p:cNvSpPr/>
          <p:nvPr/>
        </p:nvSpPr>
        <p:spPr>
          <a:xfrm>
            <a:off x="6748272" y="3337560"/>
            <a:ext cx="4645152" cy="329184"/>
          </a:xfrm>
          <a:prstGeom prst="rect">
            <a:avLst/>
          </a:prstGeom>
          <a:noFill/>
          <a:ln/>
        </p:spPr>
        <p:txBody>
          <a:bodyPr wrap="square" lIns="0" tIns="0" rIns="0" bIns="0" rtlCol="0" anchor="t"/>
          <a:lstStyle/>
          <a:p>
            <a:pPr marL="0" indent="0" algn="l">
              <a:lnSpc>
                <a:spcPct val="100000"/>
              </a:lnSpc>
              <a:buNone/>
            </a:pPr>
            <a:r>
              <a:rPr lang="en-US" sz="1300" b="1" dirty="0">
                <a:solidFill>
                  <a:srgbClr val="13294B"/>
                </a:solidFill>
                <a:latin typeface="Calibri" pitchFamily="34" charset="0"/>
                <a:ea typeface="Calibri" pitchFamily="34" charset="-122"/>
                <a:cs typeface="Calibri" pitchFamily="34" charset="-120"/>
              </a:rPr>
              <a:t>Centres on data + behaviour</a:t>
            </a:r>
            <a:endParaRPr lang="en-US" sz="1300" dirty="0"/>
          </a:p>
        </p:txBody>
      </p:sp>
      <p:sp>
        <p:nvSpPr>
          <p:cNvPr id="39" name="Text 28"/>
          <p:cNvSpPr/>
          <p:nvPr/>
        </p:nvSpPr>
        <p:spPr>
          <a:xfrm>
            <a:off x="6748272" y="3630168"/>
            <a:ext cx="4645152" cy="365760"/>
          </a:xfrm>
          <a:prstGeom prst="rect">
            <a:avLst/>
          </a:prstGeom>
          <a:noFill/>
          <a:ln/>
        </p:spPr>
        <p:txBody>
          <a:bodyPr wrap="square" lIns="0" tIns="0" rIns="0" bIns="0" rtlCol="0" anchor="t"/>
          <a:lstStyle/>
          <a:p>
            <a:pPr marL="0" indent="0" algn="l">
              <a:lnSpc>
                <a:spcPct val="102000"/>
              </a:lnSpc>
              <a:buNone/>
            </a:pPr>
            <a:r>
              <a:rPr lang="en-US" sz="1100" dirty="0">
                <a:solidFill>
                  <a:srgbClr val="5C6B82"/>
                </a:solidFill>
                <a:latin typeface="Calibri" pitchFamily="34" charset="0"/>
                <a:ea typeface="Calibri" pitchFamily="34" charset="-122"/>
                <a:cs typeface="Calibri" pitchFamily="34" charset="-120"/>
              </a:rPr>
              <a:t>objects bundle state with the operations on it</a:t>
            </a:r>
            <a:endParaRPr lang="en-US" sz="1100" dirty="0"/>
          </a:p>
        </p:txBody>
      </p:sp>
      <p:pic>
        <p:nvPicPr>
          <p:cNvPr id="40" name="Image 9" descr="/home/claude/deck/icons/arrow.png"/>
          <p:cNvPicPr>
            <a:picLocks noChangeAspect="1"/>
          </p:cNvPicPr>
          <p:nvPr/>
        </p:nvPicPr>
        <p:blipFill>
          <a:blip r:embed="rId5"/>
          <a:stretch>
            <a:fillRect/>
          </a:stretch>
        </p:blipFill>
        <p:spPr>
          <a:xfrm>
            <a:off x="6455664" y="4069080"/>
            <a:ext cx="182880" cy="182880"/>
          </a:xfrm>
          <a:prstGeom prst="rect">
            <a:avLst/>
          </a:prstGeom>
        </p:spPr>
      </p:pic>
      <p:sp>
        <p:nvSpPr>
          <p:cNvPr id="41" name="Text 29"/>
          <p:cNvSpPr/>
          <p:nvPr/>
        </p:nvSpPr>
        <p:spPr>
          <a:xfrm>
            <a:off x="6748272" y="3995928"/>
            <a:ext cx="4645152" cy="329184"/>
          </a:xfrm>
          <a:prstGeom prst="rect">
            <a:avLst/>
          </a:prstGeom>
          <a:noFill/>
          <a:ln/>
        </p:spPr>
        <p:txBody>
          <a:bodyPr wrap="square" lIns="0" tIns="0" rIns="0" bIns="0" rtlCol="0" anchor="t"/>
          <a:lstStyle/>
          <a:p>
            <a:pPr marL="0" indent="0" algn="l">
              <a:lnSpc>
                <a:spcPct val="100000"/>
              </a:lnSpc>
              <a:buNone/>
            </a:pPr>
            <a:r>
              <a:rPr lang="en-US" sz="1300" b="1" dirty="0">
                <a:solidFill>
                  <a:srgbClr val="13294B"/>
                </a:solidFill>
                <a:latin typeface="Calibri" pitchFamily="34" charset="0"/>
                <a:ea typeface="Calibri" pitchFamily="34" charset="-122"/>
                <a:cs typeface="Calibri" pitchFamily="34" charset="-120"/>
              </a:rPr>
              <a:t>Bottom-up + iterative</a:t>
            </a:r>
            <a:endParaRPr lang="en-US" sz="1300" dirty="0"/>
          </a:p>
        </p:txBody>
      </p:sp>
      <p:sp>
        <p:nvSpPr>
          <p:cNvPr id="42" name="Text 30"/>
          <p:cNvSpPr/>
          <p:nvPr/>
        </p:nvSpPr>
        <p:spPr>
          <a:xfrm>
            <a:off x="6748272" y="4288536"/>
            <a:ext cx="4645152" cy="365760"/>
          </a:xfrm>
          <a:prstGeom prst="rect">
            <a:avLst/>
          </a:prstGeom>
          <a:noFill/>
          <a:ln/>
        </p:spPr>
        <p:txBody>
          <a:bodyPr wrap="square" lIns="0" tIns="0" rIns="0" bIns="0" rtlCol="0" anchor="t"/>
          <a:lstStyle/>
          <a:p>
            <a:pPr marL="0" indent="0" algn="l">
              <a:lnSpc>
                <a:spcPct val="102000"/>
              </a:lnSpc>
              <a:buNone/>
            </a:pPr>
            <a:r>
              <a:rPr lang="en-US" sz="1100" dirty="0">
                <a:solidFill>
                  <a:srgbClr val="5C6B82"/>
                </a:solidFill>
                <a:latin typeface="Calibri" pitchFamily="34" charset="0"/>
                <a:ea typeface="Calibri" pitchFamily="34" charset="-122"/>
                <a:cs typeface="Calibri" pitchFamily="34" charset="-120"/>
              </a:rPr>
              <a:t>identify classes, then relationships &amp; behaviour</a:t>
            </a:r>
            <a:endParaRPr lang="en-US" sz="1100" dirty="0"/>
          </a:p>
        </p:txBody>
      </p:sp>
      <p:pic>
        <p:nvPicPr>
          <p:cNvPr id="43" name="Image 10" descr="/home/claude/deck/icons/arrow.png"/>
          <p:cNvPicPr>
            <a:picLocks noChangeAspect="1"/>
          </p:cNvPicPr>
          <p:nvPr/>
        </p:nvPicPr>
        <p:blipFill>
          <a:blip r:embed="rId5"/>
          <a:stretch>
            <a:fillRect/>
          </a:stretch>
        </p:blipFill>
        <p:spPr>
          <a:xfrm>
            <a:off x="6455664" y="4727448"/>
            <a:ext cx="182880" cy="182880"/>
          </a:xfrm>
          <a:prstGeom prst="rect">
            <a:avLst/>
          </a:prstGeom>
        </p:spPr>
      </p:pic>
      <p:sp>
        <p:nvSpPr>
          <p:cNvPr id="44" name="Text 31"/>
          <p:cNvSpPr/>
          <p:nvPr/>
        </p:nvSpPr>
        <p:spPr>
          <a:xfrm>
            <a:off x="6748272" y="4654296"/>
            <a:ext cx="4645152" cy="329184"/>
          </a:xfrm>
          <a:prstGeom prst="rect">
            <a:avLst/>
          </a:prstGeom>
          <a:noFill/>
          <a:ln/>
        </p:spPr>
        <p:txBody>
          <a:bodyPr wrap="square" lIns="0" tIns="0" rIns="0" bIns="0" rtlCol="0" anchor="t"/>
          <a:lstStyle/>
          <a:p>
            <a:pPr marL="0" indent="0" algn="l">
              <a:lnSpc>
                <a:spcPct val="100000"/>
              </a:lnSpc>
              <a:buNone/>
            </a:pPr>
            <a:r>
              <a:rPr lang="en-US" sz="1300" b="1" dirty="0">
                <a:solidFill>
                  <a:srgbClr val="13294B"/>
                </a:solidFill>
                <a:latin typeface="Calibri" pitchFamily="34" charset="0"/>
                <a:ea typeface="Calibri" pitchFamily="34" charset="-122"/>
                <a:cs typeface="Calibri" pitchFamily="34" charset="-120"/>
              </a:rPr>
              <a:t>Encapsulation</a:t>
            </a:r>
            <a:endParaRPr lang="en-US" sz="1300" dirty="0"/>
          </a:p>
        </p:txBody>
      </p:sp>
      <p:sp>
        <p:nvSpPr>
          <p:cNvPr id="45" name="Text 32"/>
          <p:cNvSpPr/>
          <p:nvPr/>
        </p:nvSpPr>
        <p:spPr>
          <a:xfrm>
            <a:off x="6748272" y="4946904"/>
            <a:ext cx="4645152" cy="365760"/>
          </a:xfrm>
          <a:prstGeom prst="rect">
            <a:avLst/>
          </a:prstGeom>
          <a:noFill/>
          <a:ln/>
        </p:spPr>
        <p:txBody>
          <a:bodyPr wrap="square" lIns="0" tIns="0" rIns="0" bIns="0" rtlCol="0" anchor="t"/>
          <a:lstStyle/>
          <a:p>
            <a:pPr marL="0" indent="0" algn="l">
              <a:lnSpc>
                <a:spcPct val="102000"/>
              </a:lnSpc>
              <a:buNone/>
            </a:pPr>
            <a:r>
              <a:rPr lang="en-US" sz="1100" dirty="0">
                <a:solidFill>
                  <a:srgbClr val="5C6B82"/>
                </a:solidFill>
                <a:latin typeface="Calibri" pitchFamily="34" charset="0"/>
                <a:ea typeface="Calibri" pitchFamily="34" charset="-122"/>
                <a:cs typeface="Calibri" pitchFamily="34" charset="-120"/>
              </a:rPr>
              <a:t>data hidden inside objects, exposed via methods</a:t>
            </a:r>
            <a:endParaRPr lang="en-US" sz="1100" dirty="0"/>
          </a:p>
        </p:txBody>
      </p:sp>
      <p:pic>
        <p:nvPicPr>
          <p:cNvPr id="46" name="Image 11" descr="/home/claude/deck/icons/arrow.png"/>
          <p:cNvPicPr>
            <a:picLocks noChangeAspect="1"/>
          </p:cNvPicPr>
          <p:nvPr/>
        </p:nvPicPr>
        <p:blipFill>
          <a:blip r:embed="rId5"/>
          <a:stretch>
            <a:fillRect/>
          </a:stretch>
        </p:blipFill>
        <p:spPr>
          <a:xfrm>
            <a:off x="6455664" y="5385816"/>
            <a:ext cx="182880" cy="182880"/>
          </a:xfrm>
          <a:prstGeom prst="rect">
            <a:avLst/>
          </a:prstGeom>
        </p:spPr>
      </p:pic>
      <p:sp>
        <p:nvSpPr>
          <p:cNvPr id="47" name="Text 33"/>
          <p:cNvSpPr/>
          <p:nvPr/>
        </p:nvSpPr>
        <p:spPr>
          <a:xfrm>
            <a:off x="6748272" y="5312664"/>
            <a:ext cx="4645152" cy="329184"/>
          </a:xfrm>
          <a:prstGeom prst="rect">
            <a:avLst/>
          </a:prstGeom>
          <a:noFill/>
          <a:ln/>
        </p:spPr>
        <p:txBody>
          <a:bodyPr wrap="square" lIns="0" tIns="0" rIns="0" bIns="0" rtlCol="0" anchor="t"/>
          <a:lstStyle/>
          <a:p>
            <a:pPr marL="0" indent="0" algn="l">
              <a:lnSpc>
                <a:spcPct val="100000"/>
              </a:lnSpc>
              <a:buNone/>
            </a:pPr>
            <a:r>
              <a:rPr lang="en-US" sz="1300" b="1" dirty="0">
                <a:solidFill>
                  <a:srgbClr val="13294B"/>
                </a:solidFill>
                <a:latin typeface="Calibri" pitchFamily="34" charset="0"/>
                <a:ea typeface="Calibri" pitchFamily="34" charset="-122"/>
                <a:cs typeface="Calibri" pitchFamily="34" charset="-120"/>
              </a:rPr>
              <a:t>Methods</a:t>
            </a:r>
            <a:endParaRPr lang="en-US" sz="1300" dirty="0"/>
          </a:p>
        </p:txBody>
      </p:sp>
      <p:sp>
        <p:nvSpPr>
          <p:cNvPr id="48" name="Text 34"/>
          <p:cNvSpPr/>
          <p:nvPr/>
        </p:nvSpPr>
        <p:spPr>
          <a:xfrm>
            <a:off x="6748272" y="5605272"/>
            <a:ext cx="4645152" cy="365760"/>
          </a:xfrm>
          <a:prstGeom prst="rect">
            <a:avLst/>
          </a:prstGeom>
          <a:noFill/>
          <a:ln/>
        </p:spPr>
        <p:txBody>
          <a:bodyPr wrap="square" lIns="0" tIns="0" rIns="0" bIns="0" rtlCol="0" anchor="t"/>
          <a:lstStyle/>
          <a:p>
            <a:pPr marL="0" indent="0" algn="l">
              <a:lnSpc>
                <a:spcPct val="102000"/>
              </a:lnSpc>
              <a:buNone/>
            </a:pPr>
            <a:r>
              <a:rPr lang="en-US" sz="1100" dirty="0">
                <a:solidFill>
                  <a:srgbClr val="5C6B82"/>
                </a:solidFill>
                <a:latin typeface="Calibri" pitchFamily="34" charset="0"/>
                <a:ea typeface="Calibri" pitchFamily="34" charset="-122"/>
                <a:cs typeface="Calibri" pitchFamily="34" charset="-120"/>
              </a:rPr>
              <a:t>UML, use cases, Unified Process, design patterns</a:t>
            </a:r>
            <a:endParaRPr lang="en-US" sz="1100" dirty="0"/>
          </a:p>
        </p:txBody>
      </p:sp>
    </p:spTree>
    <p:extLst>
      <p:ext uri="{BB962C8B-B14F-4D97-AF65-F5344CB8AC3E}">
        <p14:creationId xmlns:p14="http://schemas.microsoft.com/office/powerpoint/2010/main" val="1272231349"/>
      </p:ext>
    </p:extLst>
  </p:cSld>
  <p:clrMapOvr>
    <a:overrideClrMapping bg1="lt1" tx1="dk1" bg2="lt2" tx2="dk2" accent1="accent1" accent2="accent2" accent3="accent3" accent4="accent4" accent5="accent5" accent6="accent6" hlink="hlink" folHlink="folHlink"/>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3" name="Shape 1"/>
          <p:cNvSpPr/>
          <p:nvPr/>
        </p:nvSpPr>
        <p:spPr>
          <a:xfrm>
            <a:off x="0" y="0"/>
            <a:ext cx="0" cy="0"/>
          </a:xfrm>
          <a:prstGeom prst="rect">
            <a:avLst/>
          </a:prstGeom>
          <a:noFill/>
          <a:ln/>
        </p:spPr>
      </p:sp>
      <p:sp>
        <p:nvSpPr>
          <p:cNvPr id="7" name="Text 4"/>
          <p:cNvSpPr/>
          <p:nvPr/>
        </p:nvSpPr>
        <p:spPr>
          <a:xfrm>
            <a:off x="2147926" y="2080260"/>
            <a:ext cx="7680960" cy="1463040"/>
          </a:xfrm>
          <a:prstGeom prst="rect">
            <a:avLst/>
          </a:prstGeom>
          <a:noFill/>
          <a:ln/>
        </p:spPr>
        <p:txBody>
          <a:bodyPr wrap="square" rtlCol="0" anchor="t"/>
          <a:lstStyle/>
          <a:p>
            <a:pPr marL="0" indent="0">
              <a:buNone/>
            </a:pPr>
            <a:r>
              <a:rPr lang="en-US" sz="4000" b="1" dirty="0">
                <a:solidFill>
                  <a:srgbClr val="FF0000"/>
                </a:solidFill>
                <a:latin typeface="Cambria" pitchFamily="34" charset="0"/>
                <a:ea typeface="Cambria" pitchFamily="34" charset="-122"/>
                <a:cs typeface="Cambria" pitchFamily="34" charset="-120"/>
              </a:rPr>
              <a:t>      2.Function-Oriented Design</a:t>
            </a:r>
            <a:endParaRPr lang="en-US" sz="4000" dirty="0">
              <a:solidFill>
                <a:srgbClr val="FF0000"/>
              </a:solidFill>
            </a:endParaRPr>
          </a:p>
        </p:txBody>
      </p:sp>
      <p:sp>
        <p:nvSpPr>
          <p:cNvPr id="8" name="Text 5"/>
          <p:cNvSpPr/>
          <p:nvPr/>
        </p:nvSpPr>
        <p:spPr>
          <a:xfrm>
            <a:off x="868680" y="5440680"/>
            <a:ext cx="10452078" cy="822960"/>
          </a:xfrm>
          <a:prstGeom prst="rect">
            <a:avLst/>
          </a:prstGeom>
          <a:noFill/>
          <a:ln/>
        </p:spPr>
        <p:txBody>
          <a:bodyPr wrap="square" rtlCol="0" anchor="t"/>
          <a:lstStyle/>
          <a:p>
            <a:pPr marL="0" indent="0">
              <a:buNone/>
            </a:pPr>
            <a:r>
              <a:rPr lang="en-US" sz="1500" dirty="0">
                <a:solidFill>
                  <a:srgbClr val="AEBED5"/>
                </a:solidFill>
                <a:latin typeface="Calibri" pitchFamily="34" charset="0"/>
                <a:ea typeface="Calibri" pitchFamily="34" charset="-122"/>
                <a:cs typeface="Calibri" pitchFamily="34" charset="-120"/>
              </a:rPr>
              <a:t>The SA/SD methodology — structured analysis with DFDs, structured design into structure charts, detailed design and review.</a:t>
            </a:r>
            <a:endParaRPr lang="en-US" sz="1500" dirty="0"/>
          </a:p>
        </p:txBody>
      </p:sp>
      <p:pic>
        <p:nvPicPr>
          <p:cNvPr id="5" name="Picture 4" descr="gitam_logo.png"/>
          <p:cNvPicPr>
            <a:picLocks noChangeAspect="1"/>
          </p:cNvPicPr>
          <p:nvPr/>
        </p:nvPicPr>
        <p:blipFill>
          <a:blip r:embed="rId4"/>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3244696914"/>
      </p:ext>
    </p:extLst>
  </p:cSld>
  <p:clrMapOvr>
    <a:overrideClrMapping bg1="lt1" tx1="dk1" bg2="lt2" tx2="dk2" accent1="accent1" accent2="accent2" accent3="accent3" accent4="accent4" accent5="accent5" accent6="accent6" hlink="hlink" folHlink="folHlink"/>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490207" y="109728"/>
            <a:ext cx="6449586" cy="477054"/>
          </a:xfrm>
          <a:prstGeom prst="rect">
            <a:avLst/>
          </a:prstGeom>
          <a:noFill/>
        </p:spPr>
        <p:txBody>
          <a:bodyPr wrap="none">
            <a:spAutoFit/>
          </a:bodyPr>
          <a:lstStyle/>
          <a:p>
            <a:pPr>
              <a:defRPr sz="2500" b="1">
                <a:solidFill>
                  <a:srgbClr val="FFFFFF"/>
                </a:solidFill>
              </a:defRPr>
            </a:pPr>
            <a:r>
              <a:rPr dirty="0"/>
              <a:t>Function-Oriented Design — SA/SD Overview</a:t>
            </a:r>
          </a:p>
        </p:txBody>
      </p:sp>
      <p:sp>
        <p:nvSpPr>
          <p:cNvPr id="4" name="TextBox 3"/>
          <p:cNvSpPr txBox="1"/>
          <p:nvPr/>
        </p:nvSpPr>
        <p:spPr>
          <a:xfrm>
            <a:off x="609447" y="1122682"/>
            <a:ext cx="10972800" cy="4832092"/>
          </a:xfrm>
          <a:prstGeom prst="rect">
            <a:avLst/>
          </a:prstGeom>
          <a:noFill/>
        </p:spPr>
        <p:txBody>
          <a:bodyPr wrap="square">
            <a:spAutoFit/>
          </a:bodyPr>
          <a:lstStyle/>
          <a:p>
            <a:pPr>
              <a:spcAft>
                <a:spcPts val="800"/>
              </a:spcAft>
              <a:defRPr sz="2000">
                <a:solidFill>
                  <a:srgbClr val="2D2D2D"/>
                </a:solidFill>
              </a:defRPr>
            </a:pPr>
            <a:r>
              <a:rPr sz="3200" b="1" dirty="0">
                <a:latin typeface="Times New Roman" panose="02020603050405020304" pitchFamily="18" charset="0"/>
                <a:cs typeface="Times New Roman" panose="02020603050405020304" pitchFamily="18" charset="0"/>
              </a:rPr>
              <a:t>Structured Analysis (SA) </a:t>
            </a:r>
            <a:r>
              <a:rPr sz="3200" dirty="0">
                <a:latin typeface="Times New Roman" panose="02020603050405020304" pitchFamily="18" charset="0"/>
                <a:cs typeface="Times New Roman" panose="02020603050405020304" pitchFamily="18" charset="0"/>
              </a:rPr>
              <a:t>focuses on understanding the problem using data-flow-oriented models.</a:t>
            </a:r>
          </a:p>
          <a:p>
            <a:pPr>
              <a:spcAft>
                <a:spcPts val="800"/>
              </a:spcAft>
              <a:defRPr sz="2000">
                <a:solidFill>
                  <a:srgbClr val="2D2D2D"/>
                </a:solidFill>
              </a:defRPr>
            </a:pPr>
            <a:r>
              <a:rPr sz="3200" b="1" dirty="0">
                <a:latin typeface="Times New Roman" panose="02020603050405020304" pitchFamily="18" charset="0"/>
                <a:cs typeface="Times New Roman" panose="02020603050405020304" pitchFamily="18" charset="0"/>
              </a:rPr>
              <a:t>Structured Design (SD) </a:t>
            </a:r>
            <a:r>
              <a:rPr sz="3200" dirty="0">
                <a:latin typeface="Times New Roman" panose="02020603050405020304" pitchFamily="18" charset="0"/>
                <a:cs typeface="Times New Roman" panose="02020603050405020304" pitchFamily="18" charset="0"/>
              </a:rPr>
              <a:t>converts the analysis model into a modular program structure.</a:t>
            </a:r>
          </a:p>
          <a:p>
            <a:pPr>
              <a:spcAft>
                <a:spcPts val="800"/>
              </a:spcAft>
              <a:defRPr sz="2000">
                <a:solidFill>
                  <a:srgbClr val="2D2D2D"/>
                </a:solidFill>
              </a:defRPr>
            </a:pPr>
            <a:r>
              <a:rPr sz="3200" b="1" dirty="0">
                <a:latin typeface="Times New Roman" panose="02020603050405020304" pitchFamily="18" charset="0"/>
                <a:cs typeface="Times New Roman" panose="02020603050405020304" pitchFamily="18" charset="0"/>
              </a:rPr>
              <a:t>Typical flow</a:t>
            </a:r>
            <a:r>
              <a:rPr sz="3200" dirty="0">
                <a:latin typeface="Times New Roman" panose="02020603050405020304" pitchFamily="18" charset="0"/>
                <a:cs typeface="Times New Roman" panose="02020603050405020304" pitchFamily="18" charset="0"/>
              </a:rPr>
              <a:t>: requirements → context diagram → leveled DFDs → transform/transaction analysis → structure chart → detailed module design → review.</a:t>
            </a:r>
          </a:p>
          <a:p>
            <a:pPr>
              <a:spcAft>
                <a:spcPts val="800"/>
              </a:spcAft>
              <a:defRPr sz="2000">
                <a:solidFill>
                  <a:srgbClr val="2D2D2D"/>
                </a:solidFill>
              </a:defRPr>
            </a:pPr>
            <a:r>
              <a:rPr sz="3200" b="1" dirty="0">
                <a:latin typeface="Times New Roman" panose="02020603050405020304" pitchFamily="18" charset="0"/>
                <a:cs typeface="Times New Roman" panose="02020603050405020304" pitchFamily="18" charset="0"/>
              </a:rPr>
              <a:t>Primary objective</a:t>
            </a:r>
            <a:r>
              <a:rPr sz="3200" dirty="0">
                <a:latin typeface="Times New Roman" panose="02020603050405020304" pitchFamily="18" charset="0"/>
                <a:cs typeface="Times New Roman" panose="02020603050405020304" pitchFamily="18" charset="0"/>
              </a:rPr>
              <a:t>: decompose a complex problem into manageable modules with controlled interfaces.</a:t>
            </a:r>
          </a:p>
        </p:txBody>
      </p:sp>
      <p:sp>
        <p:nvSpPr>
          <p:cNvPr id="5" name="TextBox 4"/>
          <p:cNvSpPr txBox="1"/>
          <p:nvPr/>
        </p:nvSpPr>
        <p:spPr>
          <a:xfrm>
            <a:off x="411480" y="6473952"/>
            <a:ext cx="11338560" cy="228600"/>
          </a:xfrm>
          <a:prstGeom prst="rect">
            <a:avLst/>
          </a:prstGeom>
          <a:noFill/>
        </p:spPr>
        <p:txBody>
          <a:bodyPr wrap="none">
            <a:spAutoFit/>
          </a:bodyPr>
          <a:lstStyle/>
          <a:p>
            <a:pPr algn="r">
              <a:defRPr sz="800">
                <a:solidFill>
                  <a:srgbClr val="6E6E6E"/>
                </a:solidFill>
              </a:defRPr>
            </a:pPr>
            <a:r>
              <a:t>Source: Pressman &amp; Maxim, 9th ed.</a:t>
            </a:r>
          </a:p>
        </p:txBody>
      </p:sp>
      <p:sp>
        <p:nvSpPr>
          <p:cNvPr id="6" name="TextBox 5"/>
          <p:cNvSpPr txBox="1"/>
          <p:nvPr/>
        </p:nvSpPr>
        <p:spPr>
          <a:xfrm>
            <a:off x="228600" y="6446520"/>
            <a:ext cx="457200" cy="201168"/>
          </a:xfrm>
          <a:prstGeom prst="rect">
            <a:avLst/>
          </a:prstGeom>
          <a:noFill/>
        </p:spPr>
        <p:txBody>
          <a:bodyPr wrap="none">
            <a:spAutoFit/>
          </a:bodyPr>
          <a:lstStyle/>
          <a:p>
            <a:pPr>
              <a:defRPr sz="800">
                <a:solidFill>
                  <a:srgbClr val="6E6E6E"/>
                </a:solidFill>
              </a:defRPr>
            </a:pPr>
            <a:r>
              <a:t>13</a:t>
            </a:r>
          </a:p>
        </p:txBody>
      </p:sp>
      <p:pic>
        <p:nvPicPr>
          <p:cNvPr id="7" name="Picture 6" descr="gitam_logo.png"/>
          <p:cNvPicPr>
            <a:picLocks noChangeAspect="1"/>
          </p:cNvPicPr>
          <p:nvPr/>
        </p:nvPicPr>
        <p:blipFill>
          <a:blip r:embed="rId3"/>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3259031845"/>
      </p:ext>
    </p:extLst>
  </p:cSld>
  <p:clrMapOvr>
    <a:overrideClrMapping bg1="lt1" tx1="dk1" bg2="lt2" tx2="dk2" accent1="accent1" accent2="accent2" accent3="accent3" accent4="accent4" accent5="accent5" accent6="accent6" hlink="hlink" folHlink="folHlink"/>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247120" cy="438912"/>
          </a:xfrm>
          <a:prstGeom prst="rect">
            <a:avLst/>
          </a:prstGeom>
          <a:noFill/>
        </p:spPr>
        <p:txBody>
          <a:bodyPr wrap="none">
            <a:spAutoFit/>
          </a:bodyPr>
          <a:lstStyle/>
          <a:p>
            <a:pPr>
              <a:defRPr sz="2500" b="1">
                <a:solidFill>
                  <a:srgbClr val="FFFFFF"/>
                </a:solidFill>
              </a:defRPr>
            </a:pPr>
            <a:r>
              <a:rPr dirty="0"/>
              <a:t>SA/SD Methodology — Conceptual Flow</a:t>
            </a:r>
          </a:p>
        </p:txBody>
      </p:sp>
      <p:sp>
        <p:nvSpPr>
          <p:cNvPr id="4" name="Rounded Rectangle 3"/>
          <p:cNvSpPr/>
          <p:nvPr/>
        </p:nvSpPr>
        <p:spPr>
          <a:xfrm>
            <a:off x="365760" y="2103120"/>
            <a:ext cx="1508760" cy="1514020"/>
          </a:xfrm>
          <a:prstGeom prst="roundRect">
            <a:avLst/>
          </a:prstGeom>
          <a:solidFill>
            <a:srgbClr val="EBF2FA"/>
          </a:solidFill>
          <a:ln>
            <a:solidFill>
              <a:srgbClr val="4472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2D2D2D"/>
                </a:solidFill>
              </a:defRPr>
            </a:pPr>
            <a:r>
              <a:rPr dirty="0"/>
              <a:t>Problem</a:t>
            </a:r>
            <a:br>
              <a:rPr dirty="0"/>
            </a:br>
            <a:r>
              <a:rPr dirty="0"/>
              <a:t>Statement</a:t>
            </a:r>
          </a:p>
        </p:txBody>
      </p:sp>
      <p:cxnSp>
        <p:nvCxnSpPr>
          <p:cNvPr id="5" name="Connector 4"/>
          <p:cNvCxnSpPr/>
          <p:nvPr/>
        </p:nvCxnSpPr>
        <p:spPr>
          <a:xfrm>
            <a:off x="1874519" y="2560320"/>
            <a:ext cx="411481" cy="0"/>
          </a:xfrm>
          <a:prstGeom prst="line">
            <a:avLst/>
          </a:prstGeom>
          <a:ln w="25400">
            <a:solidFill>
              <a:srgbClr val="4472C4"/>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331720" y="2103120"/>
            <a:ext cx="1645920" cy="1514020"/>
          </a:xfrm>
          <a:prstGeom prst="roundRect">
            <a:avLst/>
          </a:prstGeom>
          <a:solidFill>
            <a:srgbClr val="EBF2FA"/>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2D2D2D"/>
                </a:solidFill>
              </a:defRPr>
            </a:pPr>
            <a:r>
              <a:rPr dirty="0"/>
              <a:t>Structured</a:t>
            </a:r>
            <a:br>
              <a:rPr dirty="0"/>
            </a:br>
            <a:r>
              <a:rPr dirty="0"/>
              <a:t>Analysis</a:t>
            </a:r>
          </a:p>
        </p:txBody>
      </p:sp>
      <p:cxnSp>
        <p:nvCxnSpPr>
          <p:cNvPr id="7" name="Connector 6"/>
          <p:cNvCxnSpPr/>
          <p:nvPr/>
        </p:nvCxnSpPr>
        <p:spPr>
          <a:xfrm>
            <a:off x="3977639" y="2560320"/>
            <a:ext cx="411481" cy="0"/>
          </a:xfrm>
          <a:prstGeom prst="line">
            <a:avLst/>
          </a:prstGeom>
          <a:ln w="25400">
            <a:solidFill>
              <a:srgbClr val="4472C4"/>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434840" y="2103120"/>
            <a:ext cx="1417320" cy="1514020"/>
          </a:xfrm>
          <a:prstGeom prst="roundRect">
            <a:avLst/>
          </a:prstGeom>
          <a:solidFill>
            <a:srgbClr val="EBF2FA"/>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2D2D2D"/>
                </a:solidFill>
              </a:defRPr>
            </a:pPr>
            <a:r>
              <a:t>DFDs</a:t>
            </a:r>
          </a:p>
        </p:txBody>
      </p:sp>
      <p:cxnSp>
        <p:nvCxnSpPr>
          <p:cNvPr id="9" name="Connector 8"/>
          <p:cNvCxnSpPr/>
          <p:nvPr/>
        </p:nvCxnSpPr>
        <p:spPr>
          <a:xfrm>
            <a:off x="5852160" y="2560320"/>
            <a:ext cx="411480" cy="0"/>
          </a:xfrm>
          <a:prstGeom prst="line">
            <a:avLst/>
          </a:prstGeom>
          <a:ln w="25400">
            <a:solidFill>
              <a:srgbClr val="4472C4"/>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309360" y="2103120"/>
            <a:ext cx="1645920" cy="1404292"/>
          </a:xfrm>
          <a:prstGeom prst="roundRect">
            <a:avLst/>
          </a:prstGeom>
          <a:solidFill>
            <a:srgbClr val="EBF2FA"/>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2D2D2D"/>
                </a:solidFill>
              </a:defRPr>
            </a:pPr>
            <a:r>
              <a:rPr dirty="0"/>
              <a:t>Structured</a:t>
            </a:r>
            <a:br>
              <a:rPr dirty="0"/>
            </a:br>
            <a:r>
              <a:rPr dirty="0"/>
              <a:t>Design</a:t>
            </a:r>
          </a:p>
        </p:txBody>
      </p:sp>
      <p:cxnSp>
        <p:nvCxnSpPr>
          <p:cNvPr id="11" name="Connector 10"/>
          <p:cNvCxnSpPr/>
          <p:nvPr/>
        </p:nvCxnSpPr>
        <p:spPr>
          <a:xfrm>
            <a:off x="7955279" y="2560320"/>
            <a:ext cx="411481" cy="0"/>
          </a:xfrm>
          <a:prstGeom prst="line">
            <a:avLst/>
          </a:prstGeom>
          <a:ln w="25400">
            <a:solidFill>
              <a:srgbClr val="4472C4"/>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412480" y="2103120"/>
            <a:ext cx="1508760" cy="1404292"/>
          </a:xfrm>
          <a:prstGeom prst="roundRect">
            <a:avLst/>
          </a:prstGeom>
          <a:solidFill>
            <a:srgbClr val="EBF2FA"/>
          </a:solidFill>
          <a:ln>
            <a:solidFill>
              <a:srgbClr val="4472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2D2D2D"/>
                </a:solidFill>
              </a:defRPr>
            </a:pPr>
            <a:r>
              <a:rPr dirty="0"/>
              <a:t>Structure</a:t>
            </a:r>
            <a:br>
              <a:rPr dirty="0"/>
            </a:br>
            <a:r>
              <a:rPr dirty="0"/>
              <a:t>Chart</a:t>
            </a:r>
          </a:p>
        </p:txBody>
      </p:sp>
      <p:cxnSp>
        <p:nvCxnSpPr>
          <p:cNvPr id="13" name="Connector 12"/>
          <p:cNvCxnSpPr/>
          <p:nvPr/>
        </p:nvCxnSpPr>
        <p:spPr>
          <a:xfrm>
            <a:off x="9921240" y="2560320"/>
            <a:ext cx="411480" cy="0"/>
          </a:xfrm>
          <a:prstGeom prst="line">
            <a:avLst/>
          </a:prstGeom>
          <a:ln w="25400">
            <a:solidFill>
              <a:srgbClr val="4472C4"/>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0378440" y="2103120"/>
            <a:ext cx="1371600" cy="1302332"/>
          </a:xfrm>
          <a:prstGeom prst="roundRect">
            <a:avLst/>
          </a:prstGeom>
          <a:solidFill>
            <a:srgbClr val="EBF2FA"/>
          </a:solidFill>
          <a:ln>
            <a:solidFill>
              <a:srgbClr val="C0504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2D2D2D"/>
                </a:solidFill>
              </a:defRPr>
            </a:pPr>
            <a:r>
              <a:t>Detailed</a:t>
            </a:r>
            <a:br/>
            <a:r>
              <a:t>Design</a:t>
            </a:r>
          </a:p>
        </p:txBody>
      </p:sp>
      <p:sp>
        <p:nvSpPr>
          <p:cNvPr id="15" name="TextBox 14"/>
          <p:cNvSpPr txBox="1"/>
          <p:nvPr/>
        </p:nvSpPr>
        <p:spPr>
          <a:xfrm>
            <a:off x="411480" y="6473952"/>
            <a:ext cx="11338560" cy="228600"/>
          </a:xfrm>
          <a:prstGeom prst="rect">
            <a:avLst/>
          </a:prstGeom>
          <a:noFill/>
        </p:spPr>
        <p:txBody>
          <a:bodyPr wrap="none">
            <a:spAutoFit/>
          </a:bodyPr>
          <a:lstStyle/>
          <a:p>
            <a:pPr algn="r">
              <a:defRPr sz="800">
                <a:solidFill>
                  <a:srgbClr val="6E6E6E"/>
                </a:solidFill>
              </a:defRPr>
            </a:pPr>
            <a:r>
              <a:t>Pressman-aligned syllabus figure; original schematic connecting structured analysis/design concepts.</a:t>
            </a:r>
          </a:p>
        </p:txBody>
      </p:sp>
      <p:sp>
        <p:nvSpPr>
          <p:cNvPr id="16" name="TextBox 15"/>
          <p:cNvSpPr txBox="1"/>
          <p:nvPr/>
        </p:nvSpPr>
        <p:spPr>
          <a:xfrm>
            <a:off x="228600" y="6446520"/>
            <a:ext cx="457200" cy="201168"/>
          </a:xfrm>
          <a:prstGeom prst="rect">
            <a:avLst/>
          </a:prstGeom>
          <a:noFill/>
        </p:spPr>
        <p:txBody>
          <a:bodyPr wrap="none">
            <a:spAutoFit/>
          </a:bodyPr>
          <a:lstStyle/>
          <a:p>
            <a:pPr>
              <a:defRPr sz="800">
                <a:solidFill>
                  <a:srgbClr val="6E6E6E"/>
                </a:solidFill>
              </a:defRPr>
            </a:pPr>
            <a:r>
              <a:t>14</a:t>
            </a:r>
          </a:p>
        </p:txBody>
      </p:sp>
      <p:pic>
        <p:nvPicPr>
          <p:cNvPr id="17" name="Picture 16" descr="gitam_logo.png"/>
          <p:cNvPicPr>
            <a:picLocks noChangeAspect="1"/>
          </p:cNvPicPr>
          <p:nvPr/>
        </p:nvPicPr>
        <p:blipFill>
          <a:blip r:embed="rId3"/>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715696396"/>
      </p:ext>
    </p:extLst>
  </p:cSld>
  <p:clrMapOvr>
    <a:overrideClrMapping bg1="lt1" tx1="dk1" bg2="lt2" tx2="dk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3" name="Text 1"/>
          <p:cNvSpPr/>
          <p:nvPr/>
        </p:nvSpPr>
        <p:spPr>
          <a:xfrm>
            <a:off x="548640" y="658368"/>
            <a:ext cx="10881360" cy="822960"/>
          </a:xfrm>
          <a:prstGeom prst="rect">
            <a:avLst/>
          </a:prstGeom>
          <a:noFill/>
          <a:ln/>
        </p:spPr>
        <p:txBody>
          <a:bodyPr wrap="square" rtlCol="0" anchor="t"/>
          <a:lstStyle/>
          <a:p>
            <a:pPr marL="0" indent="0" algn="l">
              <a:buNone/>
            </a:pPr>
            <a:r>
              <a:rPr lang="en-US" sz="3100" b="1" dirty="0">
                <a:solidFill>
                  <a:srgbClr val="13294B"/>
                </a:solidFill>
                <a:latin typeface="Cambria" pitchFamily="34" charset="0"/>
                <a:ea typeface="Cambria" pitchFamily="34" charset="-122"/>
                <a:cs typeface="Cambria" pitchFamily="34" charset="-120"/>
              </a:rPr>
              <a:t>Overview of the SA/SD methodology</a:t>
            </a:r>
            <a:endParaRPr lang="en-US" sz="3100" dirty="0"/>
          </a:p>
        </p:txBody>
      </p:sp>
      <p:sp>
        <p:nvSpPr>
          <p:cNvPr id="6" name="Text 4"/>
          <p:cNvSpPr/>
          <p:nvPr/>
        </p:nvSpPr>
        <p:spPr>
          <a:xfrm>
            <a:off x="11292840" y="6382512"/>
            <a:ext cx="502920" cy="329184"/>
          </a:xfrm>
          <a:prstGeom prst="rect">
            <a:avLst/>
          </a:prstGeom>
          <a:noFill/>
          <a:ln/>
        </p:spPr>
        <p:txBody>
          <a:bodyPr wrap="square" rtlCol="0" anchor="ctr"/>
          <a:lstStyle/>
          <a:p>
            <a:pPr marL="0" indent="0" algn="r">
              <a:buNone/>
            </a:pPr>
            <a:r>
              <a:rPr lang="en-US" sz="1100" b="1" dirty="0">
                <a:solidFill>
                  <a:srgbClr val="35618E"/>
                </a:solidFill>
                <a:latin typeface="Calibri" pitchFamily="34" charset="0"/>
                <a:ea typeface="Calibri" pitchFamily="34" charset="-122"/>
                <a:cs typeface="Calibri" pitchFamily="34" charset="-120"/>
              </a:rPr>
              <a:t>19</a:t>
            </a:r>
            <a:endParaRPr lang="en-US" sz="1100" dirty="0"/>
          </a:p>
        </p:txBody>
      </p:sp>
      <p:sp>
        <p:nvSpPr>
          <p:cNvPr id="7" name="Text 5"/>
          <p:cNvSpPr/>
          <p:nvPr/>
        </p:nvSpPr>
        <p:spPr>
          <a:xfrm>
            <a:off x="566928" y="1554480"/>
            <a:ext cx="10972800" cy="457200"/>
          </a:xfrm>
          <a:prstGeom prst="rect">
            <a:avLst/>
          </a:prstGeom>
          <a:noFill/>
          <a:ln/>
        </p:spPr>
        <p:txBody>
          <a:bodyPr wrap="square" lIns="0" tIns="0" rIns="0" bIns="0" rtlCol="0" anchor="t"/>
          <a:lstStyle/>
          <a:p>
            <a:pPr marL="0" indent="0" algn="l">
              <a:lnSpc>
                <a:spcPct val="110000"/>
              </a:lnSpc>
              <a:buNone/>
            </a:pPr>
            <a:r>
              <a:rPr lang="en-US" sz="1380" dirty="0">
                <a:solidFill>
                  <a:srgbClr val="5C6B82"/>
                </a:solidFill>
                <a:latin typeface="Calibri" pitchFamily="34" charset="0"/>
                <a:ea typeface="Calibri" pitchFamily="34" charset="-122"/>
                <a:cs typeface="Calibri" pitchFamily="34" charset="-120"/>
              </a:rPr>
              <a:t>Structured Analysis / Structured Design (DeMarco, Yourdon &amp; Constantine) turns an SRS into a detailed design through two major activities.</a:t>
            </a:r>
            <a:endParaRPr lang="en-US" sz="1380" dirty="0"/>
          </a:p>
        </p:txBody>
      </p:sp>
      <p:sp>
        <p:nvSpPr>
          <p:cNvPr id="8" name="Shape 6"/>
          <p:cNvSpPr/>
          <p:nvPr/>
        </p:nvSpPr>
        <p:spPr>
          <a:xfrm>
            <a:off x="566928" y="2286000"/>
            <a:ext cx="2542032" cy="1828800"/>
          </a:xfrm>
          <a:prstGeom prst="roundRect">
            <a:avLst>
              <a:gd name="adj" fmla="val 6000"/>
            </a:avLst>
          </a:prstGeom>
          <a:solidFill>
            <a:srgbClr val="DCE6F1"/>
          </a:solidFill>
          <a:ln/>
          <a:effectLst>
            <a:outerShdw blurRad="1524" dist="889" dir="5400000" algn="bl" rotWithShape="0">
              <a:srgbClr val="1B3A5F">
                <a:alpha val="18000"/>
              </a:srgbClr>
            </a:outerShdw>
          </a:effectLst>
        </p:spPr>
        <p:txBody>
          <a:bodyPr/>
          <a:lstStyle/>
          <a:p>
            <a:endParaRPr lang="en-IN"/>
          </a:p>
        </p:txBody>
      </p:sp>
      <p:sp>
        <p:nvSpPr>
          <p:cNvPr id="9" name="Shape 7"/>
          <p:cNvSpPr/>
          <p:nvPr/>
        </p:nvSpPr>
        <p:spPr>
          <a:xfrm>
            <a:off x="1472184" y="2578608"/>
            <a:ext cx="731520" cy="731520"/>
          </a:xfrm>
          <a:prstGeom prst="ellipse">
            <a:avLst/>
          </a:prstGeom>
          <a:solidFill>
            <a:srgbClr val="1B3A5F"/>
          </a:solidFill>
          <a:ln/>
          <a:effectLst>
            <a:outerShdw blurRad="1270" dist="635" dir="5400000" algn="bl" rotWithShape="0">
              <a:srgbClr val="1B3A5F">
                <a:alpha val="25000"/>
              </a:srgbClr>
            </a:outerShdw>
          </a:effectLst>
        </p:spPr>
      </p:sp>
      <p:pic>
        <p:nvPicPr>
          <p:cNvPr id="10" name="Image 0" descr="/home/claude/deck/icons/data.png"/>
          <p:cNvPicPr>
            <a:picLocks noChangeAspect="1"/>
          </p:cNvPicPr>
          <p:nvPr/>
        </p:nvPicPr>
        <p:blipFill>
          <a:blip r:embed="rId4"/>
          <a:stretch>
            <a:fillRect/>
          </a:stretch>
        </p:blipFill>
        <p:spPr>
          <a:xfrm>
            <a:off x="1662379" y="2768803"/>
            <a:ext cx="351130" cy="351130"/>
          </a:xfrm>
          <a:prstGeom prst="rect">
            <a:avLst/>
          </a:prstGeom>
        </p:spPr>
      </p:pic>
      <p:sp>
        <p:nvSpPr>
          <p:cNvPr id="11" name="Text 8"/>
          <p:cNvSpPr/>
          <p:nvPr/>
        </p:nvSpPr>
        <p:spPr>
          <a:xfrm>
            <a:off x="704088" y="3383280"/>
            <a:ext cx="2267712" cy="411480"/>
          </a:xfrm>
          <a:prstGeom prst="rect">
            <a:avLst/>
          </a:prstGeom>
          <a:noFill/>
          <a:ln/>
        </p:spPr>
        <p:txBody>
          <a:bodyPr wrap="square" lIns="0" tIns="0" rIns="0" bIns="0" rtlCol="0" anchor="t"/>
          <a:lstStyle/>
          <a:p>
            <a:pPr marL="0" indent="0" algn="ctr">
              <a:lnSpc>
                <a:spcPct val="100000"/>
              </a:lnSpc>
              <a:buNone/>
            </a:pPr>
            <a:r>
              <a:rPr lang="en-US" sz="1450" b="1" dirty="0">
                <a:solidFill>
                  <a:srgbClr val="13294B"/>
                </a:solidFill>
                <a:latin typeface="Cambria" pitchFamily="34" charset="0"/>
                <a:ea typeface="Cambria" pitchFamily="34" charset="-122"/>
                <a:cs typeface="Cambria" pitchFamily="34" charset="-120"/>
              </a:rPr>
              <a:t>SRS</a:t>
            </a:r>
            <a:endParaRPr lang="en-US" sz="1450" dirty="0"/>
          </a:p>
        </p:txBody>
      </p:sp>
      <p:sp>
        <p:nvSpPr>
          <p:cNvPr id="12" name="Text 9"/>
          <p:cNvSpPr/>
          <p:nvPr/>
        </p:nvSpPr>
        <p:spPr>
          <a:xfrm>
            <a:off x="704088" y="3767328"/>
            <a:ext cx="2267712" cy="685800"/>
          </a:xfrm>
          <a:prstGeom prst="rect">
            <a:avLst/>
          </a:prstGeom>
          <a:noFill/>
          <a:ln/>
        </p:spPr>
        <p:txBody>
          <a:bodyPr wrap="square" lIns="0" tIns="0" rIns="0" bIns="0" rtlCol="0" anchor="t"/>
          <a:lstStyle/>
          <a:p>
            <a:pPr marL="0" indent="0" algn="ctr">
              <a:lnSpc>
                <a:spcPct val="105000"/>
              </a:lnSpc>
              <a:buNone/>
            </a:pPr>
            <a:r>
              <a:rPr lang="en-US" sz="1080" dirty="0">
                <a:solidFill>
                  <a:srgbClr val="5C6B82"/>
                </a:solidFill>
                <a:latin typeface="Calibri" pitchFamily="34" charset="0"/>
                <a:ea typeface="Calibri" pitchFamily="34" charset="-122"/>
                <a:cs typeface="Calibri" pitchFamily="34" charset="-120"/>
              </a:rPr>
              <a:t>Requirements specification</a:t>
            </a:r>
            <a:endParaRPr lang="en-US" sz="1080" dirty="0"/>
          </a:p>
        </p:txBody>
      </p:sp>
      <p:sp>
        <p:nvSpPr>
          <p:cNvPr id="13" name="Shape 10"/>
          <p:cNvSpPr/>
          <p:nvPr/>
        </p:nvSpPr>
        <p:spPr>
          <a:xfrm rot="5400000">
            <a:off x="3145536" y="3054096"/>
            <a:ext cx="256032" cy="310896"/>
          </a:xfrm>
          <a:prstGeom prst="triangle">
            <a:avLst/>
          </a:prstGeom>
          <a:solidFill>
            <a:srgbClr val="8A97AC"/>
          </a:solidFill>
          <a:ln/>
        </p:spPr>
      </p:sp>
      <p:sp>
        <p:nvSpPr>
          <p:cNvPr id="14" name="Shape 11"/>
          <p:cNvSpPr/>
          <p:nvPr/>
        </p:nvSpPr>
        <p:spPr>
          <a:xfrm>
            <a:off x="3438144" y="2286000"/>
            <a:ext cx="2542032" cy="1828800"/>
          </a:xfrm>
          <a:prstGeom prst="roundRect">
            <a:avLst>
              <a:gd name="adj" fmla="val 6000"/>
            </a:avLst>
          </a:prstGeom>
          <a:solidFill>
            <a:srgbClr val="E1F1F1"/>
          </a:solidFill>
          <a:ln/>
          <a:effectLst>
            <a:outerShdw blurRad="1524" dist="889" dir="5400000" algn="bl" rotWithShape="0">
              <a:srgbClr val="1B3A5F">
                <a:alpha val="18000"/>
              </a:srgbClr>
            </a:outerShdw>
          </a:effectLst>
        </p:spPr>
        <p:txBody>
          <a:bodyPr/>
          <a:lstStyle/>
          <a:p>
            <a:endParaRPr lang="en-IN"/>
          </a:p>
        </p:txBody>
      </p:sp>
      <p:sp>
        <p:nvSpPr>
          <p:cNvPr id="15" name="Shape 12"/>
          <p:cNvSpPr/>
          <p:nvPr/>
        </p:nvSpPr>
        <p:spPr>
          <a:xfrm>
            <a:off x="4343400" y="2578608"/>
            <a:ext cx="731520" cy="731520"/>
          </a:xfrm>
          <a:prstGeom prst="ellipse">
            <a:avLst/>
          </a:prstGeom>
          <a:solidFill>
            <a:srgbClr val="0E8F8F"/>
          </a:solidFill>
          <a:ln/>
          <a:effectLst>
            <a:outerShdw blurRad="1270" dist="635" dir="5400000" algn="bl" rotWithShape="0">
              <a:srgbClr val="1B3A5F">
                <a:alpha val="25000"/>
              </a:srgbClr>
            </a:outerShdw>
          </a:effectLst>
        </p:spPr>
      </p:sp>
      <p:pic>
        <p:nvPicPr>
          <p:cNvPr id="16" name="Image 1" descr="/home/claude/deck/icons/analysis.png"/>
          <p:cNvPicPr>
            <a:picLocks noChangeAspect="1"/>
          </p:cNvPicPr>
          <p:nvPr/>
        </p:nvPicPr>
        <p:blipFill>
          <a:blip r:embed="rId5"/>
          <a:stretch>
            <a:fillRect/>
          </a:stretch>
        </p:blipFill>
        <p:spPr>
          <a:xfrm>
            <a:off x="4533595" y="2768803"/>
            <a:ext cx="351130" cy="351130"/>
          </a:xfrm>
          <a:prstGeom prst="rect">
            <a:avLst/>
          </a:prstGeom>
        </p:spPr>
      </p:pic>
      <p:sp>
        <p:nvSpPr>
          <p:cNvPr id="17" name="Text 13"/>
          <p:cNvSpPr/>
          <p:nvPr/>
        </p:nvSpPr>
        <p:spPr>
          <a:xfrm>
            <a:off x="3575304" y="3383280"/>
            <a:ext cx="2267712" cy="411480"/>
          </a:xfrm>
          <a:prstGeom prst="rect">
            <a:avLst/>
          </a:prstGeom>
          <a:noFill/>
          <a:ln/>
        </p:spPr>
        <p:txBody>
          <a:bodyPr wrap="square" lIns="0" tIns="0" rIns="0" bIns="0" rtlCol="0" anchor="t"/>
          <a:lstStyle/>
          <a:p>
            <a:pPr marL="0" indent="0" algn="ctr">
              <a:lnSpc>
                <a:spcPct val="100000"/>
              </a:lnSpc>
              <a:buNone/>
            </a:pPr>
            <a:r>
              <a:rPr lang="en-US" sz="1450" b="1" dirty="0">
                <a:solidFill>
                  <a:srgbClr val="13294B"/>
                </a:solidFill>
                <a:latin typeface="Cambria" pitchFamily="34" charset="0"/>
                <a:ea typeface="Cambria" pitchFamily="34" charset="-122"/>
                <a:cs typeface="Cambria" pitchFamily="34" charset="-120"/>
              </a:rPr>
              <a:t>Structured Analysis</a:t>
            </a:r>
            <a:endParaRPr lang="en-US" sz="1450" dirty="0"/>
          </a:p>
        </p:txBody>
      </p:sp>
      <p:sp>
        <p:nvSpPr>
          <p:cNvPr id="18" name="Text 14"/>
          <p:cNvSpPr/>
          <p:nvPr/>
        </p:nvSpPr>
        <p:spPr>
          <a:xfrm>
            <a:off x="3575304" y="3767328"/>
            <a:ext cx="2267712" cy="685800"/>
          </a:xfrm>
          <a:prstGeom prst="rect">
            <a:avLst/>
          </a:prstGeom>
          <a:noFill/>
          <a:ln/>
        </p:spPr>
        <p:txBody>
          <a:bodyPr wrap="square" lIns="0" tIns="0" rIns="0" bIns="0" rtlCol="0" anchor="t"/>
          <a:lstStyle/>
          <a:p>
            <a:pPr marL="0" indent="0" algn="ctr">
              <a:lnSpc>
                <a:spcPct val="105000"/>
              </a:lnSpc>
              <a:buNone/>
            </a:pPr>
            <a:r>
              <a:rPr lang="en-US" sz="1080" dirty="0">
                <a:solidFill>
                  <a:srgbClr val="5C6B82"/>
                </a:solidFill>
                <a:latin typeface="Calibri" pitchFamily="34" charset="0"/>
                <a:ea typeface="Calibri" pitchFamily="34" charset="-122"/>
                <a:cs typeface="Calibri" pitchFamily="34" charset="-120"/>
              </a:rPr>
              <a:t>Model the system as a set of DFDs (functional view)</a:t>
            </a:r>
            <a:endParaRPr lang="en-US" sz="1080" dirty="0"/>
          </a:p>
        </p:txBody>
      </p:sp>
      <p:sp>
        <p:nvSpPr>
          <p:cNvPr id="19" name="Shape 15"/>
          <p:cNvSpPr/>
          <p:nvPr/>
        </p:nvSpPr>
        <p:spPr>
          <a:xfrm rot="5400000">
            <a:off x="6016752" y="3054096"/>
            <a:ext cx="256032" cy="310896"/>
          </a:xfrm>
          <a:prstGeom prst="triangle">
            <a:avLst/>
          </a:prstGeom>
          <a:solidFill>
            <a:srgbClr val="8A97AC"/>
          </a:solidFill>
          <a:ln/>
        </p:spPr>
      </p:sp>
      <p:sp>
        <p:nvSpPr>
          <p:cNvPr id="20" name="Shape 16"/>
          <p:cNvSpPr/>
          <p:nvPr/>
        </p:nvSpPr>
        <p:spPr>
          <a:xfrm>
            <a:off x="6309360" y="2286000"/>
            <a:ext cx="2542032" cy="1828800"/>
          </a:xfrm>
          <a:prstGeom prst="roundRect">
            <a:avLst>
              <a:gd name="adj" fmla="val 6000"/>
            </a:avLst>
          </a:prstGeom>
          <a:solidFill>
            <a:srgbClr val="FBEFDC"/>
          </a:solidFill>
          <a:ln/>
          <a:effectLst>
            <a:outerShdw blurRad="1524" dist="889" dir="5400000" algn="bl" rotWithShape="0">
              <a:srgbClr val="1B3A5F">
                <a:alpha val="18000"/>
              </a:srgbClr>
            </a:outerShdw>
          </a:effectLst>
        </p:spPr>
      </p:sp>
      <p:sp>
        <p:nvSpPr>
          <p:cNvPr id="21" name="Shape 17"/>
          <p:cNvSpPr/>
          <p:nvPr/>
        </p:nvSpPr>
        <p:spPr>
          <a:xfrm>
            <a:off x="7214616" y="2578608"/>
            <a:ext cx="731520" cy="731520"/>
          </a:xfrm>
          <a:prstGeom prst="ellipse">
            <a:avLst/>
          </a:prstGeom>
          <a:solidFill>
            <a:srgbClr val="D98A28"/>
          </a:solidFill>
          <a:ln/>
          <a:effectLst>
            <a:outerShdw blurRad="1270" dist="635" dir="5400000" algn="bl" rotWithShape="0">
              <a:srgbClr val="1B3A5F">
                <a:alpha val="25000"/>
              </a:srgbClr>
            </a:outerShdw>
          </a:effectLst>
        </p:spPr>
      </p:sp>
      <p:pic>
        <p:nvPicPr>
          <p:cNvPr id="22" name="Image 2" descr="/home/claude/deck/icons/sitemap.png"/>
          <p:cNvPicPr>
            <a:picLocks noChangeAspect="1"/>
          </p:cNvPicPr>
          <p:nvPr/>
        </p:nvPicPr>
        <p:blipFill>
          <a:blip r:embed="rId6"/>
          <a:stretch>
            <a:fillRect/>
          </a:stretch>
        </p:blipFill>
        <p:spPr>
          <a:xfrm>
            <a:off x="7404811" y="2768803"/>
            <a:ext cx="351130" cy="351130"/>
          </a:xfrm>
          <a:prstGeom prst="rect">
            <a:avLst/>
          </a:prstGeom>
        </p:spPr>
      </p:pic>
      <p:sp>
        <p:nvSpPr>
          <p:cNvPr id="23" name="Text 18"/>
          <p:cNvSpPr/>
          <p:nvPr/>
        </p:nvSpPr>
        <p:spPr>
          <a:xfrm>
            <a:off x="6446520" y="3383280"/>
            <a:ext cx="2267712" cy="411480"/>
          </a:xfrm>
          <a:prstGeom prst="rect">
            <a:avLst/>
          </a:prstGeom>
          <a:noFill/>
          <a:ln/>
        </p:spPr>
        <p:txBody>
          <a:bodyPr wrap="square" lIns="0" tIns="0" rIns="0" bIns="0" rtlCol="0" anchor="t"/>
          <a:lstStyle/>
          <a:p>
            <a:pPr marL="0" indent="0" algn="ctr">
              <a:lnSpc>
                <a:spcPct val="100000"/>
              </a:lnSpc>
              <a:buNone/>
            </a:pPr>
            <a:r>
              <a:rPr lang="en-US" sz="1450" b="1" dirty="0">
                <a:solidFill>
                  <a:srgbClr val="13294B"/>
                </a:solidFill>
                <a:latin typeface="Cambria" pitchFamily="34" charset="0"/>
                <a:ea typeface="Cambria" pitchFamily="34" charset="-122"/>
                <a:cs typeface="Cambria" pitchFamily="34" charset="-120"/>
              </a:rPr>
              <a:t>Structured Design</a:t>
            </a:r>
            <a:endParaRPr lang="en-US" sz="1450" dirty="0"/>
          </a:p>
        </p:txBody>
      </p:sp>
      <p:sp>
        <p:nvSpPr>
          <p:cNvPr id="24" name="Text 19"/>
          <p:cNvSpPr/>
          <p:nvPr/>
        </p:nvSpPr>
        <p:spPr>
          <a:xfrm>
            <a:off x="6446520" y="3767328"/>
            <a:ext cx="2267712" cy="685800"/>
          </a:xfrm>
          <a:prstGeom prst="rect">
            <a:avLst/>
          </a:prstGeom>
          <a:noFill/>
          <a:ln/>
        </p:spPr>
        <p:txBody>
          <a:bodyPr wrap="square" lIns="0" tIns="0" rIns="0" bIns="0" rtlCol="0" anchor="t"/>
          <a:lstStyle/>
          <a:p>
            <a:pPr marL="0" indent="0" algn="ctr">
              <a:lnSpc>
                <a:spcPct val="105000"/>
              </a:lnSpc>
              <a:buNone/>
            </a:pPr>
            <a:r>
              <a:rPr lang="en-US" sz="1080" dirty="0">
                <a:solidFill>
                  <a:srgbClr val="5C6B82"/>
                </a:solidFill>
                <a:latin typeface="Calibri" pitchFamily="34" charset="0"/>
                <a:ea typeface="Calibri" pitchFamily="34" charset="-122"/>
                <a:cs typeface="Calibri" pitchFamily="34" charset="-120"/>
              </a:rPr>
              <a:t>Map DFDs to a structure chart of modules</a:t>
            </a:r>
            <a:endParaRPr lang="en-US" sz="1080" dirty="0"/>
          </a:p>
        </p:txBody>
      </p:sp>
      <p:sp>
        <p:nvSpPr>
          <p:cNvPr id="25" name="Shape 20"/>
          <p:cNvSpPr/>
          <p:nvPr/>
        </p:nvSpPr>
        <p:spPr>
          <a:xfrm rot="5400000">
            <a:off x="8887968" y="3054096"/>
            <a:ext cx="256032" cy="310896"/>
          </a:xfrm>
          <a:prstGeom prst="triangle">
            <a:avLst/>
          </a:prstGeom>
          <a:solidFill>
            <a:srgbClr val="8A97AC"/>
          </a:solidFill>
          <a:ln/>
        </p:spPr>
      </p:sp>
      <p:sp>
        <p:nvSpPr>
          <p:cNvPr id="26" name="Shape 21"/>
          <p:cNvSpPr/>
          <p:nvPr/>
        </p:nvSpPr>
        <p:spPr>
          <a:xfrm>
            <a:off x="9180576" y="2286000"/>
            <a:ext cx="2542032" cy="1828800"/>
          </a:xfrm>
          <a:prstGeom prst="roundRect">
            <a:avLst>
              <a:gd name="adj" fmla="val 6000"/>
            </a:avLst>
          </a:prstGeom>
          <a:solidFill>
            <a:srgbClr val="FBE7DF"/>
          </a:solidFill>
          <a:ln/>
          <a:effectLst>
            <a:outerShdw blurRad="1524" dist="889" dir="5400000" algn="bl" rotWithShape="0">
              <a:srgbClr val="1B3A5F">
                <a:alpha val="18000"/>
              </a:srgbClr>
            </a:outerShdw>
          </a:effectLst>
        </p:spPr>
      </p:sp>
      <p:sp>
        <p:nvSpPr>
          <p:cNvPr id="27" name="Shape 22"/>
          <p:cNvSpPr/>
          <p:nvPr/>
        </p:nvSpPr>
        <p:spPr>
          <a:xfrm>
            <a:off x="10085832" y="2578608"/>
            <a:ext cx="731520" cy="731520"/>
          </a:xfrm>
          <a:prstGeom prst="ellipse">
            <a:avLst/>
          </a:prstGeom>
          <a:solidFill>
            <a:srgbClr val="D9542B"/>
          </a:solidFill>
          <a:ln/>
          <a:effectLst>
            <a:outerShdw blurRad="1270" dist="635" dir="5400000" algn="bl" rotWithShape="0">
              <a:srgbClr val="1B3A5F">
                <a:alpha val="25000"/>
              </a:srgbClr>
            </a:outerShdw>
          </a:effectLst>
        </p:spPr>
      </p:sp>
      <p:pic>
        <p:nvPicPr>
          <p:cNvPr id="28" name="Image 3" descr="/home/claude/deck/icons/code.png"/>
          <p:cNvPicPr>
            <a:picLocks noChangeAspect="1"/>
          </p:cNvPicPr>
          <p:nvPr/>
        </p:nvPicPr>
        <p:blipFill>
          <a:blip r:embed="rId7"/>
          <a:stretch>
            <a:fillRect/>
          </a:stretch>
        </p:blipFill>
        <p:spPr>
          <a:xfrm>
            <a:off x="10276027" y="2768803"/>
            <a:ext cx="351130" cy="351130"/>
          </a:xfrm>
          <a:prstGeom prst="rect">
            <a:avLst/>
          </a:prstGeom>
        </p:spPr>
      </p:pic>
      <p:sp>
        <p:nvSpPr>
          <p:cNvPr id="29" name="Text 23"/>
          <p:cNvSpPr/>
          <p:nvPr/>
        </p:nvSpPr>
        <p:spPr>
          <a:xfrm>
            <a:off x="9317736" y="3383280"/>
            <a:ext cx="2267712" cy="411480"/>
          </a:xfrm>
          <a:prstGeom prst="rect">
            <a:avLst/>
          </a:prstGeom>
          <a:noFill/>
          <a:ln/>
        </p:spPr>
        <p:txBody>
          <a:bodyPr wrap="square" lIns="0" tIns="0" rIns="0" bIns="0" rtlCol="0" anchor="t"/>
          <a:lstStyle/>
          <a:p>
            <a:pPr marL="0" indent="0" algn="ctr">
              <a:lnSpc>
                <a:spcPct val="100000"/>
              </a:lnSpc>
              <a:buNone/>
            </a:pPr>
            <a:r>
              <a:rPr lang="en-US" sz="1450" b="1" dirty="0">
                <a:solidFill>
                  <a:srgbClr val="13294B"/>
                </a:solidFill>
                <a:latin typeface="Cambria" pitchFamily="34" charset="0"/>
                <a:ea typeface="Cambria" pitchFamily="34" charset="-122"/>
                <a:cs typeface="Cambria" pitchFamily="34" charset="-120"/>
              </a:rPr>
              <a:t>Detailed Design</a:t>
            </a:r>
            <a:endParaRPr lang="en-US" sz="1450" dirty="0"/>
          </a:p>
        </p:txBody>
      </p:sp>
      <p:sp>
        <p:nvSpPr>
          <p:cNvPr id="30" name="Text 24"/>
          <p:cNvSpPr/>
          <p:nvPr/>
        </p:nvSpPr>
        <p:spPr>
          <a:xfrm>
            <a:off x="9317736" y="3767328"/>
            <a:ext cx="2267712" cy="685800"/>
          </a:xfrm>
          <a:prstGeom prst="rect">
            <a:avLst/>
          </a:prstGeom>
          <a:noFill/>
          <a:ln/>
        </p:spPr>
        <p:txBody>
          <a:bodyPr wrap="square" lIns="0" tIns="0" rIns="0" bIns="0" rtlCol="0" anchor="t"/>
          <a:lstStyle/>
          <a:p>
            <a:pPr marL="0" indent="0" algn="ctr">
              <a:lnSpc>
                <a:spcPct val="105000"/>
              </a:lnSpc>
              <a:buNone/>
            </a:pPr>
            <a:r>
              <a:rPr lang="en-US" sz="1080" dirty="0">
                <a:solidFill>
                  <a:srgbClr val="5C6B82"/>
                </a:solidFill>
                <a:latin typeface="Calibri" pitchFamily="34" charset="0"/>
                <a:ea typeface="Calibri" pitchFamily="34" charset="-122"/>
                <a:cs typeface="Calibri" pitchFamily="34" charset="-120"/>
              </a:rPr>
              <a:t>Specify each module's internal logic</a:t>
            </a:r>
            <a:endParaRPr lang="en-US" sz="1080" dirty="0"/>
          </a:p>
        </p:txBody>
      </p:sp>
      <p:sp>
        <p:nvSpPr>
          <p:cNvPr id="31" name="Shape 25"/>
          <p:cNvSpPr/>
          <p:nvPr/>
        </p:nvSpPr>
        <p:spPr>
          <a:xfrm>
            <a:off x="566928" y="4434840"/>
            <a:ext cx="5468112" cy="1600200"/>
          </a:xfrm>
          <a:prstGeom prst="roundRect">
            <a:avLst>
              <a:gd name="adj" fmla="val 6857"/>
            </a:avLst>
          </a:prstGeom>
          <a:solidFill>
            <a:srgbClr val="E1F1F1"/>
          </a:solidFill>
          <a:ln/>
          <a:effectLst>
            <a:outerShdw blurRad="1524" dist="889" dir="5400000" algn="bl" rotWithShape="0">
              <a:srgbClr val="1B3A5F">
                <a:alpha val="18000"/>
              </a:srgbClr>
            </a:outerShdw>
          </a:effectLst>
        </p:spPr>
      </p:sp>
      <p:sp>
        <p:nvSpPr>
          <p:cNvPr id="32" name="Shape 26"/>
          <p:cNvSpPr/>
          <p:nvPr/>
        </p:nvSpPr>
        <p:spPr>
          <a:xfrm>
            <a:off x="804672" y="4645152"/>
            <a:ext cx="603504" cy="603504"/>
          </a:xfrm>
          <a:prstGeom prst="ellipse">
            <a:avLst/>
          </a:prstGeom>
          <a:solidFill>
            <a:srgbClr val="0E8F8F"/>
          </a:solidFill>
          <a:ln/>
          <a:effectLst>
            <a:outerShdw blurRad="1270" dist="635" dir="5400000" algn="bl" rotWithShape="0">
              <a:srgbClr val="1B3A5F">
                <a:alpha val="25000"/>
              </a:srgbClr>
            </a:outerShdw>
          </a:effectLst>
        </p:spPr>
      </p:sp>
      <p:pic>
        <p:nvPicPr>
          <p:cNvPr id="33" name="Image 4" descr="/home/claude/deck/icons/analysis.png"/>
          <p:cNvPicPr>
            <a:picLocks noChangeAspect="1"/>
          </p:cNvPicPr>
          <p:nvPr/>
        </p:nvPicPr>
        <p:blipFill>
          <a:blip r:embed="rId5"/>
          <a:stretch>
            <a:fillRect/>
          </a:stretch>
        </p:blipFill>
        <p:spPr>
          <a:xfrm>
            <a:off x="961583" y="4802063"/>
            <a:ext cx="289682" cy="289682"/>
          </a:xfrm>
          <a:prstGeom prst="rect">
            <a:avLst/>
          </a:prstGeom>
        </p:spPr>
      </p:pic>
      <p:sp>
        <p:nvSpPr>
          <p:cNvPr id="34" name="Text 27"/>
          <p:cNvSpPr/>
          <p:nvPr/>
        </p:nvSpPr>
        <p:spPr>
          <a:xfrm>
            <a:off x="1536192" y="4663440"/>
            <a:ext cx="4297680" cy="365760"/>
          </a:xfrm>
          <a:prstGeom prst="rect">
            <a:avLst/>
          </a:prstGeom>
          <a:noFill/>
          <a:ln/>
        </p:spPr>
        <p:txBody>
          <a:bodyPr wrap="square" lIns="0" tIns="0" rIns="0" bIns="0" rtlCol="0" anchor="t"/>
          <a:lstStyle/>
          <a:p>
            <a:pPr marL="0" indent="0" algn="l">
              <a:lnSpc>
                <a:spcPct val="100000"/>
              </a:lnSpc>
              <a:buNone/>
            </a:pPr>
            <a:r>
              <a:rPr lang="en-US" sz="1450" b="1" dirty="0">
                <a:solidFill>
                  <a:srgbClr val="13294B"/>
                </a:solidFill>
                <a:latin typeface="Cambria" pitchFamily="34" charset="0"/>
                <a:ea typeface="Cambria" pitchFamily="34" charset="-122"/>
                <a:cs typeface="Cambria" pitchFamily="34" charset="-120"/>
              </a:rPr>
              <a:t>Structured Analysis (SA)</a:t>
            </a:r>
            <a:endParaRPr lang="en-US" sz="1450" dirty="0"/>
          </a:p>
        </p:txBody>
      </p:sp>
      <p:sp>
        <p:nvSpPr>
          <p:cNvPr id="35" name="Text 28"/>
          <p:cNvSpPr/>
          <p:nvPr/>
        </p:nvSpPr>
        <p:spPr>
          <a:xfrm>
            <a:off x="1536192" y="5029200"/>
            <a:ext cx="4343400" cy="914400"/>
          </a:xfrm>
          <a:prstGeom prst="rect">
            <a:avLst/>
          </a:prstGeom>
          <a:noFill/>
          <a:ln/>
        </p:spPr>
        <p:txBody>
          <a:bodyPr wrap="square" lIns="0" tIns="0" rIns="0" bIns="0" rtlCol="0" anchor="t"/>
          <a:lstStyle/>
          <a:p>
            <a:pPr marL="0" indent="0" algn="l">
              <a:lnSpc>
                <a:spcPct val="110000"/>
              </a:lnSpc>
              <a:buNone/>
            </a:pPr>
            <a:r>
              <a:rPr lang="en-US" sz="1160" dirty="0">
                <a:solidFill>
                  <a:srgbClr val="1B3A5F"/>
                </a:solidFill>
                <a:latin typeface="Calibri" pitchFamily="34" charset="0"/>
                <a:ea typeface="Calibri" pitchFamily="34" charset="-122"/>
                <a:cs typeface="Calibri" pitchFamily="34" charset="-120"/>
              </a:rPr>
              <a:t>Produces a hierarchy of Data Flow Diagrams that model WHAT the system does — its functions and the data flowing among them. Essentially functional decomposition.</a:t>
            </a:r>
            <a:endParaRPr lang="en-US" sz="1160" dirty="0"/>
          </a:p>
        </p:txBody>
      </p:sp>
      <p:sp>
        <p:nvSpPr>
          <p:cNvPr id="36" name="Shape 29"/>
          <p:cNvSpPr/>
          <p:nvPr/>
        </p:nvSpPr>
        <p:spPr>
          <a:xfrm>
            <a:off x="6181344" y="4434840"/>
            <a:ext cx="5468112" cy="1600200"/>
          </a:xfrm>
          <a:prstGeom prst="roundRect">
            <a:avLst>
              <a:gd name="adj" fmla="val 6857"/>
            </a:avLst>
          </a:prstGeom>
          <a:solidFill>
            <a:srgbClr val="FBEFDC"/>
          </a:solidFill>
          <a:ln/>
          <a:effectLst>
            <a:outerShdw blurRad="1524" dist="889" dir="5400000" algn="bl" rotWithShape="0">
              <a:srgbClr val="1B3A5F">
                <a:alpha val="18000"/>
              </a:srgbClr>
            </a:outerShdw>
          </a:effectLst>
        </p:spPr>
      </p:sp>
      <p:sp>
        <p:nvSpPr>
          <p:cNvPr id="37" name="Shape 30"/>
          <p:cNvSpPr/>
          <p:nvPr/>
        </p:nvSpPr>
        <p:spPr>
          <a:xfrm>
            <a:off x="6419088" y="4645152"/>
            <a:ext cx="603504" cy="603504"/>
          </a:xfrm>
          <a:prstGeom prst="ellipse">
            <a:avLst/>
          </a:prstGeom>
          <a:solidFill>
            <a:srgbClr val="D98A28"/>
          </a:solidFill>
          <a:ln/>
          <a:effectLst>
            <a:outerShdw blurRad="1270" dist="635" dir="5400000" algn="bl" rotWithShape="0">
              <a:srgbClr val="1B3A5F">
                <a:alpha val="25000"/>
              </a:srgbClr>
            </a:outerShdw>
          </a:effectLst>
        </p:spPr>
      </p:sp>
      <p:pic>
        <p:nvPicPr>
          <p:cNvPr id="38" name="Image 5" descr="/home/claude/deck/icons/sitemap.png"/>
          <p:cNvPicPr>
            <a:picLocks noChangeAspect="1"/>
          </p:cNvPicPr>
          <p:nvPr/>
        </p:nvPicPr>
        <p:blipFill>
          <a:blip r:embed="rId6"/>
          <a:stretch>
            <a:fillRect/>
          </a:stretch>
        </p:blipFill>
        <p:spPr>
          <a:xfrm>
            <a:off x="6575999" y="4802063"/>
            <a:ext cx="289682" cy="289682"/>
          </a:xfrm>
          <a:prstGeom prst="rect">
            <a:avLst/>
          </a:prstGeom>
        </p:spPr>
      </p:pic>
      <p:sp>
        <p:nvSpPr>
          <p:cNvPr id="39" name="Text 31"/>
          <p:cNvSpPr/>
          <p:nvPr/>
        </p:nvSpPr>
        <p:spPr>
          <a:xfrm>
            <a:off x="7150608" y="4663440"/>
            <a:ext cx="4297680" cy="365760"/>
          </a:xfrm>
          <a:prstGeom prst="rect">
            <a:avLst/>
          </a:prstGeom>
          <a:noFill/>
          <a:ln/>
        </p:spPr>
        <p:txBody>
          <a:bodyPr wrap="square" lIns="0" tIns="0" rIns="0" bIns="0" rtlCol="0" anchor="t"/>
          <a:lstStyle/>
          <a:p>
            <a:pPr marL="0" indent="0" algn="l">
              <a:lnSpc>
                <a:spcPct val="100000"/>
              </a:lnSpc>
              <a:buNone/>
            </a:pPr>
            <a:r>
              <a:rPr lang="en-US" sz="1450" b="1" dirty="0">
                <a:solidFill>
                  <a:srgbClr val="13294B"/>
                </a:solidFill>
                <a:latin typeface="Cambria" pitchFamily="34" charset="0"/>
                <a:ea typeface="Cambria" pitchFamily="34" charset="-122"/>
                <a:cs typeface="Cambria" pitchFamily="34" charset="-120"/>
              </a:rPr>
              <a:t>Structured Design (SD)</a:t>
            </a:r>
            <a:endParaRPr lang="en-US" sz="1450" dirty="0"/>
          </a:p>
        </p:txBody>
      </p:sp>
      <p:sp>
        <p:nvSpPr>
          <p:cNvPr id="40" name="Text 32"/>
          <p:cNvSpPr/>
          <p:nvPr/>
        </p:nvSpPr>
        <p:spPr>
          <a:xfrm>
            <a:off x="7150608" y="5029200"/>
            <a:ext cx="4343400" cy="914400"/>
          </a:xfrm>
          <a:prstGeom prst="rect">
            <a:avLst/>
          </a:prstGeom>
          <a:noFill/>
          <a:ln/>
        </p:spPr>
        <p:txBody>
          <a:bodyPr wrap="square" lIns="0" tIns="0" rIns="0" bIns="0" rtlCol="0" anchor="t"/>
          <a:lstStyle/>
          <a:p>
            <a:pPr marL="0" indent="0" algn="l">
              <a:lnSpc>
                <a:spcPct val="110000"/>
              </a:lnSpc>
              <a:buNone/>
            </a:pPr>
            <a:r>
              <a:rPr lang="en-US" sz="1160" dirty="0">
                <a:solidFill>
                  <a:srgbClr val="1B3A5F"/>
                </a:solidFill>
                <a:latin typeface="Calibri" pitchFamily="34" charset="0"/>
                <a:ea typeface="Calibri" pitchFamily="34" charset="-122"/>
                <a:cs typeface="Calibri" pitchFamily="34" charset="-120"/>
              </a:rPr>
              <a:t>Transforms the DFD model into a structure chart that shows HOW the system is organised into modules and how control passes between them.</a:t>
            </a:r>
            <a:endParaRPr lang="en-US" sz="1160" dirty="0"/>
          </a:p>
        </p:txBody>
      </p:sp>
      <p:pic>
        <p:nvPicPr>
          <p:cNvPr id="41" name="Picture 40" descr="gitam_logo.png"/>
          <p:cNvPicPr>
            <a:picLocks noChangeAspect="1"/>
          </p:cNvPicPr>
          <p:nvPr/>
        </p:nvPicPr>
        <p:blipFill>
          <a:blip r:embed="rId8"/>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1458509506"/>
      </p:ext>
    </p:extLst>
  </p:cSld>
  <p:clrMapOvr>
    <a:overrideClrMapping bg1="lt1" tx1="dk1" bg2="lt2" tx2="dk2" accent1="accent1" accent2="accent2" accent3="accent3" accent4="accent4" accent5="accent5" accent6="accent6" hlink="hlink" folHlink="folHlink"/>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81832" y="614995"/>
            <a:ext cx="12058044" cy="5543044"/>
          </a:xfrm>
          <a:prstGeom prst="rect">
            <a:avLst/>
          </a:prstGeom>
        </p:spPr>
      </p:pic>
      <p:pic>
        <p:nvPicPr>
          <p:cNvPr id="3" name="Picture 2" descr="gitam_logo.png"/>
          <p:cNvPicPr>
            <a:picLocks noChangeAspect="1"/>
          </p:cNvPicPr>
          <p:nvPr/>
        </p:nvPicPr>
        <p:blipFill>
          <a:blip r:embed="rId4"/>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2475052307"/>
      </p:ext>
    </p:extLst>
  </p:cSld>
  <p:clrMapOvr>
    <a:overrideClrMapping bg1="lt1" tx1="dk1" bg2="lt2" tx2="dk2" accent1="accent1" accent2="accent2" accent3="accent3" accent4="accent4" accent5="accent5" accent6="accent6" hlink="hlink" folHlink="folHlink"/>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3" name="Text 1"/>
          <p:cNvSpPr/>
          <p:nvPr/>
        </p:nvSpPr>
        <p:spPr>
          <a:xfrm>
            <a:off x="548640" y="658368"/>
            <a:ext cx="10881360" cy="822960"/>
          </a:xfrm>
          <a:prstGeom prst="rect">
            <a:avLst/>
          </a:prstGeom>
          <a:noFill/>
          <a:ln/>
        </p:spPr>
        <p:txBody>
          <a:bodyPr wrap="square" rtlCol="0" anchor="t"/>
          <a:lstStyle/>
          <a:p>
            <a:pPr marL="0" indent="0" algn="l">
              <a:buNone/>
            </a:pPr>
            <a:r>
              <a:rPr lang="en-US" sz="3100" b="1" dirty="0">
                <a:solidFill>
                  <a:srgbClr val="13294B"/>
                </a:solidFill>
                <a:latin typeface="Cambria" pitchFamily="34" charset="0"/>
                <a:ea typeface="Cambria" pitchFamily="34" charset="-122"/>
                <a:cs typeface="Cambria" pitchFamily="34" charset="-120"/>
              </a:rPr>
              <a:t>Structured Analysis</a:t>
            </a:r>
            <a:endParaRPr lang="en-US" sz="3100" dirty="0"/>
          </a:p>
        </p:txBody>
      </p:sp>
      <p:sp>
        <p:nvSpPr>
          <p:cNvPr id="6" name="Text 4"/>
          <p:cNvSpPr/>
          <p:nvPr/>
        </p:nvSpPr>
        <p:spPr>
          <a:xfrm>
            <a:off x="11292840" y="6382512"/>
            <a:ext cx="502920" cy="329184"/>
          </a:xfrm>
          <a:prstGeom prst="rect">
            <a:avLst/>
          </a:prstGeom>
          <a:noFill/>
          <a:ln/>
        </p:spPr>
        <p:txBody>
          <a:bodyPr wrap="square" rtlCol="0" anchor="ctr"/>
          <a:lstStyle/>
          <a:p>
            <a:pPr marL="0" indent="0" algn="r">
              <a:buNone/>
            </a:pPr>
            <a:r>
              <a:rPr lang="en-US" sz="1100" b="1" dirty="0">
                <a:solidFill>
                  <a:srgbClr val="35618E"/>
                </a:solidFill>
                <a:latin typeface="Calibri" pitchFamily="34" charset="0"/>
                <a:ea typeface="Calibri" pitchFamily="34" charset="-122"/>
                <a:cs typeface="Calibri" pitchFamily="34" charset="-120"/>
              </a:rPr>
              <a:t>20</a:t>
            </a:r>
            <a:endParaRPr lang="en-US" sz="1100" dirty="0"/>
          </a:p>
        </p:txBody>
      </p:sp>
      <p:sp>
        <p:nvSpPr>
          <p:cNvPr id="7" name="Shape 5"/>
          <p:cNvSpPr/>
          <p:nvPr/>
        </p:nvSpPr>
        <p:spPr>
          <a:xfrm>
            <a:off x="566928" y="1645920"/>
            <a:ext cx="5257800" cy="2148840"/>
          </a:xfrm>
          <a:prstGeom prst="roundRect">
            <a:avLst>
              <a:gd name="adj" fmla="val 5106"/>
            </a:avLst>
          </a:prstGeom>
          <a:solidFill>
            <a:srgbClr val="13294B"/>
          </a:solidFill>
          <a:ln/>
          <a:effectLst>
            <a:outerShdw blurRad="1524" dist="889" dir="5400000" algn="bl" rotWithShape="0">
              <a:srgbClr val="1B3A5F">
                <a:alpha val="18000"/>
              </a:srgbClr>
            </a:outerShdw>
          </a:effectLst>
        </p:spPr>
        <p:txBody>
          <a:bodyPr/>
          <a:lstStyle/>
          <a:p>
            <a:endParaRPr lang="en-IN"/>
          </a:p>
        </p:txBody>
      </p:sp>
      <p:sp>
        <p:nvSpPr>
          <p:cNvPr id="8" name="Text 6"/>
          <p:cNvSpPr/>
          <p:nvPr/>
        </p:nvSpPr>
        <p:spPr>
          <a:xfrm>
            <a:off x="822960" y="1847088"/>
            <a:ext cx="4572000" cy="365760"/>
          </a:xfrm>
          <a:prstGeom prst="rect">
            <a:avLst/>
          </a:prstGeom>
          <a:noFill/>
          <a:ln/>
        </p:spPr>
        <p:txBody>
          <a:bodyPr wrap="square" lIns="0" tIns="0" rIns="0" bIns="0" rtlCol="0" anchor="t"/>
          <a:lstStyle/>
          <a:p>
            <a:pPr marL="0" indent="0" algn="l">
              <a:lnSpc>
                <a:spcPct val="100000"/>
              </a:lnSpc>
              <a:buNone/>
            </a:pPr>
            <a:r>
              <a:rPr lang="en-US" sz="1550" b="1" dirty="0">
                <a:solidFill>
                  <a:srgbClr val="FFFFFF"/>
                </a:solidFill>
                <a:latin typeface="Cambria" pitchFamily="34" charset="0"/>
                <a:ea typeface="Cambria" pitchFamily="34" charset="-122"/>
                <a:cs typeface="Cambria" pitchFamily="34" charset="-120"/>
              </a:rPr>
              <a:t>Core idea</a:t>
            </a:r>
            <a:endParaRPr lang="en-US" sz="1550" dirty="0"/>
          </a:p>
        </p:txBody>
      </p:sp>
      <p:sp>
        <p:nvSpPr>
          <p:cNvPr id="9" name="Text 7"/>
          <p:cNvSpPr/>
          <p:nvPr/>
        </p:nvSpPr>
        <p:spPr>
          <a:xfrm>
            <a:off x="822960" y="2286000"/>
            <a:ext cx="4754880" cy="1371600"/>
          </a:xfrm>
          <a:prstGeom prst="rect">
            <a:avLst/>
          </a:prstGeom>
          <a:noFill/>
          <a:ln/>
        </p:spPr>
        <p:txBody>
          <a:bodyPr wrap="square" lIns="0" tIns="0" rIns="0" bIns="0" rtlCol="0" anchor="t"/>
          <a:lstStyle/>
          <a:p>
            <a:pPr marL="0" indent="0" algn="l">
              <a:lnSpc>
                <a:spcPct val="116000"/>
              </a:lnSpc>
              <a:buNone/>
            </a:pPr>
            <a:r>
              <a:rPr lang="en-US" sz="1300" dirty="0">
                <a:solidFill>
                  <a:srgbClr val="C6D2E6"/>
                </a:solidFill>
                <a:latin typeface="Calibri" pitchFamily="34" charset="0"/>
                <a:ea typeface="Calibri" pitchFamily="34" charset="-122"/>
                <a:cs typeface="Calibri" pitchFamily="34" charset="-120"/>
              </a:rPr>
              <a:t>Model the system top-down as a set of functions that transform inputs into outputs, connected by the data that flows between them. Detail is added level by level.</a:t>
            </a:r>
            <a:endParaRPr lang="en-US" sz="1300" dirty="0"/>
          </a:p>
        </p:txBody>
      </p:sp>
      <p:sp>
        <p:nvSpPr>
          <p:cNvPr id="10" name="Shape 8"/>
          <p:cNvSpPr/>
          <p:nvPr/>
        </p:nvSpPr>
        <p:spPr>
          <a:xfrm>
            <a:off x="6035040" y="1645920"/>
            <a:ext cx="2724912" cy="987552"/>
          </a:xfrm>
          <a:prstGeom prst="roundRect">
            <a:avLst>
              <a:gd name="adj" fmla="val 9259"/>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txBody>
          <a:bodyPr/>
          <a:lstStyle/>
          <a:p>
            <a:endParaRPr lang="en-IN"/>
          </a:p>
        </p:txBody>
      </p:sp>
      <p:sp>
        <p:nvSpPr>
          <p:cNvPr id="11" name="Shape 9"/>
          <p:cNvSpPr/>
          <p:nvPr/>
        </p:nvSpPr>
        <p:spPr>
          <a:xfrm>
            <a:off x="6181344" y="1847088"/>
            <a:ext cx="548640" cy="548640"/>
          </a:xfrm>
          <a:prstGeom prst="ellipse">
            <a:avLst/>
          </a:prstGeom>
          <a:solidFill>
            <a:srgbClr val="0E8F8F"/>
          </a:solidFill>
          <a:ln/>
          <a:effectLst>
            <a:outerShdw blurRad="1270" dist="635" dir="5400000" algn="bl" rotWithShape="0">
              <a:srgbClr val="1B3A5F">
                <a:alpha val="25000"/>
              </a:srgbClr>
            </a:outerShdw>
          </a:effectLst>
        </p:spPr>
      </p:sp>
      <p:pic>
        <p:nvPicPr>
          <p:cNvPr id="12" name="Image 0" descr="/home/claude/deck/icons/refine.png"/>
          <p:cNvPicPr>
            <a:picLocks noChangeAspect="1"/>
          </p:cNvPicPr>
          <p:nvPr/>
        </p:nvPicPr>
        <p:blipFill>
          <a:blip r:embed="rId4"/>
          <a:stretch>
            <a:fillRect/>
          </a:stretch>
        </p:blipFill>
        <p:spPr>
          <a:xfrm>
            <a:off x="6323990" y="1989734"/>
            <a:ext cx="263347" cy="263347"/>
          </a:xfrm>
          <a:prstGeom prst="rect">
            <a:avLst/>
          </a:prstGeom>
        </p:spPr>
      </p:pic>
      <p:sp>
        <p:nvSpPr>
          <p:cNvPr id="13" name="Text 10"/>
          <p:cNvSpPr/>
          <p:nvPr/>
        </p:nvSpPr>
        <p:spPr>
          <a:xfrm>
            <a:off x="6821424" y="1773936"/>
            <a:ext cx="1874520" cy="548640"/>
          </a:xfrm>
          <a:prstGeom prst="rect">
            <a:avLst/>
          </a:prstGeom>
          <a:noFill/>
          <a:ln/>
        </p:spPr>
        <p:txBody>
          <a:bodyPr wrap="square" lIns="0" tIns="0" rIns="0" bIns="0" rtlCol="0" anchor="t"/>
          <a:lstStyle/>
          <a:p>
            <a:pPr marL="0" indent="0" algn="l">
              <a:lnSpc>
                <a:spcPct val="98000"/>
              </a:lnSpc>
              <a:buNone/>
            </a:pPr>
            <a:r>
              <a:rPr lang="en-US" sz="1230" b="1" dirty="0">
                <a:solidFill>
                  <a:srgbClr val="13294B"/>
                </a:solidFill>
                <a:latin typeface="Cambria" pitchFamily="34" charset="0"/>
                <a:ea typeface="Cambria" pitchFamily="34" charset="-122"/>
                <a:cs typeface="Cambria" pitchFamily="34" charset="-120"/>
              </a:rPr>
              <a:t>Top-down decomposition</a:t>
            </a:r>
            <a:endParaRPr lang="en-US" sz="1230" dirty="0"/>
          </a:p>
        </p:txBody>
      </p:sp>
      <p:sp>
        <p:nvSpPr>
          <p:cNvPr id="14" name="Text 11"/>
          <p:cNvSpPr/>
          <p:nvPr/>
        </p:nvSpPr>
        <p:spPr>
          <a:xfrm>
            <a:off x="6181344" y="2304288"/>
            <a:ext cx="2468880" cy="310896"/>
          </a:xfrm>
          <a:prstGeom prst="rect">
            <a:avLst/>
          </a:prstGeom>
          <a:noFill/>
          <a:ln/>
        </p:spPr>
        <p:txBody>
          <a:bodyPr wrap="square" lIns="0" tIns="0" rIns="0" bIns="0" rtlCol="0" anchor="t"/>
          <a:lstStyle/>
          <a:p>
            <a:pPr marL="0" indent="0" algn="l">
              <a:lnSpc>
                <a:spcPct val="98000"/>
              </a:lnSpc>
              <a:buNone/>
            </a:pPr>
            <a:r>
              <a:rPr lang="en-US" sz="960" dirty="0">
                <a:solidFill>
                  <a:srgbClr val="5C6B82"/>
                </a:solidFill>
                <a:latin typeface="Calibri" pitchFamily="34" charset="0"/>
                <a:ea typeface="Calibri" pitchFamily="34" charset="-122"/>
                <a:cs typeface="Calibri" pitchFamily="34" charset="-120"/>
              </a:rPr>
              <a:t>Start with one high-level view and progressively split each function into sub-functions.</a:t>
            </a:r>
            <a:endParaRPr lang="en-US" sz="960" dirty="0"/>
          </a:p>
        </p:txBody>
      </p:sp>
      <p:sp>
        <p:nvSpPr>
          <p:cNvPr id="15" name="Shape 12"/>
          <p:cNvSpPr/>
          <p:nvPr/>
        </p:nvSpPr>
        <p:spPr>
          <a:xfrm>
            <a:off x="8851392" y="1645920"/>
            <a:ext cx="2724912" cy="987552"/>
          </a:xfrm>
          <a:prstGeom prst="roundRect">
            <a:avLst>
              <a:gd name="adj" fmla="val 9259"/>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sp>
      <p:sp>
        <p:nvSpPr>
          <p:cNvPr id="16" name="Shape 13"/>
          <p:cNvSpPr/>
          <p:nvPr/>
        </p:nvSpPr>
        <p:spPr>
          <a:xfrm>
            <a:off x="8997696" y="1847088"/>
            <a:ext cx="548640" cy="548640"/>
          </a:xfrm>
          <a:prstGeom prst="ellipse">
            <a:avLst/>
          </a:prstGeom>
          <a:solidFill>
            <a:srgbClr val="35618E"/>
          </a:solidFill>
          <a:ln/>
          <a:effectLst>
            <a:outerShdw blurRad="1270" dist="635" dir="5400000" algn="bl" rotWithShape="0">
              <a:srgbClr val="1B3A5F">
                <a:alpha val="25000"/>
              </a:srgbClr>
            </a:outerShdw>
          </a:effectLst>
        </p:spPr>
      </p:sp>
      <p:pic>
        <p:nvPicPr>
          <p:cNvPr id="17" name="Image 1" descr="/home/claude/deck/icons/flow.png"/>
          <p:cNvPicPr>
            <a:picLocks noChangeAspect="1"/>
          </p:cNvPicPr>
          <p:nvPr/>
        </p:nvPicPr>
        <p:blipFill>
          <a:blip r:embed="rId5"/>
          <a:stretch>
            <a:fillRect/>
          </a:stretch>
        </p:blipFill>
        <p:spPr>
          <a:xfrm>
            <a:off x="9140342" y="1989734"/>
            <a:ext cx="263347" cy="263347"/>
          </a:xfrm>
          <a:prstGeom prst="rect">
            <a:avLst/>
          </a:prstGeom>
        </p:spPr>
      </p:pic>
      <p:sp>
        <p:nvSpPr>
          <p:cNvPr id="18" name="Text 14"/>
          <p:cNvSpPr/>
          <p:nvPr/>
        </p:nvSpPr>
        <p:spPr>
          <a:xfrm>
            <a:off x="9637776" y="1773936"/>
            <a:ext cx="1874520" cy="548640"/>
          </a:xfrm>
          <a:prstGeom prst="rect">
            <a:avLst/>
          </a:prstGeom>
          <a:noFill/>
          <a:ln/>
        </p:spPr>
        <p:txBody>
          <a:bodyPr wrap="square" lIns="0" tIns="0" rIns="0" bIns="0" rtlCol="0" anchor="t"/>
          <a:lstStyle/>
          <a:p>
            <a:pPr marL="0" indent="0" algn="l">
              <a:lnSpc>
                <a:spcPct val="98000"/>
              </a:lnSpc>
              <a:buNone/>
            </a:pPr>
            <a:r>
              <a:rPr lang="en-US" sz="1230" b="1" dirty="0">
                <a:solidFill>
                  <a:srgbClr val="13294B"/>
                </a:solidFill>
                <a:latin typeface="Cambria" pitchFamily="34" charset="0"/>
                <a:ea typeface="Cambria" pitchFamily="34" charset="-122"/>
                <a:cs typeface="Cambria" pitchFamily="34" charset="-120"/>
              </a:rPr>
              <a:t>Data-flow orientation</a:t>
            </a:r>
            <a:endParaRPr lang="en-US" sz="1230" dirty="0"/>
          </a:p>
        </p:txBody>
      </p:sp>
      <p:sp>
        <p:nvSpPr>
          <p:cNvPr id="19" name="Text 15"/>
          <p:cNvSpPr/>
          <p:nvPr/>
        </p:nvSpPr>
        <p:spPr>
          <a:xfrm>
            <a:off x="8997696" y="2304288"/>
            <a:ext cx="2468880" cy="310896"/>
          </a:xfrm>
          <a:prstGeom prst="rect">
            <a:avLst/>
          </a:prstGeom>
          <a:noFill/>
          <a:ln/>
        </p:spPr>
        <p:txBody>
          <a:bodyPr wrap="square" lIns="0" tIns="0" rIns="0" bIns="0" rtlCol="0" anchor="t"/>
          <a:lstStyle/>
          <a:p>
            <a:pPr marL="0" indent="0" algn="l">
              <a:lnSpc>
                <a:spcPct val="98000"/>
              </a:lnSpc>
              <a:buNone/>
            </a:pPr>
            <a:r>
              <a:rPr lang="en-US" sz="960" dirty="0">
                <a:solidFill>
                  <a:srgbClr val="5C6B82"/>
                </a:solidFill>
                <a:latin typeface="Calibri" pitchFamily="34" charset="0"/>
                <a:ea typeface="Calibri" pitchFamily="34" charset="-122"/>
                <a:cs typeface="Calibri" pitchFamily="34" charset="-120"/>
              </a:rPr>
              <a:t>Follow the data: what comes in, how it is transformed, what goes out.</a:t>
            </a:r>
            <a:endParaRPr lang="en-US" sz="960" dirty="0"/>
          </a:p>
        </p:txBody>
      </p:sp>
      <p:sp>
        <p:nvSpPr>
          <p:cNvPr id="20" name="Shape 16"/>
          <p:cNvSpPr/>
          <p:nvPr/>
        </p:nvSpPr>
        <p:spPr>
          <a:xfrm>
            <a:off x="6035040" y="2743200"/>
            <a:ext cx="2724912" cy="987552"/>
          </a:xfrm>
          <a:prstGeom prst="roundRect">
            <a:avLst>
              <a:gd name="adj" fmla="val 9259"/>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txBody>
          <a:bodyPr/>
          <a:lstStyle/>
          <a:p>
            <a:endParaRPr lang="en-IN"/>
          </a:p>
        </p:txBody>
      </p:sp>
      <p:sp>
        <p:nvSpPr>
          <p:cNvPr id="21" name="Shape 17"/>
          <p:cNvSpPr/>
          <p:nvPr/>
        </p:nvSpPr>
        <p:spPr>
          <a:xfrm>
            <a:off x="6181344" y="2944368"/>
            <a:ext cx="548640" cy="548640"/>
          </a:xfrm>
          <a:prstGeom prst="ellipse">
            <a:avLst/>
          </a:prstGeom>
          <a:solidFill>
            <a:srgbClr val="D98A28"/>
          </a:solidFill>
          <a:ln/>
          <a:effectLst>
            <a:outerShdw blurRad="1270" dist="635" dir="5400000" algn="bl" rotWithShape="0">
              <a:srgbClr val="1B3A5F">
                <a:alpha val="25000"/>
              </a:srgbClr>
            </a:outerShdw>
          </a:effectLst>
        </p:spPr>
      </p:sp>
      <p:pic>
        <p:nvPicPr>
          <p:cNvPr id="22" name="Image 2" descr="/home/claude/deck/icons/abstraction.png"/>
          <p:cNvPicPr>
            <a:picLocks noChangeAspect="1"/>
          </p:cNvPicPr>
          <p:nvPr/>
        </p:nvPicPr>
        <p:blipFill>
          <a:blip r:embed="rId6"/>
          <a:stretch>
            <a:fillRect/>
          </a:stretch>
        </p:blipFill>
        <p:spPr>
          <a:xfrm>
            <a:off x="6323990" y="3087014"/>
            <a:ext cx="263347" cy="263347"/>
          </a:xfrm>
          <a:prstGeom prst="rect">
            <a:avLst/>
          </a:prstGeom>
        </p:spPr>
      </p:pic>
      <p:sp>
        <p:nvSpPr>
          <p:cNvPr id="23" name="Text 18"/>
          <p:cNvSpPr/>
          <p:nvPr/>
        </p:nvSpPr>
        <p:spPr>
          <a:xfrm>
            <a:off x="6821424" y="2871216"/>
            <a:ext cx="1874520" cy="548640"/>
          </a:xfrm>
          <a:prstGeom prst="rect">
            <a:avLst/>
          </a:prstGeom>
          <a:noFill/>
          <a:ln/>
        </p:spPr>
        <p:txBody>
          <a:bodyPr wrap="square" lIns="0" tIns="0" rIns="0" bIns="0" rtlCol="0" anchor="t"/>
          <a:lstStyle/>
          <a:p>
            <a:pPr marL="0" indent="0" algn="l">
              <a:lnSpc>
                <a:spcPct val="98000"/>
              </a:lnSpc>
              <a:buNone/>
            </a:pPr>
            <a:r>
              <a:rPr lang="en-US" sz="1230" b="1" dirty="0">
                <a:solidFill>
                  <a:srgbClr val="13294B"/>
                </a:solidFill>
                <a:latin typeface="Cambria" pitchFamily="34" charset="0"/>
                <a:ea typeface="Cambria" pitchFamily="34" charset="-122"/>
                <a:cs typeface="Cambria" pitchFamily="34" charset="-120"/>
              </a:rPr>
              <a:t>Abstraction &amp; leveling</a:t>
            </a:r>
            <a:endParaRPr lang="en-US" sz="1230" dirty="0"/>
          </a:p>
        </p:txBody>
      </p:sp>
      <p:sp>
        <p:nvSpPr>
          <p:cNvPr id="24" name="Text 19"/>
          <p:cNvSpPr/>
          <p:nvPr/>
        </p:nvSpPr>
        <p:spPr>
          <a:xfrm>
            <a:off x="6181344" y="3401568"/>
            <a:ext cx="2468880" cy="310896"/>
          </a:xfrm>
          <a:prstGeom prst="rect">
            <a:avLst/>
          </a:prstGeom>
          <a:noFill/>
          <a:ln/>
        </p:spPr>
        <p:txBody>
          <a:bodyPr wrap="square" lIns="0" tIns="0" rIns="0" bIns="0" rtlCol="0" anchor="t"/>
          <a:lstStyle/>
          <a:p>
            <a:pPr marL="0" indent="0" algn="l">
              <a:lnSpc>
                <a:spcPct val="98000"/>
              </a:lnSpc>
              <a:buNone/>
            </a:pPr>
            <a:r>
              <a:rPr lang="en-US" sz="960" dirty="0">
                <a:solidFill>
                  <a:srgbClr val="5C6B82"/>
                </a:solidFill>
                <a:latin typeface="Calibri" pitchFamily="34" charset="0"/>
                <a:ea typeface="Calibri" pitchFamily="34" charset="-122"/>
                <a:cs typeface="Calibri" pitchFamily="34" charset="-120"/>
              </a:rPr>
              <a:t>Each DFD level hides detail of the level below it (balanced across levels).</a:t>
            </a:r>
            <a:endParaRPr lang="en-US" sz="960" dirty="0"/>
          </a:p>
        </p:txBody>
      </p:sp>
      <p:sp>
        <p:nvSpPr>
          <p:cNvPr id="25" name="Shape 20"/>
          <p:cNvSpPr/>
          <p:nvPr/>
        </p:nvSpPr>
        <p:spPr>
          <a:xfrm>
            <a:off x="8851392" y="2743200"/>
            <a:ext cx="2724912" cy="987552"/>
          </a:xfrm>
          <a:prstGeom prst="roundRect">
            <a:avLst>
              <a:gd name="adj" fmla="val 9259"/>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sp>
      <p:sp>
        <p:nvSpPr>
          <p:cNvPr id="26" name="Shape 21"/>
          <p:cNvSpPr/>
          <p:nvPr/>
        </p:nvSpPr>
        <p:spPr>
          <a:xfrm>
            <a:off x="8997696" y="2944368"/>
            <a:ext cx="548640" cy="548640"/>
          </a:xfrm>
          <a:prstGeom prst="ellipse">
            <a:avLst/>
          </a:prstGeom>
          <a:solidFill>
            <a:srgbClr val="6C5B9E"/>
          </a:solidFill>
          <a:ln/>
          <a:effectLst>
            <a:outerShdw blurRad="1270" dist="635" dir="5400000" algn="bl" rotWithShape="0">
              <a:srgbClr val="1B3A5F">
                <a:alpha val="25000"/>
              </a:srgbClr>
            </a:outerShdw>
          </a:effectLst>
        </p:spPr>
      </p:sp>
      <p:pic>
        <p:nvPicPr>
          <p:cNvPr id="27" name="Image 3" descr="/home/claude/deck/icons/listol.png"/>
          <p:cNvPicPr>
            <a:picLocks noChangeAspect="1"/>
          </p:cNvPicPr>
          <p:nvPr/>
        </p:nvPicPr>
        <p:blipFill>
          <a:blip r:embed="rId7"/>
          <a:stretch>
            <a:fillRect/>
          </a:stretch>
        </p:blipFill>
        <p:spPr>
          <a:xfrm>
            <a:off x="9140342" y="3087014"/>
            <a:ext cx="263347" cy="263347"/>
          </a:xfrm>
          <a:prstGeom prst="rect">
            <a:avLst/>
          </a:prstGeom>
        </p:spPr>
      </p:pic>
      <p:sp>
        <p:nvSpPr>
          <p:cNvPr id="28" name="Text 22"/>
          <p:cNvSpPr/>
          <p:nvPr/>
        </p:nvSpPr>
        <p:spPr>
          <a:xfrm>
            <a:off x="9637776" y="2871216"/>
            <a:ext cx="1874520" cy="548640"/>
          </a:xfrm>
          <a:prstGeom prst="rect">
            <a:avLst/>
          </a:prstGeom>
          <a:noFill/>
          <a:ln/>
        </p:spPr>
        <p:txBody>
          <a:bodyPr wrap="square" lIns="0" tIns="0" rIns="0" bIns="0" rtlCol="0" anchor="t"/>
          <a:lstStyle/>
          <a:p>
            <a:pPr marL="0" indent="0" algn="l">
              <a:lnSpc>
                <a:spcPct val="98000"/>
              </a:lnSpc>
              <a:buNone/>
            </a:pPr>
            <a:r>
              <a:rPr lang="en-US" sz="1230" b="1" dirty="0">
                <a:solidFill>
                  <a:srgbClr val="13294B"/>
                </a:solidFill>
                <a:latin typeface="Cambria" pitchFamily="34" charset="0"/>
                <a:ea typeface="Cambria" pitchFamily="34" charset="-122"/>
                <a:cs typeface="Cambria" pitchFamily="34" charset="-120"/>
              </a:rPr>
              <a:t>Supporting artifacts</a:t>
            </a:r>
            <a:endParaRPr lang="en-US" sz="1230" dirty="0"/>
          </a:p>
        </p:txBody>
      </p:sp>
      <p:sp>
        <p:nvSpPr>
          <p:cNvPr id="29" name="Text 23"/>
          <p:cNvSpPr/>
          <p:nvPr/>
        </p:nvSpPr>
        <p:spPr>
          <a:xfrm>
            <a:off x="8997696" y="3401568"/>
            <a:ext cx="2468880" cy="310896"/>
          </a:xfrm>
          <a:prstGeom prst="rect">
            <a:avLst/>
          </a:prstGeom>
          <a:noFill/>
          <a:ln/>
        </p:spPr>
        <p:txBody>
          <a:bodyPr wrap="square" lIns="0" tIns="0" rIns="0" bIns="0" rtlCol="0" anchor="t"/>
          <a:lstStyle/>
          <a:p>
            <a:pPr marL="0" indent="0" algn="l">
              <a:lnSpc>
                <a:spcPct val="98000"/>
              </a:lnSpc>
              <a:buNone/>
            </a:pPr>
            <a:r>
              <a:rPr lang="en-US" sz="960" dirty="0">
                <a:solidFill>
                  <a:srgbClr val="5C6B82"/>
                </a:solidFill>
                <a:latin typeface="Calibri" pitchFamily="34" charset="0"/>
                <a:ea typeface="Calibri" pitchFamily="34" charset="-122"/>
                <a:cs typeface="Calibri" pitchFamily="34" charset="-120"/>
              </a:rPr>
              <a:t>Data dictionary + process specifications (structured English, decision tables/trees).</a:t>
            </a:r>
            <a:endParaRPr lang="en-US" sz="960" dirty="0"/>
          </a:p>
        </p:txBody>
      </p:sp>
      <p:sp>
        <p:nvSpPr>
          <p:cNvPr id="30" name="Shape 24"/>
          <p:cNvSpPr/>
          <p:nvPr/>
        </p:nvSpPr>
        <p:spPr>
          <a:xfrm>
            <a:off x="566928" y="4023360"/>
            <a:ext cx="11064240" cy="2011680"/>
          </a:xfrm>
          <a:prstGeom prst="roundRect">
            <a:avLst>
              <a:gd name="adj" fmla="val 5455"/>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sp>
      <p:sp>
        <p:nvSpPr>
          <p:cNvPr id="31" name="Text 25"/>
          <p:cNvSpPr/>
          <p:nvPr/>
        </p:nvSpPr>
        <p:spPr>
          <a:xfrm>
            <a:off x="822960" y="4206240"/>
            <a:ext cx="7315200" cy="365760"/>
          </a:xfrm>
          <a:prstGeom prst="rect">
            <a:avLst/>
          </a:prstGeom>
          <a:noFill/>
          <a:ln/>
        </p:spPr>
        <p:txBody>
          <a:bodyPr wrap="square" lIns="0" tIns="0" rIns="0" bIns="0" rtlCol="0" anchor="t"/>
          <a:lstStyle/>
          <a:p>
            <a:pPr marL="0" indent="0" algn="l">
              <a:lnSpc>
                <a:spcPct val="100000"/>
              </a:lnSpc>
              <a:buNone/>
            </a:pPr>
            <a:r>
              <a:rPr lang="en-US" sz="1500" b="1" dirty="0">
                <a:solidFill>
                  <a:srgbClr val="13294B"/>
                </a:solidFill>
                <a:latin typeface="Cambria" pitchFamily="34" charset="0"/>
                <a:ea typeface="Cambria" pitchFamily="34" charset="-122"/>
                <a:cs typeface="Cambria" pitchFamily="34" charset="-120"/>
              </a:rPr>
              <a:t>The three products of structured analysis</a:t>
            </a:r>
            <a:endParaRPr lang="en-US" sz="1500" dirty="0"/>
          </a:p>
        </p:txBody>
      </p:sp>
      <p:sp>
        <p:nvSpPr>
          <p:cNvPr id="32" name="Shape 26"/>
          <p:cNvSpPr/>
          <p:nvPr/>
        </p:nvSpPr>
        <p:spPr>
          <a:xfrm>
            <a:off x="822960" y="4754880"/>
            <a:ext cx="640080" cy="640080"/>
          </a:xfrm>
          <a:prstGeom prst="ellipse">
            <a:avLst/>
          </a:prstGeom>
          <a:solidFill>
            <a:srgbClr val="0E8F8F"/>
          </a:solidFill>
          <a:ln/>
          <a:effectLst>
            <a:outerShdw blurRad="1270" dist="635" dir="5400000" algn="bl" rotWithShape="0">
              <a:srgbClr val="1B3A5F">
                <a:alpha val="25000"/>
              </a:srgbClr>
            </a:outerShdw>
          </a:effectLst>
        </p:spPr>
      </p:sp>
      <p:pic>
        <p:nvPicPr>
          <p:cNvPr id="33" name="Image 4" descr="/home/claude/deck/icons/flow.png"/>
          <p:cNvPicPr>
            <a:picLocks noChangeAspect="1"/>
          </p:cNvPicPr>
          <p:nvPr/>
        </p:nvPicPr>
        <p:blipFill>
          <a:blip r:embed="rId5"/>
          <a:stretch>
            <a:fillRect/>
          </a:stretch>
        </p:blipFill>
        <p:spPr>
          <a:xfrm>
            <a:off x="989381" y="4921301"/>
            <a:ext cx="307238" cy="307238"/>
          </a:xfrm>
          <a:prstGeom prst="rect">
            <a:avLst/>
          </a:prstGeom>
        </p:spPr>
      </p:pic>
      <p:sp>
        <p:nvSpPr>
          <p:cNvPr id="34" name="Text 27"/>
          <p:cNvSpPr/>
          <p:nvPr/>
        </p:nvSpPr>
        <p:spPr>
          <a:xfrm>
            <a:off x="1600200" y="4773168"/>
            <a:ext cx="2743200" cy="365760"/>
          </a:xfrm>
          <a:prstGeom prst="rect">
            <a:avLst/>
          </a:prstGeom>
          <a:noFill/>
          <a:ln/>
        </p:spPr>
        <p:txBody>
          <a:bodyPr wrap="square" lIns="0" tIns="0" rIns="0" bIns="0" rtlCol="0" anchor="t"/>
          <a:lstStyle/>
          <a:p>
            <a:pPr marL="0" indent="0" algn="l">
              <a:lnSpc>
                <a:spcPct val="100000"/>
              </a:lnSpc>
              <a:buNone/>
            </a:pPr>
            <a:r>
              <a:rPr lang="en-US" sz="1350" b="1" dirty="0">
                <a:solidFill>
                  <a:srgbClr val="13294B"/>
                </a:solidFill>
                <a:latin typeface="Cambria" pitchFamily="34" charset="0"/>
                <a:ea typeface="Cambria" pitchFamily="34" charset="-122"/>
                <a:cs typeface="Cambria" pitchFamily="34" charset="-120"/>
              </a:rPr>
              <a:t>Data Flow Diagrams</a:t>
            </a:r>
            <a:endParaRPr lang="en-US" sz="1350" dirty="0"/>
          </a:p>
        </p:txBody>
      </p:sp>
      <p:sp>
        <p:nvSpPr>
          <p:cNvPr id="35" name="Text 28"/>
          <p:cNvSpPr/>
          <p:nvPr/>
        </p:nvSpPr>
        <p:spPr>
          <a:xfrm>
            <a:off x="1600200" y="5138928"/>
            <a:ext cx="2743200" cy="548640"/>
          </a:xfrm>
          <a:prstGeom prst="rect">
            <a:avLst/>
          </a:prstGeom>
          <a:noFill/>
          <a:ln/>
        </p:spPr>
        <p:txBody>
          <a:bodyPr wrap="square" lIns="0" tIns="0" rIns="0" bIns="0" rtlCol="0" anchor="t"/>
          <a:lstStyle/>
          <a:p>
            <a:pPr marL="0" indent="0" algn="l">
              <a:lnSpc>
                <a:spcPct val="105000"/>
              </a:lnSpc>
              <a:buNone/>
            </a:pPr>
            <a:r>
              <a:rPr lang="en-US" sz="1100" dirty="0">
                <a:solidFill>
                  <a:srgbClr val="5C6B82"/>
                </a:solidFill>
                <a:latin typeface="Calibri" pitchFamily="34" charset="0"/>
                <a:ea typeface="Calibri" pitchFamily="34" charset="-122"/>
                <a:cs typeface="Calibri" pitchFamily="34" charset="-120"/>
              </a:rPr>
              <a:t>graphical model of functions &amp; data movement</a:t>
            </a:r>
            <a:endParaRPr lang="en-US" sz="1100" dirty="0"/>
          </a:p>
        </p:txBody>
      </p:sp>
      <p:sp>
        <p:nvSpPr>
          <p:cNvPr id="36" name="Shape 29"/>
          <p:cNvSpPr/>
          <p:nvPr/>
        </p:nvSpPr>
        <p:spPr>
          <a:xfrm>
            <a:off x="4434840" y="4754880"/>
            <a:ext cx="640080" cy="640080"/>
          </a:xfrm>
          <a:prstGeom prst="ellipse">
            <a:avLst/>
          </a:prstGeom>
          <a:solidFill>
            <a:srgbClr val="D98A28"/>
          </a:solidFill>
          <a:ln/>
          <a:effectLst>
            <a:outerShdw blurRad="1270" dist="635" dir="5400000" algn="bl" rotWithShape="0">
              <a:srgbClr val="1B3A5F">
                <a:alpha val="25000"/>
              </a:srgbClr>
            </a:outerShdw>
          </a:effectLst>
        </p:spPr>
      </p:sp>
      <p:pic>
        <p:nvPicPr>
          <p:cNvPr id="37" name="Image 5" descr="/home/claude/deck/icons/book.png"/>
          <p:cNvPicPr>
            <a:picLocks noChangeAspect="1"/>
          </p:cNvPicPr>
          <p:nvPr/>
        </p:nvPicPr>
        <p:blipFill>
          <a:blip r:embed="rId8"/>
          <a:stretch>
            <a:fillRect/>
          </a:stretch>
        </p:blipFill>
        <p:spPr>
          <a:xfrm>
            <a:off x="4601261" y="4921301"/>
            <a:ext cx="307238" cy="307238"/>
          </a:xfrm>
          <a:prstGeom prst="rect">
            <a:avLst/>
          </a:prstGeom>
        </p:spPr>
      </p:pic>
      <p:sp>
        <p:nvSpPr>
          <p:cNvPr id="38" name="Text 30"/>
          <p:cNvSpPr/>
          <p:nvPr/>
        </p:nvSpPr>
        <p:spPr>
          <a:xfrm>
            <a:off x="5212080" y="4773168"/>
            <a:ext cx="2743200" cy="365760"/>
          </a:xfrm>
          <a:prstGeom prst="rect">
            <a:avLst/>
          </a:prstGeom>
          <a:noFill/>
          <a:ln/>
        </p:spPr>
        <p:txBody>
          <a:bodyPr wrap="square" lIns="0" tIns="0" rIns="0" bIns="0" rtlCol="0" anchor="t"/>
          <a:lstStyle/>
          <a:p>
            <a:pPr marL="0" indent="0" algn="l">
              <a:lnSpc>
                <a:spcPct val="100000"/>
              </a:lnSpc>
              <a:buNone/>
            </a:pPr>
            <a:r>
              <a:rPr lang="en-US" sz="1350" b="1" dirty="0">
                <a:solidFill>
                  <a:srgbClr val="13294B"/>
                </a:solidFill>
                <a:latin typeface="Cambria" pitchFamily="34" charset="0"/>
                <a:ea typeface="Cambria" pitchFamily="34" charset="-122"/>
                <a:cs typeface="Cambria" pitchFamily="34" charset="-120"/>
              </a:rPr>
              <a:t>Data Dictionary</a:t>
            </a:r>
            <a:endParaRPr lang="en-US" sz="1350" dirty="0"/>
          </a:p>
        </p:txBody>
      </p:sp>
      <p:sp>
        <p:nvSpPr>
          <p:cNvPr id="39" name="Text 31"/>
          <p:cNvSpPr/>
          <p:nvPr/>
        </p:nvSpPr>
        <p:spPr>
          <a:xfrm>
            <a:off x="5212080" y="5138928"/>
            <a:ext cx="2743200" cy="548640"/>
          </a:xfrm>
          <a:prstGeom prst="rect">
            <a:avLst/>
          </a:prstGeom>
          <a:noFill/>
          <a:ln/>
        </p:spPr>
        <p:txBody>
          <a:bodyPr wrap="square" lIns="0" tIns="0" rIns="0" bIns="0" rtlCol="0" anchor="t"/>
          <a:lstStyle/>
          <a:p>
            <a:pPr marL="0" indent="0" algn="l">
              <a:lnSpc>
                <a:spcPct val="105000"/>
              </a:lnSpc>
              <a:buNone/>
            </a:pPr>
            <a:r>
              <a:rPr lang="en-US" sz="1100" dirty="0">
                <a:solidFill>
                  <a:srgbClr val="5C6B82"/>
                </a:solidFill>
                <a:latin typeface="Calibri" pitchFamily="34" charset="0"/>
                <a:ea typeface="Calibri" pitchFamily="34" charset="-122"/>
                <a:cs typeface="Calibri" pitchFamily="34" charset="-120"/>
              </a:rPr>
              <a:t>precise definition of every data item &amp; store</a:t>
            </a:r>
            <a:endParaRPr lang="en-US" sz="1100" dirty="0"/>
          </a:p>
        </p:txBody>
      </p:sp>
      <p:sp>
        <p:nvSpPr>
          <p:cNvPr id="40" name="Shape 32"/>
          <p:cNvSpPr/>
          <p:nvPr/>
        </p:nvSpPr>
        <p:spPr>
          <a:xfrm>
            <a:off x="8046720" y="4754880"/>
            <a:ext cx="640080" cy="640080"/>
          </a:xfrm>
          <a:prstGeom prst="ellipse">
            <a:avLst/>
          </a:prstGeom>
          <a:solidFill>
            <a:srgbClr val="D9542B"/>
          </a:solidFill>
          <a:ln/>
          <a:effectLst>
            <a:outerShdw blurRad="1270" dist="635" dir="5400000" algn="bl" rotWithShape="0">
              <a:srgbClr val="1B3A5F">
                <a:alpha val="25000"/>
              </a:srgbClr>
            </a:outerShdw>
          </a:effectLst>
        </p:spPr>
      </p:sp>
      <p:pic>
        <p:nvPicPr>
          <p:cNvPr id="41" name="Image 6" descr="/home/claude/deck/icons/listol.png"/>
          <p:cNvPicPr>
            <a:picLocks noChangeAspect="1"/>
          </p:cNvPicPr>
          <p:nvPr/>
        </p:nvPicPr>
        <p:blipFill>
          <a:blip r:embed="rId7"/>
          <a:stretch>
            <a:fillRect/>
          </a:stretch>
        </p:blipFill>
        <p:spPr>
          <a:xfrm>
            <a:off x="8213141" y="4921301"/>
            <a:ext cx="307238" cy="307238"/>
          </a:xfrm>
          <a:prstGeom prst="rect">
            <a:avLst/>
          </a:prstGeom>
        </p:spPr>
      </p:pic>
      <p:sp>
        <p:nvSpPr>
          <p:cNvPr id="42" name="Text 33"/>
          <p:cNvSpPr/>
          <p:nvPr/>
        </p:nvSpPr>
        <p:spPr>
          <a:xfrm>
            <a:off x="8823960" y="4773168"/>
            <a:ext cx="2743200" cy="365760"/>
          </a:xfrm>
          <a:prstGeom prst="rect">
            <a:avLst/>
          </a:prstGeom>
          <a:noFill/>
          <a:ln/>
        </p:spPr>
        <p:txBody>
          <a:bodyPr wrap="square" lIns="0" tIns="0" rIns="0" bIns="0" rtlCol="0" anchor="t"/>
          <a:lstStyle/>
          <a:p>
            <a:pPr marL="0" indent="0" algn="l">
              <a:lnSpc>
                <a:spcPct val="100000"/>
              </a:lnSpc>
              <a:buNone/>
            </a:pPr>
            <a:r>
              <a:rPr lang="en-US" sz="1350" b="1" dirty="0">
                <a:solidFill>
                  <a:srgbClr val="13294B"/>
                </a:solidFill>
                <a:latin typeface="Cambria" pitchFamily="34" charset="0"/>
                <a:ea typeface="Cambria" pitchFamily="34" charset="-122"/>
                <a:cs typeface="Cambria" pitchFamily="34" charset="-120"/>
              </a:rPr>
              <a:t>Process Specifications</a:t>
            </a:r>
            <a:endParaRPr lang="en-US" sz="1350" dirty="0"/>
          </a:p>
        </p:txBody>
      </p:sp>
      <p:sp>
        <p:nvSpPr>
          <p:cNvPr id="43" name="Text 34"/>
          <p:cNvSpPr/>
          <p:nvPr/>
        </p:nvSpPr>
        <p:spPr>
          <a:xfrm>
            <a:off x="8823960" y="5138928"/>
            <a:ext cx="2743200" cy="548640"/>
          </a:xfrm>
          <a:prstGeom prst="rect">
            <a:avLst/>
          </a:prstGeom>
          <a:noFill/>
          <a:ln/>
        </p:spPr>
        <p:txBody>
          <a:bodyPr wrap="square" lIns="0" tIns="0" rIns="0" bIns="0" rtlCol="0" anchor="t"/>
          <a:lstStyle/>
          <a:p>
            <a:pPr marL="0" indent="0" algn="l">
              <a:lnSpc>
                <a:spcPct val="105000"/>
              </a:lnSpc>
              <a:buNone/>
            </a:pPr>
            <a:r>
              <a:rPr lang="en-US" sz="1100" dirty="0">
                <a:solidFill>
                  <a:srgbClr val="5C6B82"/>
                </a:solidFill>
                <a:latin typeface="Calibri" pitchFamily="34" charset="0"/>
                <a:ea typeface="Calibri" pitchFamily="34" charset="-122"/>
                <a:cs typeface="Calibri" pitchFamily="34" charset="-120"/>
              </a:rPr>
              <a:t>the logic of each primitive (bottom-level) process</a:t>
            </a:r>
            <a:endParaRPr lang="en-US" sz="1100" dirty="0"/>
          </a:p>
        </p:txBody>
      </p:sp>
      <p:pic>
        <p:nvPicPr>
          <p:cNvPr id="44" name="Picture 43" descr="gitam_logo.png"/>
          <p:cNvPicPr>
            <a:picLocks noChangeAspect="1"/>
          </p:cNvPicPr>
          <p:nvPr/>
        </p:nvPicPr>
        <p:blipFill>
          <a:blip r:embed="rId9"/>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731328852"/>
      </p:ext>
    </p:extLst>
  </p:cSld>
  <p:clrMapOvr>
    <a:overrideClrMapping bg1="lt1" tx1="dk1" bg2="lt2" tx2="dk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3" name="Text 1"/>
          <p:cNvSpPr/>
          <p:nvPr/>
        </p:nvSpPr>
        <p:spPr>
          <a:xfrm>
            <a:off x="548640" y="658368"/>
            <a:ext cx="10881360" cy="822960"/>
          </a:xfrm>
          <a:prstGeom prst="rect">
            <a:avLst/>
          </a:prstGeom>
          <a:noFill/>
          <a:ln/>
        </p:spPr>
        <p:txBody>
          <a:bodyPr wrap="square" rtlCol="0" anchor="t"/>
          <a:lstStyle/>
          <a:p>
            <a:pPr marL="0" indent="0" algn="l">
              <a:buNone/>
            </a:pPr>
            <a:r>
              <a:rPr lang="en-US" sz="3100" b="1" dirty="0">
                <a:solidFill>
                  <a:srgbClr val="13294B"/>
                </a:solidFill>
                <a:latin typeface="Cambria" pitchFamily="34" charset="0"/>
                <a:ea typeface="Cambria" pitchFamily="34" charset="-122"/>
                <a:cs typeface="Cambria" pitchFamily="34" charset="-120"/>
              </a:rPr>
              <a:t>Data Flow Diagrams — notation</a:t>
            </a:r>
            <a:endParaRPr lang="en-US" sz="3100" dirty="0"/>
          </a:p>
        </p:txBody>
      </p:sp>
      <p:sp>
        <p:nvSpPr>
          <p:cNvPr id="6" name="Text 4"/>
          <p:cNvSpPr/>
          <p:nvPr/>
        </p:nvSpPr>
        <p:spPr>
          <a:xfrm>
            <a:off x="11292840" y="6382512"/>
            <a:ext cx="502920" cy="329184"/>
          </a:xfrm>
          <a:prstGeom prst="rect">
            <a:avLst/>
          </a:prstGeom>
          <a:noFill/>
          <a:ln/>
        </p:spPr>
        <p:txBody>
          <a:bodyPr wrap="square" rtlCol="0" anchor="ctr"/>
          <a:lstStyle/>
          <a:p>
            <a:pPr marL="0" indent="0" algn="r">
              <a:buNone/>
            </a:pPr>
            <a:r>
              <a:rPr lang="en-US" sz="1100" b="1" dirty="0">
                <a:solidFill>
                  <a:srgbClr val="35618E"/>
                </a:solidFill>
                <a:latin typeface="Calibri" pitchFamily="34" charset="0"/>
                <a:ea typeface="Calibri" pitchFamily="34" charset="-122"/>
                <a:cs typeface="Calibri" pitchFamily="34" charset="-120"/>
              </a:rPr>
              <a:t>21</a:t>
            </a:r>
            <a:endParaRPr lang="en-US" sz="1100" dirty="0"/>
          </a:p>
        </p:txBody>
      </p:sp>
      <p:sp>
        <p:nvSpPr>
          <p:cNvPr id="7" name="Text 5"/>
          <p:cNvSpPr/>
          <p:nvPr/>
        </p:nvSpPr>
        <p:spPr>
          <a:xfrm>
            <a:off x="566928" y="1554480"/>
            <a:ext cx="10972800" cy="457200"/>
          </a:xfrm>
          <a:prstGeom prst="rect">
            <a:avLst/>
          </a:prstGeom>
          <a:noFill/>
          <a:ln/>
        </p:spPr>
        <p:txBody>
          <a:bodyPr wrap="square" lIns="0" tIns="0" rIns="0" bIns="0" rtlCol="0" anchor="t"/>
          <a:lstStyle/>
          <a:p>
            <a:pPr marL="0" indent="0" algn="l">
              <a:lnSpc>
                <a:spcPct val="110000"/>
              </a:lnSpc>
              <a:buNone/>
            </a:pPr>
            <a:r>
              <a:rPr lang="en-US" sz="1380" dirty="0">
                <a:solidFill>
                  <a:srgbClr val="5C6B82"/>
                </a:solidFill>
                <a:latin typeface="Calibri" pitchFamily="34" charset="0"/>
                <a:ea typeface="Calibri" pitchFamily="34" charset="-122"/>
                <a:cs typeface="Calibri" pitchFamily="34" charset="-120"/>
              </a:rPr>
              <a:t>A DFD is a graphical model showing how data moves through a system and is transformed by its functions. Four symbols capture everything.</a:t>
            </a:r>
            <a:endParaRPr lang="en-US" sz="1380" dirty="0"/>
          </a:p>
        </p:txBody>
      </p:sp>
      <p:sp>
        <p:nvSpPr>
          <p:cNvPr id="8" name="Shape 6"/>
          <p:cNvSpPr/>
          <p:nvPr/>
        </p:nvSpPr>
        <p:spPr>
          <a:xfrm>
            <a:off x="566928" y="2331720"/>
            <a:ext cx="2615184" cy="1965960"/>
          </a:xfrm>
          <a:prstGeom prst="roundRect">
            <a:avLst>
              <a:gd name="adj" fmla="val 5581"/>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txBody>
          <a:bodyPr/>
          <a:lstStyle/>
          <a:p>
            <a:endParaRPr lang="en-IN"/>
          </a:p>
        </p:txBody>
      </p:sp>
      <p:sp>
        <p:nvSpPr>
          <p:cNvPr id="9" name="Shape 7"/>
          <p:cNvSpPr/>
          <p:nvPr/>
        </p:nvSpPr>
        <p:spPr>
          <a:xfrm>
            <a:off x="1417320" y="2606040"/>
            <a:ext cx="914400" cy="914400"/>
          </a:xfrm>
          <a:prstGeom prst="ellipse">
            <a:avLst/>
          </a:prstGeom>
          <a:solidFill>
            <a:srgbClr val="E1F1F1"/>
          </a:solidFill>
          <a:ln w="25400">
            <a:solidFill>
              <a:srgbClr val="0E8F8F"/>
            </a:solidFill>
            <a:prstDash val="solid"/>
          </a:ln>
        </p:spPr>
      </p:sp>
      <p:sp>
        <p:nvSpPr>
          <p:cNvPr id="10" name="Text 8"/>
          <p:cNvSpPr/>
          <p:nvPr/>
        </p:nvSpPr>
        <p:spPr>
          <a:xfrm>
            <a:off x="1417320" y="2834640"/>
            <a:ext cx="914400" cy="457200"/>
          </a:xfrm>
          <a:prstGeom prst="rect">
            <a:avLst/>
          </a:prstGeom>
          <a:noFill/>
          <a:ln/>
        </p:spPr>
        <p:txBody>
          <a:bodyPr wrap="square" lIns="0" tIns="0" rIns="0" bIns="0" rtlCol="0" anchor="t"/>
          <a:lstStyle/>
          <a:p>
            <a:pPr marL="0" indent="0" algn="ctr">
              <a:lnSpc>
                <a:spcPct val="100000"/>
              </a:lnSpc>
              <a:buNone/>
            </a:pPr>
            <a:r>
              <a:rPr lang="en-US" sz="1300" b="1" dirty="0">
                <a:solidFill>
                  <a:srgbClr val="0A6E6E"/>
                </a:solidFill>
                <a:latin typeface="Calibri" pitchFamily="34" charset="0"/>
                <a:ea typeface="Calibri" pitchFamily="34" charset="-122"/>
                <a:cs typeface="Calibri" pitchFamily="34" charset="-120"/>
              </a:rPr>
              <a:t>1.0</a:t>
            </a:r>
            <a:endParaRPr lang="en-US" sz="1300" dirty="0"/>
          </a:p>
        </p:txBody>
      </p:sp>
      <p:sp>
        <p:nvSpPr>
          <p:cNvPr id="11" name="Text 9"/>
          <p:cNvSpPr/>
          <p:nvPr/>
        </p:nvSpPr>
        <p:spPr>
          <a:xfrm>
            <a:off x="566928" y="3630168"/>
            <a:ext cx="2615184" cy="320040"/>
          </a:xfrm>
          <a:prstGeom prst="rect">
            <a:avLst/>
          </a:prstGeom>
          <a:noFill/>
          <a:ln/>
        </p:spPr>
        <p:txBody>
          <a:bodyPr wrap="square" lIns="0" tIns="0" rIns="0" bIns="0" rtlCol="0" anchor="t"/>
          <a:lstStyle/>
          <a:p>
            <a:pPr marL="0" indent="0" algn="ctr">
              <a:lnSpc>
                <a:spcPct val="100000"/>
              </a:lnSpc>
              <a:buNone/>
            </a:pPr>
            <a:r>
              <a:rPr lang="en-US" sz="1350" b="1" dirty="0">
                <a:solidFill>
                  <a:srgbClr val="13294B"/>
                </a:solidFill>
                <a:latin typeface="Calibri" pitchFamily="34" charset="0"/>
                <a:ea typeface="Calibri" pitchFamily="34" charset="-122"/>
                <a:cs typeface="Calibri" pitchFamily="34" charset="-120"/>
              </a:rPr>
              <a:t>Process (bubble)</a:t>
            </a:r>
            <a:endParaRPr lang="en-US" sz="1350" dirty="0"/>
          </a:p>
        </p:txBody>
      </p:sp>
      <p:sp>
        <p:nvSpPr>
          <p:cNvPr id="12" name="Text 10"/>
          <p:cNvSpPr/>
          <p:nvPr/>
        </p:nvSpPr>
        <p:spPr>
          <a:xfrm>
            <a:off x="704088" y="3931920"/>
            <a:ext cx="2340864" cy="320040"/>
          </a:xfrm>
          <a:prstGeom prst="rect">
            <a:avLst/>
          </a:prstGeom>
          <a:noFill/>
          <a:ln/>
        </p:spPr>
        <p:txBody>
          <a:bodyPr wrap="square" lIns="0" tIns="0" rIns="0" bIns="0" rtlCol="0" anchor="t"/>
          <a:lstStyle/>
          <a:p>
            <a:pPr marL="0" indent="0" algn="ctr">
              <a:lnSpc>
                <a:spcPct val="100000"/>
              </a:lnSpc>
              <a:buNone/>
            </a:pPr>
            <a:r>
              <a:rPr lang="en-US" sz="1050" dirty="0">
                <a:solidFill>
                  <a:srgbClr val="5C6B82"/>
                </a:solidFill>
                <a:latin typeface="Calibri" pitchFamily="34" charset="0"/>
                <a:ea typeface="Calibri" pitchFamily="34" charset="-122"/>
                <a:cs typeface="Calibri" pitchFamily="34" charset="-120"/>
              </a:rPr>
              <a:t>a function that transforms data</a:t>
            </a:r>
            <a:endParaRPr lang="en-US" sz="1050" dirty="0"/>
          </a:p>
        </p:txBody>
      </p:sp>
      <p:sp>
        <p:nvSpPr>
          <p:cNvPr id="13" name="Shape 11"/>
          <p:cNvSpPr/>
          <p:nvPr/>
        </p:nvSpPr>
        <p:spPr>
          <a:xfrm>
            <a:off x="3401568" y="2331720"/>
            <a:ext cx="2615184" cy="1965960"/>
          </a:xfrm>
          <a:prstGeom prst="roundRect">
            <a:avLst>
              <a:gd name="adj" fmla="val 5581"/>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sp>
      <p:sp>
        <p:nvSpPr>
          <p:cNvPr id="14" name="Shape 12"/>
          <p:cNvSpPr/>
          <p:nvPr/>
        </p:nvSpPr>
        <p:spPr>
          <a:xfrm>
            <a:off x="4297680" y="2624328"/>
            <a:ext cx="868680" cy="868680"/>
          </a:xfrm>
          <a:prstGeom prst="rect">
            <a:avLst/>
          </a:prstGeom>
          <a:solidFill>
            <a:srgbClr val="DCE6F1"/>
          </a:solidFill>
          <a:ln w="25400">
            <a:solidFill>
              <a:srgbClr val="35618E"/>
            </a:solidFill>
            <a:prstDash val="solid"/>
          </a:ln>
        </p:spPr>
      </p:sp>
      <p:sp>
        <p:nvSpPr>
          <p:cNvPr id="15" name="Text 13"/>
          <p:cNvSpPr/>
          <p:nvPr/>
        </p:nvSpPr>
        <p:spPr>
          <a:xfrm>
            <a:off x="4297680" y="2624328"/>
            <a:ext cx="868680" cy="868680"/>
          </a:xfrm>
          <a:prstGeom prst="rect">
            <a:avLst/>
          </a:prstGeom>
          <a:noFill/>
          <a:ln/>
        </p:spPr>
        <p:txBody>
          <a:bodyPr wrap="square" lIns="0" tIns="0" rIns="0" bIns="0" rtlCol="0" anchor="ctr"/>
          <a:lstStyle/>
          <a:p>
            <a:pPr marL="0" indent="0" algn="ctr">
              <a:lnSpc>
                <a:spcPct val="100000"/>
              </a:lnSpc>
              <a:buNone/>
            </a:pPr>
            <a:r>
              <a:rPr lang="en-US" sz="1100" b="1" dirty="0">
                <a:solidFill>
                  <a:srgbClr val="35618E"/>
                </a:solidFill>
                <a:latin typeface="Calibri" pitchFamily="34" charset="0"/>
                <a:ea typeface="Calibri" pitchFamily="34" charset="-122"/>
                <a:cs typeface="Calibri" pitchFamily="34" charset="-120"/>
              </a:rPr>
              <a:t>User</a:t>
            </a:r>
            <a:endParaRPr lang="en-US" sz="1100" dirty="0"/>
          </a:p>
        </p:txBody>
      </p:sp>
      <p:sp>
        <p:nvSpPr>
          <p:cNvPr id="16" name="Text 14"/>
          <p:cNvSpPr/>
          <p:nvPr/>
        </p:nvSpPr>
        <p:spPr>
          <a:xfrm>
            <a:off x="3401568" y="3630168"/>
            <a:ext cx="2615184" cy="320040"/>
          </a:xfrm>
          <a:prstGeom prst="rect">
            <a:avLst/>
          </a:prstGeom>
          <a:noFill/>
          <a:ln/>
        </p:spPr>
        <p:txBody>
          <a:bodyPr wrap="square" lIns="0" tIns="0" rIns="0" bIns="0" rtlCol="0" anchor="t"/>
          <a:lstStyle/>
          <a:p>
            <a:pPr marL="0" indent="0" algn="ctr">
              <a:lnSpc>
                <a:spcPct val="100000"/>
              </a:lnSpc>
              <a:buNone/>
            </a:pPr>
            <a:r>
              <a:rPr lang="en-US" sz="1350" b="1" dirty="0">
                <a:solidFill>
                  <a:srgbClr val="13294B"/>
                </a:solidFill>
                <a:latin typeface="Calibri" pitchFamily="34" charset="0"/>
                <a:ea typeface="Calibri" pitchFamily="34" charset="-122"/>
                <a:cs typeface="Calibri" pitchFamily="34" charset="-120"/>
              </a:rPr>
              <a:t>External entity</a:t>
            </a:r>
            <a:endParaRPr lang="en-US" sz="1350" dirty="0"/>
          </a:p>
        </p:txBody>
      </p:sp>
      <p:sp>
        <p:nvSpPr>
          <p:cNvPr id="17" name="Text 15"/>
          <p:cNvSpPr/>
          <p:nvPr/>
        </p:nvSpPr>
        <p:spPr>
          <a:xfrm>
            <a:off x="3538728" y="3931920"/>
            <a:ext cx="2340864" cy="320040"/>
          </a:xfrm>
          <a:prstGeom prst="rect">
            <a:avLst/>
          </a:prstGeom>
          <a:noFill/>
          <a:ln/>
        </p:spPr>
        <p:txBody>
          <a:bodyPr wrap="square" lIns="0" tIns="0" rIns="0" bIns="0" rtlCol="0" anchor="t"/>
          <a:lstStyle/>
          <a:p>
            <a:pPr marL="0" indent="0" algn="ctr">
              <a:lnSpc>
                <a:spcPct val="100000"/>
              </a:lnSpc>
              <a:buNone/>
            </a:pPr>
            <a:r>
              <a:rPr lang="en-US" sz="1050" dirty="0">
                <a:solidFill>
                  <a:srgbClr val="5C6B82"/>
                </a:solidFill>
                <a:latin typeface="Calibri" pitchFamily="34" charset="0"/>
                <a:ea typeface="Calibri" pitchFamily="34" charset="-122"/>
                <a:cs typeface="Calibri" pitchFamily="34" charset="-120"/>
              </a:rPr>
              <a:t>source / sink outside the system</a:t>
            </a:r>
            <a:endParaRPr lang="en-US" sz="1050" dirty="0"/>
          </a:p>
        </p:txBody>
      </p:sp>
      <p:sp>
        <p:nvSpPr>
          <p:cNvPr id="18" name="Shape 16"/>
          <p:cNvSpPr/>
          <p:nvPr/>
        </p:nvSpPr>
        <p:spPr>
          <a:xfrm>
            <a:off x="6236208" y="2331720"/>
            <a:ext cx="2615184" cy="1965960"/>
          </a:xfrm>
          <a:prstGeom prst="roundRect">
            <a:avLst>
              <a:gd name="adj" fmla="val 5581"/>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sp>
      <p:sp>
        <p:nvSpPr>
          <p:cNvPr id="19" name="Shape 17"/>
          <p:cNvSpPr/>
          <p:nvPr/>
        </p:nvSpPr>
        <p:spPr>
          <a:xfrm>
            <a:off x="6784848" y="2788920"/>
            <a:ext cx="365760" cy="548640"/>
          </a:xfrm>
          <a:prstGeom prst="rect">
            <a:avLst/>
          </a:prstGeom>
          <a:solidFill>
            <a:srgbClr val="FBEFDC"/>
          </a:solidFill>
          <a:ln w="25400">
            <a:solidFill>
              <a:srgbClr val="D98A28"/>
            </a:solidFill>
            <a:prstDash val="solid"/>
          </a:ln>
        </p:spPr>
      </p:sp>
      <p:sp>
        <p:nvSpPr>
          <p:cNvPr id="20" name="Text 18"/>
          <p:cNvSpPr/>
          <p:nvPr/>
        </p:nvSpPr>
        <p:spPr>
          <a:xfrm>
            <a:off x="6784848" y="2788920"/>
            <a:ext cx="365760" cy="548640"/>
          </a:xfrm>
          <a:prstGeom prst="rect">
            <a:avLst/>
          </a:prstGeom>
          <a:noFill/>
          <a:ln/>
        </p:spPr>
        <p:txBody>
          <a:bodyPr wrap="square" lIns="0" tIns="0" rIns="0" bIns="0" rtlCol="0" anchor="ctr"/>
          <a:lstStyle/>
          <a:p>
            <a:pPr marL="0" indent="0" algn="ctr">
              <a:lnSpc>
                <a:spcPct val="100000"/>
              </a:lnSpc>
              <a:buNone/>
            </a:pPr>
            <a:r>
              <a:rPr lang="en-US" sz="1100" b="1" dirty="0">
                <a:solidFill>
                  <a:srgbClr val="D98A28"/>
                </a:solidFill>
                <a:latin typeface="Calibri" pitchFamily="34" charset="0"/>
                <a:ea typeface="Calibri" pitchFamily="34" charset="-122"/>
                <a:cs typeface="Calibri" pitchFamily="34" charset="-120"/>
              </a:rPr>
              <a:t>D1</a:t>
            </a:r>
            <a:endParaRPr lang="en-US" sz="1100" dirty="0"/>
          </a:p>
        </p:txBody>
      </p:sp>
      <p:sp>
        <p:nvSpPr>
          <p:cNvPr id="21" name="Shape 19"/>
          <p:cNvSpPr/>
          <p:nvPr/>
        </p:nvSpPr>
        <p:spPr>
          <a:xfrm>
            <a:off x="7150608" y="2788920"/>
            <a:ext cx="1188720" cy="548640"/>
          </a:xfrm>
          <a:prstGeom prst="rect">
            <a:avLst/>
          </a:prstGeom>
          <a:solidFill>
            <a:srgbClr val="FBEFDC"/>
          </a:solidFill>
          <a:ln w="25400">
            <a:solidFill>
              <a:srgbClr val="D98A28"/>
            </a:solidFill>
            <a:prstDash val="solid"/>
          </a:ln>
        </p:spPr>
      </p:sp>
      <p:sp>
        <p:nvSpPr>
          <p:cNvPr id="22" name="Text 20"/>
          <p:cNvSpPr/>
          <p:nvPr/>
        </p:nvSpPr>
        <p:spPr>
          <a:xfrm>
            <a:off x="7150608" y="2788920"/>
            <a:ext cx="1188720" cy="548640"/>
          </a:xfrm>
          <a:prstGeom prst="rect">
            <a:avLst/>
          </a:prstGeom>
          <a:noFill/>
          <a:ln/>
        </p:spPr>
        <p:txBody>
          <a:bodyPr wrap="square" lIns="0" tIns="0" rIns="0" bIns="0" rtlCol="0" anchor="ctr"/>
          <a:lstStyle/>
          <a:p>
            <a:pPr marL="0" indent="0" algn="ctr">
              <a:lnSpc>
                <a:spcPct val="100000"/>
              </a:lnSpc>
              <a:buNone/>
            </a:pPr>
            <a:r>
              <a:rPr lang="en-US" sz="1100" b="1" dirty="0">
                <a:solidFill>
                  <a:srgbClr val="D98A28"/>
                </a:solidFill>
                <a:latin typeface="Calibri" pitchFamily="34" charset="0"/>
                <a:ea typeface="Calibri" pitchFamily="34" charset="-122"/>
                <a:cs typeface="Calibri" pitchFamily="34" charset="-120"/>
              </a:rPr>
              <a:t>Orders</a:t>
            </a:r>
            <a:endParaRPr lang="en-US" sz="1100" dirty="0"/>
          </a:p>
        </p:txBody>
      </p:sp>
      <p:sp>
        <p:nvSpPr>
          <p:cNvPr id="23" name="Text 21"/>
          <p:cNvSpPr/>
          <p:nvPr/>
        </p:nvSpPr>
        <p:spPr>
          <a:xfrm>
            <a:off x="6236208" y="3630168"/>
            <a:ext cx="2615184" cy="320040"/>
          </a:xfrm>
          <a:prstGeom prst="rect">
            <a:avLst/>
          </a:prstGeom>
          <a:noFill/>
          <a:ln/>
        </p:spPr>
        <p:txBody>
          <a:bodyPr wrap="square" lIns="0" tIns="0" rIns="0" bIns="0" rtlCol="0" anchor="t"/>
          <a:lstStyle/>
          <a:p>
            <a:pPr marL="0" indent="0" algn="ctr">
              <a:lnSpc>
                <a:spcPct val="100000"/>
              </a:lnSpc>
              <a:buNone/>
            </a:pPr>
            <a:r>
              <a:rPr lang="en-US" sz="1350" b="1" dirty="0">
                <a:solidFill>
                  <a:srgbClr val="13294B"/>
                </a:solidFill>
                <a:latin typeface="Calibri" pitchFamily="34" charset="0"/>
                <a:ea typeface="Calibri" pitchFamily="34" charset="-122"/>
                <a:cs typeface="Calibri" pitchFamily="34" charset="-120"/>
              </a:rPr>
              <a:t>Data store</a:t>
            </a:r>
            <a:endParaRPr lang="en-US" sz="1350" dirty="0"/>
          </a:p>
        </p:txBody>
      </p:sp>
      <p:sp>
        <p:nvSpPr>
          <p:cNvPr id="24" name="Text 22"/>
          <p:cNvSpPr/>
          <p:nvPr/>
        </p:nvSpPr>
        <p:spPr>
          <a:xfrm>
            <a:off x="6373368" y="3931920"/>
            <a:ext cx="2340864" cy="320040"/>
          </a:xfrm>
          <a:prstGeom prst="rect">
            <a:avLst/>
          </a:prstGeom>
          <a:noFill/>
          <a:ln/>
        </p:spPr>
        <p:txBody>
          <a:bodyPr wrap="square" lIns="0" tIns="0" rIns="0" bIns="0" rtlCol="0" anchor="t"/>
          <a:lstStyle/>
          <a:p>
            <a:pPr marL="0" indent="0" algn="ctr">
              <a:lnSpc>
                <a:spcPct val="100000"/>
              </a:lnSpc>
              <a:buNone/>
            </a:pPr>
            <a:r>
              <a:rPr lang="en-US" sz="1050" dirty="0">
                <a:solidFill>
                  <a:srgbClr val="5C6B82"/>
                </a:solidFill>
                <a:latin typeface="Calibri" pitchFamily="34" charset="0"/>
                <a:ea typeface="Calibri" pitchFamily="34" charset="-122"/>
                <a:cs typeface="Calibri" pitchFamily="34" charset="-120"/>
              </a:rPr>
              <a:t>a repository of data at rest</a:t>
            </a:r>
            <a:endParaRPr lang="en-US" sz="1050" dirty="0"/>
          </a:p>
        </p:txBody>
      </p:sp>
      <p:sp>
        <p:nvSpPr>
          <p:cNvPr id="25" name="Shape 23"/>
          <p:cNvSpPr/>
          <p:nvPr/>
        </p:nvSpPr>
        <p:spPr>
          <a:xfrm>
            <a:off x="9070848" y="2331720"/>
            <a:ext cx="2615184" cy="1965960"/>
          </a:xfrm>
          <a:prstGeom prst="roundRect">
            <a:avLst>
              <a:gd name="adj" fmla="val 5581"/>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sp>
      <p:sp>
        <p:nvSpPr>
          <p:cNvPr id="26" name="Shape 24"/>
          <p:cNvSpPr/>
          <p:nvPr/>
        </p:nvSpPr>
        <p:spPr>
          <a:xfrm>
            <a:off x="9436608" y="3063240"/>
            <a:ext cx="1554480" cy="0"/>
          </a:xfrm>
          <a:prstGeom prst="line">
            <a:avLst/>
          </a:prstGeom>
          <a:noFill/>
          <a:ln w="31750">
            <a:solidFill>
              <a:srgbClr val="D9542B"/>
            </a:solidFill>
            <a:prstDash val="solid"/>
            <a:tailEnd type="triangle"/>
          </a:ln>
        </p:spPr>
      </p:sp>
      <p:sp>
        <p:nvSpPr>
          <p:cNvPr id="27" name="Text 25"/>
          <p:cNvSpPr/>
          <p:nvPr/>
        </p:nvSpPr>
        <p:spPr>
          <a:xfrm>
            <a:off x="9436608" y="2697480"/>
            <a:ext cx="1737360" cy="320040"/>
          </a:xfrm>
          <a:prstGeom prst="rect">
            <a:avLst/>
          </a:prstGeom>
          <a:noFill/>
          <a:ln/>
        </p:spPr>
        <p:txBody>
          <a:bodyPr wrap="square" lIns="0" tIns="0" rIns="0" bIns="0" rtlCol="0" anchor="t"/>
          <a:lstStyle/>
          <a:p>
            <a:pPr marL="0" indent="0" algn="ctr">
              <a:lnSpc>
                <a:spcPct val="100000"/>
              </a:lnSpc>
              <a:buNone/>
            </a:pPr>
            <a:r>
              <a:rPr lang="en-US" sz="1100" b="1" dirty="0">
                <a:solidFill>
                  <a:srgbClr val="D9542B"/>
                </a:solidFill>
                <a:latin typeface="Calibri" pitchFamily="34" charset="0"/>
                <a:ea typeface="Calibri" pitchFamily="34" charset="-122"/>
                <a:cs typeface="Calibri" pitchFamily="34" charset="-120"/>
              </a:rPr>
              <a:t>invoice</a:t>
            </a:r>
            <a:endParaRPr lang="en-US" sz="1100" dirty="0"/>
          </a:p>
        </p:txBody>
      </p:sp>
      <p:sp>
        <p:nvSpPr>
          <p:cNvPr id="28" name="Text 26"/>
          <p:cNvSpPr/>
          <p:nvPr/>
        </p:nvSpPr>
        <p:spPr>
          <a:xfrm>
            <a:off x="9070848" y="3630168"/>
            <a:ext cx="2615184" cy="320040"/>
          </a:xfrm>
          <a:prstGeom prst="rect">
            <a:avLst/>
          </a:prstGeom>
          <a:noFill/>
          <a:ln/>
        </p:spPr>
        <p:txBody>
          <a:bodyPr wrap="square" lIns="0" tIns="0" rIns="0" bIns="0" rtlCol="0" anchor="t"/>
          <a:lstStyle/>
          <a:p>
            <a:pPr marL="0" indent="0" algn="ctr">
              <a:lnSpc>
                <a:spcPct val="100000"/>
              </a:lnSpc>
              <a:buNone/>
            </a:pPr>
            <a:r>
              <a:rPr lang="en-US" sz="1350" b="1" dirty="0">
                <a:solidFill>
                  <a:srgbClr val="13294B"/>
                </a:solidFill>
                <a:latin typeface="Calibri" pitchFamily="34" charset="0"/>
                <a:ea typeface="Calibri" pitchFamily="34" charset="-122"/>
                <a:cs typeface="Calibri" pitchFamily="34" charset="-120"/>
              </a:rPr>
              <a:t>Data flow</a:t>
            </a:r>
            <a:endParaRPr lang="en-US" sz="1350" dirty="0"/>
          </a:p>
        </p:txBody>
      </p:sp>
      <p:sp>
        <p:nvSpPr>
          <p:cNvPr id="29" name="Text 27"/>
          <p:cNvSpPr/>
          <p:nvPr/>
        </p:nvSpPr>
        <p:spPr>
          <a:xfrm>
            <a:off x="9162288" y="3931920"/>
            <a:ext cx="2432304" cy="320040"/>
          </a:xfrm>
          <a:prstGeom prst="rect">
            <a:avLst/>
          </a:prstGeom>
          <a:noFill/>
          <a:ln/>
        </p:spPr>
        <p:txBody>
          <a:bodyPr wrap="square" lIns="0" tIns="0" rIns="0" bIns="0" rtlCol="0" anchor="t"/>
          <a:lstStyle/>
          <a:p>
            <a:pPr marL="0" indent="0" algn="ctr">
              <a:lnSpc>
                <a:spcPct val="100000"/>
              </a:lnSpc>
              <a:buNone/>
            </a:pPr>
            <a:r>
              <a:rPr lang="en-US" sz="1050" dirty="0">
                <a:solidFill>
                  <a:srgbClr val="5C6B82"/>
                </a:solidFill>
                <a:latin typeface="Calibri" pitchFamily="34" charset="0"/>
                <a:ea typeface="Calibri" pitchFamily="34" charset="-122"/>
                <a:cs typeface="Calibri" pitchFamily="34" charset="-120"/>
              </a:rPr>
              <a:t>movement of data (labelled arrow)</a:t>
            </a:r>
            <a:endParaRPr lang="en-US" sz="1050" dirty="0"/>
          </a:p>
        </p:txBody>
      </p:sp>
      <p:sp>
        <p:nvSpPr>
          <p:cNvPr id="30" name="Shape 28"/>
          <p:cNvSpPr/>
          <p:nvPr/>
        </p:nvSpPr>
        <p:spPr>
          <a:xfrm>
            <a:off x="566928" y="4617720"/>
            <a:ext cx="11064240" cy="1463040"/>
          </a:xfrm>
          <a:prstGeom prst="roundRect">
            <a:avLst>
              <a:gd name="adj" fmla="val 7500"/>
            </a:avLst>
          </a:prstGeom>
          <a:solidFill>
            <a:srgbClr val="F5F8FC"/>
          </a:solidFill>
          <a:ln w="12700">
            <a:solidFill>
              <a:srgbClr val="E1E8F1"/>
            </a:solidFill>
            <a:prstDash val="solid"/>
          </a:ln>
          <a:effectLst>
            <a:outerShdw blurRad="1524" dist="889" dir="5400000" algn="bl" rotWithShape="0">
              <a:srgbClr val="1B3A5F">
                <a:alpha val="18000"/>
              </a:srgbClr>
            </a:outerShdw>
          </a:effectLst>
        </p:spPr>
      </p:sp>
      <p:sp>
        <p:nvSpPr>
          <p:cNvPr id="31" name="Text 29"/>
          <p:cNvSpPr/>
          <p:nvPr/>
        </p:nvSpPr>
        <p:spPr>
          <a:xfrm>
            <a:off x="777240" y="4773168"/>
            <a:ext cx="2286000" cy="320040"/>
          </a:xfrm>
          <a:prstGeom prst="rect">
            <a:avLst/>
          </a:prstGeom>
          <a:noFill/>
          <a:ln/>
        </p:spPr>
        <p:txBody>
          <a:bodyPr wrap="square" lIns="0" tIns="0" rIns="0" bIns="0" rtlCol="0" anchor="t"/>
          <a:lstStyle/>
          <a:p>
            <a:pPr marL="0" indent="0" algn="l">
              <a:lnSpc>
                <a:spcPct val="100000"/>
              </a:lnSpc>
              <a:buNone/>
            </a:pPr>
            <a:r>
              <a:rPr lang="en-US" sz="1250" b="1" dirty="0">
                <a:solidFill>
                  <a:srgbClr val="13294B"/>
                </a:solidFill>
                <a:latin typeface="Calibri" pitchFamily="34" charset="0"/>
                <a:ea typeface="Calibri" pitchFamily="34" charset="-122"/>
                <a:cs typeface="Calibri" pitchFamily="34" charset="-120"/>
              </a:rPr>
              <a:t>Put together:</a:t>
            </a:r>
            <a:endParaRPr lang="en-US" sz="1250" dirty="0"/>
          </a:p>
        </p:txBody>
      </p:sp>
      <p:sp>
        <p:nvSpPr>
          <p:cNvPr id="32" name="Shape 30"/>
          <p:cNvSpPr/>
          <p:nvPr/>
        </p:nvSpPr>
        <p:spPr>
          <a:xfrm>
            <a:off x="1005840" y="5093208"/>
            <a:ext cx="777240" cy="640080"/>
          </a:xfrm>
          <a:prstGeom prst="rect">
            <a:avLst/>
          </a:prstGeom>
          <a:solidFill>
            <a:srgbClr val="DCE6F1"/>
          </a:solidFill>
          <a:ln w="22860">
            <a:solidFill>
              <a:srgbClr val="35618E"/>
            </a:solidFill>
            <a:prstDash val="solid"/>
          </a:ln>
        </p:spPr>
      </p:sp>
      <p:sp>
        <p:nvSpPr>
          <p:cNvPr id="33" name="Text 31"/>
          <p:cNvSpPr/>
          <p:nvPr/>
        </p:nvSpPr>
        <p:spPr>
          <a:xfrm>
            <a:off x="1005840" y="5093208"/>
            <a:ext cx="777240" cy="640080"/>
          </a:xfrm>
          <a:prstGeom prst="rect">
            <a:avLst/>
          </a:prstGeom>
          <a:noFill/>
          <a:ln/>
        </p:spPr>
        <p:txBody>
          <a:bodyPr wrap="square" lIns="0" tIns="0" rIns="0" bIns="0" rtlCol="0" anchor="ctr"/>
          <a:lstStyle/>
          <a:p>
            <a:pPr marL="0" indent="0" algn="ctr">
              <a:lnSpc>
                <a:spcPct val="100000"/>
              </a:lnSpc>
              <a:buNone/>
            </a:pPr>
            <a:r>
              <a:rPr lang="en-US" sz="950" b="1" dirty="0">
                <a:solidFill>
                  <a:srgbClr val="35618E"/>
                </a:solidFill>
                <a:latin typeface="Calibri" pitchFamily="34" charset="0"/>
                <a:ea typeface="Calibri" pitchFamily="34" charset="-122"/>
                <a:cs typeface="Calibri" pitchFamily="34" charset="-120"/>
              </a:rPr>
              <a:t>Customer</a:t>
            </a:r>
            <a:endParaRPr lang="en-US" sz="950" dirty="0"/>
          </a:p>
        </p:txBody>
      </p:sp>
      <p:sp>
        <p:nvSpPr>
          <p:cNvPr id="34" name="Shape 32"/>
          <p:cNvSpPr/>
          <p:nvPr/>
        </p:nvSpPr>
        <p:spPr>
          <a:xfrm>
            <a:off x="1783080" y="5394960"/>
            <a:ext cx="1051560" cy="0"/>
          </a:xfrm>
          <a:prstGeom prst="line">
            <a:avLst/>
          </a:prstGeom>
          <a:noFill/>
          <a:ln w="25400">
            <a:solidFill>
              <a:srgbClr val="D9542B"/>
            </a:solidFill>
            <a:prstDash val="solid"/>
            <a:tailEnd type="triangle"/>
          </a:ln>
        </p:spPr>
      </p:sp>
      <p:sp>
        <p:nvSpPr>
          <p:cNvPr id="35" name="Text 33"/>
          <p:cNvSpPr/>
          <p:nvPr/>
        </p:nvSpPr>
        <p:spPr>
          <a:xfrm>
            <a:off x="1783080" y="5074920"/>
            <a:ext cx="1051560" cy="274320"/>
          </a:xfrm>
          <a:prstGeom prst="rect">
            <a:avLst/>
          </a:prstGeom>
          <a:noFill/>
          <a:ln/>
        </p:spPr>
        <p:txBody>
          <a:bodyPr wrap="square" lIns="0" tIns="0" rIns="0" bIns="0" rtlCol="0" anchor="t"/>
          <a:lstStyle/>
          <a:p>
            <a:pPr marL="0" indent="0" algn="ctr">
              <a:lnSpc>
                <a:spcPct val="100000"/>
              </a:lnSpc>
              <a:buNone/>
            </a:pPr>
            <a:r>
              <a:rPr lang="en-US" sz="900" b="1" dirty="0">
                <a:solidFill>
                  <a:srgbClr val="D9542B"/>
                </a:solidFill>
                <a:latin typeface="Calibri" pitchFamily="34" charset="0"/>
                <a:ea typeface="Calibri" pitchFamily="34" charset="-122"/>
                <a:cs typeface="Calibri" pitchFamily="34" charset="-120"/>
              </a:rPr>
              <a:t>order</a:t>
            </a:r>
            <a:endParaRPr lang="en-US" sz="900" dirty="0"/>
          </a:p>
        </p:txBody>
      </p:sp>
      <p:sp>
        <p:nvSpPr>
          <p:cNvPr id="36" name="Shape 34"/>
          <p:cNvSpPr/>
          <p:nvPr/>
        </p:nvSpPr>
        <p:spPr>
          <a:xfrm>
            <a:off x="2880360" y="5029200"/>
            <a:ext cx="777240" cy="777240"/>
          </a:xfrm>
          <a:prstGeom prst="ellipse">
            <a:avLst/>
          </a:prstGeom>
          <a:solidFill>
            <a:srgbClr val="E1F1F1"/>
          </a:solidFill>
          <a:ln w="22860">
            <a:solidFill>
              <a:srgbClr val="0E8F8F"/>
            </a:solidFill>
            <a:prstDash val="solid"/>
          </a:ln>
        </p:spPr>
      </p:sp>
      <p:sp>
        <p:nvSpPr>
          <p:cNvPr id="37" name="Text 35"/>
          <p:cNvSpPr/>
          <p:nvPr/>
        </p:nvSpPr>
        <p:spPr>
          <a:xfrm>
            <a:off x="2880360" y="5029200"/>
            <a:ext cx="777240" cy="777240"/>
          </a:xfrm>
          <a:prstGeom prst="rect">
            <a:avLst/>
          </a:prstGeom>
          <a:noFill/>
          <a:ln/>
        </p:spPr>
        <p:txBody>
          <a:bodyPr wrap="square" lIns="0" tIns="0" rIns="0" bIns="0" rtlCol="0" anchor="ctr"/>
          <a:lstStyle/>
          <a:p>
            <a:pPr marL="0" indent="0" algn="ctr">
              <a:lnSpc>
                <a:spcPct val="100000"/>
              </a:lnSpc>
              <a:buNone/>
            </a:pPr>
            <a:r>
              <a:rPr lang="en-US" sz="850" b="1" dirty="0">
                <a:solidFill>
                  <a:srgbClr val="0A6E6E"/>
                </a:solidFill>
                <a:latin typeface="Calibri" pitchFamily="34" charset="0"/>
                <a:ea typeface="Calibri" pitchFamily="34" charset="-122"/>
                <a:cs typeface="Calibri" pitchFamily="34" charset="-120"/>
              </a:rPr>
              <a:t>1.0</a:t>
            </a:r>
            <a:endParaRPr lang="en-US" sz="850" dirty="0"/>
          </a:p>
          <a:p>
            <a:pPr marL="0" indent="0" algn="ctr">
              <a:lnSpc>
                <a:spcPct val="100000"/>
              </a:lnSpc>
              <a:buNone/>
            </a:pPr>
            <a:r>
              <a:rPr lang="en-US" sz="850" b="1" dirty="0">
                <a:solidFill>
                  <a:srgbClr val="0A6E6E"/>
                </a:solidFill>
                <a:latin typeface="Calibri" pitchFamily="34" charset="0"/>
                <a:ea typeface="Calibri" pitchFamily="34" charset="-122"/>
                <a:cs typeface="Calibri" pitchFamily="34" charset="-120"/>
              </a:rPr>
              <a:t>Process</a:t>
            </a:r>
            <a:endParaRPr lang="en-US" sz="850" dirty="0"/>
          </a:p>
        </p:txBody>
      </p:sp>
      <p:sp>
        <p:nvSpPr>
          <p:cNvPr id="38" name="Shape 36"/>
          <p:cNvSpPr/>
          <p:nvPr/>
        </p:nvSpPr>
        <p:spPr>
          <a:xfrm>
            <a:off x="3703320" y="5394960"/>
            <a:ext cx="1051560" cy="0"/>
          </a:xfrm>
          <a:prstGeom prst="line">
            <a:avLst/>
          </a:prstGeom>
          <a:noFill/>
          <a:ln w="25400">
            <a:solidFill>
              <a:srgbClr val="D9542B"/>
            </a:solidFill>
            <a:prstDash val="solid"/>
            <a:tailEnd type="triangle"/>
          </a:ln>
        </p:spPr>
      </p:sp>
      <p:sp>
        <p:nvSpPr>
          <p:cNvPr id="39" name="Text 37"/>
          <p:cNvSpPr/>
          <p:nvPr/>
        </p:nvSpPr>
        <p:spPr>
          <a:xfrm>
            <a:off x="3657600" y="5074920"/>
            <a:ext cx="1188720" cy="274320"/>
          </a:xfrm>
          <a:prstGeom prst="rect">
            <a:avLst/>
          </a:prstGeom>
          <a:noFill/>
          <a:ln/>
        </p:spPr>
        <p:txBody>
          <a:bodyPr wrap="square" lIns="0" tIns="0" rIns="0" bIns="0" rtlCol="0" anchor="t"/>
          <a:lstStyle/>
          <a:p>
            <a:pPr marL="0" indent="0" algn="ctr">
              <a:lnSpc>
                <a:spcPct val="100000"/>
              </a:lnSpc>
              <a:buNone/>
            </a:pPr>
            <a:r>
              <a:rPr lang="en-US" sz="900" b="1" dirty="0">
                <a:solidFill>
                  <a:srgbClr val="D9542B"/>
                </a:solidFill>
                <a:latin typeface="Calibri" pitchFamily="34" charset="0"/>
                <a:ea typeface="Calibri" pitchFamily="34" charset="-122"/>
                <a:cs typeface="Calibri" pitchFamily="34" charset="-120"/>
              </a:rPr>
              <a:t>valid order</a:t>
            </a:r>
            <a:endParaRPr lang="en-US" sz="900" dirty="0"/>
          </a:p>
        </p:txBody>
      </p:sp>
      <p:sp>
        <p:nvSpPr>
          <p:cNvPr id="40" name="Shape 38"/>
          <p:cNvSpPr/>
          <p:nvPr/>
        </p:nvSpPr>
        <p:spPr>
          <a:xfrm>
            <a:off x="4892040" y="5166360"/>
            <a:ext cx="1463040" cy="502920"/>
          </a:xfrm>
          <a:prstGeom prst="rect">
            <a:avLst/>
          </a:prstGeom>
          <a:solidFill>
            <a:srgbClr val="FBEFDC"/>
          </a:solidFill>
          <a:ln w="22860">
            <a:solidFill>
              <a:srgbClr val="D98A28"/>
            </a:solidFill>
            <a:prstDash val="solid"/>
          </a:ln>
        </p:spPr>
      </p:sp>
      <p:sp>
        <p:nvSpPr>
          <p:cNvPr id="41" name="Text 39"/>
          <p:cNvSpPr/>
          <p:nvPr/>
        </p:nvSpPr>
        <p:spPr>
          <a:xfrm>
            <a:off x="4892040" y="5166360"/>
            <a:ext cx="1463040" cy="502920"/>
          </a:xfrm>
          <a:prstGeom prst="rect">
            <a:avLst/>
          </a:prstGeom>
          <a:noFill/>
          <a:ln/>
        </p:spPr>
        <p:txBody>
          <a:bodyPr wrap="square" lIns="0" tIns="0" rIns="0" bIns="0" rtlCol="0" anchor="ctr"/>
          <a:lstStyle/>
          <a:p>
            <a:pPr marL="0" indent="0" algn="ctr">
              <a:lnSpc>
                <a:spcPct val="100000"/>
              </a:lnSpc>
              <a:buNone/>
            </a:pPr>
            <a:r>
              <a:rPr lang="en-US" sz="950" b="1" dirty="0">
                <a:solidFill>
                  <a:srgbClr val="D98A28"/>
                </a:solidFill>
                <a:latin typeface="Calibri" pitchFamily="34" charset="0"/>
                <a:ea typeface="Calibri" pitchFamily="34" charset="-122"/>
                <a:cs typeface="Calibri" pitchFamily="34" charset="-120"/>
              </a:rPr>
              <a:t>D1 | Orders</a:t>
            </a:r>
            <a:endParaRPr lang="en-US" sz="950" dirty="0"/>
          </a:p>
        </p:txBody>
      </p:sp>
      <p:sp>
        <p:nvSpPr>
          <p:cNvPr id="42" name="Text 40"/>
          <p:cNvSpPr/>
          <p:nvPr/>
        </p:nvSpPr>
        <p:spPr>
          <a:xfrm>
            <a:off x="6675120" y="5166360"/>
            <a:ext cx="4754880" cy="548640"/>
          </a:xfrm>
          <a:prstGeom prst="rect">
            <a:avLst/>
          </a:prstGeom>
          <a:noFill/>
          <a:ln/>
        </p:spPr>
        <p:txBody>
          <a:bodyPr wrap="square" lIns="0" tIns="0" rIns="0" bIns="0" rtlCol="0" anchor="ctr"/>
          <a:lstStyle/>
          <a:p>
            <a:pPr marL="0" indent="0" algn="l">
              <a:lnSpc>
                <a:spcPct val="105000"/>
              </a:lnSpc>
              <a:buNone/>
            </a:pPr>
            <a:r>
              <a:rPr lang="en-US" sz="1100" i="1" dirty="0">
                <a:solidFill>
                  <a:srgbClr val="35618E"/>
                </a:solidFill>
                <a:latin typeface="Calibri" pitchFamily="34" charset="0"/>
                <a:ea typeface="Calibri" pitchFamily="34" charset="-122"/>
                <a:cs typeface="Calibri" pitchFamily="34" charset="-120"/>
              </a:rPr>
              <a:t>Each bubble must have both inputs and outputs — data cannot appear from nowhere.</a:t>
            </a:r>
            <a:endParaRPr lang="en-US" sz="1100" dirty="0"/>
          </a:p>
        </p:txBody>
      </p:sp>
      <p:pic>
        <p:nvPicPr>
          <p:cNvPr id="43" name="Picture 42" descr="gitam_logo.png"/>
          <p:cNvPicPr>
            <a:picLocks noChangeAspect="1"/>
          </p:cNvPicPr>
          <p:nvPr/>
        </p:nvPicPr>
        <p:blipFill>
          <a:blip r:embed="rId4"/>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3637118125"/>
      </p:ext>
    </p:extLst>
  </p:cSld>
  <p:clrMapOvr>
    <a:overrideClrMapping bg1="lt1" tx1="dk1" bg2="lt2" tx2="dk2" accent1="accent1" accent2="accent2" accent3="accent3" accent4="accent4" accent5="accent5" accent6="accent6"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5898731" cy="477054"/>
          </a:xfrm>
          <a:prstGeom prst="rect">
            <a:avLst/>
          </a:prstGeom>
          <a:noFill/>
        </p:spPr>
        <p:txBody>
          <a:bodyPr wrap="none">
            <a:spAutoFit/>
          </a:bodyPr>
          <a:lstStyle/>
          <a:p>
            <a:pPr>
              <a:defRPr sz="2500" b="1">
                <a:solidFill>
                  <a:srgbClr val="FFFFFF"/>
                </a:solidFill>
              </a:defRPr>
            </a:pPr>
            <a:r>
              <a:rPr dirty="0"/>
              <a:t>Data Flow Diagram (DFD) — Basic Notation</a:t>
            </a:r>
          </a:p>
        </p:txBody>
      </p:sp>
      <p:sp>
        <p:nvSpPr>
          <p:cNvPr id="4" name="Rounded Rectangle 3"/>
          <p:cNvSpPr/>
          <p:nvPr/>
        </p:nvSpPr>
        <p:spPr>
          <a:xfrm>
            <a:off x="731520" y="2194560"/>
            <a:ext cx="1828800" cy="914400"/>
          </a:xfrm>
          <a:prstGeom prst="roundRect">
            <a:avLst/>
          </a:prstGeom>
          <a:solidFill>
            <a:srgbClr val="EBF2FA"/>
          </a:solidFill>
          <a:ln>
            <a:solidFill>
              <a:srgbClr val="4472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2D2D2D"/>
                </a:solidFill>
              </a:defRPr>
            </a:pPr>
            <a:r>
              <a:t>External</a:t>
            </a:r>
            <a:br/>
            <a:r>
              <a:t>Entity</a:t>
            </a:r>
          </a:p>
        </p:txBody>
      </p:sp>
      <p:sp>
        <p:nvSpPr>
          <p:cNvPr id="5" name="Rounded Rectangle 4"/>
          <p:cNvSpPr/>
          <p:nvPr/>
        </p:nvSpPr>
        <p:spPr>
          <a:xfrm>
            <a:off x="3200400" y="2194560"/>
            <a:ext cx="1828800" cy="914400"/>
          </a:xfrm>
          <a:prstGeom prst="roundRect">
            <a:avLst/>
          </a:prstGeom>
          <a:solidFill>
            <a:srgbClr val="EBF2FA"/>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2D2D2D"/>
                </a:solidFill>
              </a:defRPr>
            </a:pPr>
            <a:r>
              <a:t>Process</a:t>
            </a:r>
          </a:p>
        </p:txBody>
      </p:sp>
      <p:sp>
        <p:nvSpPr>
          <p:cNvPr id="6" name="Rounded Rectangle 5"/>
          <p:cNvSpPr/>
          <p:nvPr/>
        </p:nvSpPr>
        <p:spPr>
          <a:xfrm>
            <a:off x="5669280" y="2194560"/>
            <a:ext cx="1828800" cy="914400"/>
          </a:xfrm>
          <a:prstGeom prst="roundRect">
            <a:avLst/>
          </a:prstGeom>
          <a:solidFill>
            <a:srgbClr val="EBF2FA"/>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2D2D2D"/>
                </a:solidFill>
              </a:defRPr>
            </a:pPr>
            <a:r>
              <a:t>Data Store</a:t>
            </a:r>
          </a:p>
        </p:txBody>
      </p:sp>
      <p:sp>
        <p:nvSpPr>
          <p:cNvPr id="7" name="Rounded Rectangle 6"/>
          <p:cNvSpPr/>
          <p:nvPr/>
        </p:nvSpPr>
        <p:spPr>
          <a:xfrm>
            <a:off x="8138160" y="2194560"/>
            <a:ext cx="1828800" cy="914400"/>
          </a:xfrm>
          <a:prstGeom prst="roundRect">
            <a:avLst/>
          </a:prstGeom>
          <a:solidFill>
            <a:srgbClr val="EBF2FA"/>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2D2D2D"/>
                </a:solidFill>
              </a:defRPr>
            </a:pPr>
            <a:r>
              <a:t>Data Flow</a:t>
            </a:r>
          </a:p>
        </p:txBody>
      </p:sp>
      <p:cxnSp>
        <p:nvCxnSpPr>
          <p:cNvPr id="8" name="Connector 7"/>
          <p:cNvCxnSpPr/>
          <p:nvPr/>
        </p:nvCxnSpPr>
        <p:spPr>
          <a:xfrm>
            <a:off x="2560320" y="2651760"/>
            <a:ext cx="594360" cy="0"/>
          </a:xfrm>
          <a:prstGeom prst="line">
            <a:avLst/>
          </a:prstGeom>
          <a:ln w="25400">
            <a:solidFill>
              <a:srgbClr val="4472C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29200" y="2651760"/>
            <a:ext cx="594360" cy="0"/>
          </a:xfrm>
          <a:prstGeom prst="line">
            <a:avLst/>
          </a:prstGeom>
          <a:ln w="25400">
            <a:solidFill>
              <a:srgbClr val="4472C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498079" y="2651760"/>
            <a:ext cx="594361" cy="0"/>
          </a:xfrm>
          <a:prstGeom prst="line">
            <a:avLst/>
          </a:prstGeom>
          <a:ln w="25400">
            <a:solidFill>
              <a:srgbClr val="4472C4"/>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828800" y="3931920"/>
            <a:ext cx="7315200" cy="914400"/>
          </a:xfrm>
          <a:prstGeom prst="roundRect">
            <a:avLst/>
          </a:prstGeom>
          <a:solidFill>
            <a:srgbClr val="D2E0F0"/>
          </a:solidFill>
          <a:ln>
            <a:solidFill>
              <a:srgbClr val="4472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2D2D2D"/>
                </a:solidFill>
              </a:defRPr>
            </a:pPr>
            <a:r>
              <a:t>DFD answers: Who provides data? What transforms it? Where is it stored? Where does it go?</a:t>
            </a:r>
          </a:p>
        </p:txBody>
      </p:sp>
      <p:sp>
        <p:nvSpPr>
          <p:cNvPr id="12" name="TextBox 11"/>
          <p:cNvSpPr txBox="1"/>
          <p:nvPr/>
        </p:nvSpPr>
        <p:spPr>
          <a:xfrm>
            <a:off x="411480" y="6473952"/>
            <a:ext cx="11338560" cy="228600"/>
          </a:xfrm>
          <a:prstGeom prst="rect">
            <a:avLst/>
          </a:prstGeom>
          <a:noFill/>
        </p:spPr>
        <p:txBody>
          <a:bodyPr wrap="none">
            <a:spAutoFit/>
          </a:bodyPr>
          <a:lstStyle/>
          <a:p>
            <a:pPr algn="r">
              <a:defRPr sz="800">
                <a:solidFill>
                  <a:srgbClr val="6E6E6E"/>
                </a:solidFill>
              </a:defRPr>
            </a:pPr>
            <a:r>
              <a:t>Pressman-aligned original DFD notation slide; not a reproduction of a textbook figure.</a:t>
            </a:r>
          </a:p>
        </p:txBody>
      </p:sp>
      <p:sp>
        <p:nvSpPr>
          <p:cNvPr id="13" name="TextBox 12"/>
          <p:cNvSpPr txBox="1"/>
          <p:nvPr/>
        </p:nvSpPr>
        <p:spPr>
          <a:xfrm>
            <a:off x="228600" y="6446520"/>
            <a:ext cx="457200" cy="201168"/>
          </a:xfrm>
          <a:prstGeom prst="rect">
            <a:avLst/>
          </a:prstGeom>
          <a:noFill/>
        </p:spPr>
        <p:txBody>
          <a:bodyPr wrap="none">
            <a:spAutoFit/>
          </a:bodyPr>
          <a:lstStyle/>
          <a:p>
            <a:pPr>
              <a:defRPr sz="800">
                <a:solidFill>
                  <a:srgbClr val="6E6E6E"/>
                </a:solidFill>
              </a:defRPr>
            </a:pPr>
            <a:r>
              <a:t>16</a:t>
            </a:r>
          </a:p>
        </p:txBody>
      </p:sp>
      <p:sp>
        <p:nvSpPr>
          <p:cNvPr id="14" name="TextBox 13"/>
          <p:cNvSpPr txBox="1"/>
          <p:nvPr/>
        </p:nvSpPr>
        <p:spPr>
          <a:xfrm>
            <a:off x="594360" y="690372"/>
            <a:ext cx="10972800" cy="228600"/>
          </a:xfrm>
          <a:prstGeom prst="rect">
            <a:avLst/>
          </a:prstGeom>
          <a:noFill/>
        </p:spPr>
        <p:txBody>
          <a:bodyPr wrap="none">
            <a:spAutoFit/>
          </a:bodyPr>
          <a:lstStyle/>
          <a:p>
            <a:pPr>
              <a:defRPr sz="1050" i="1">
                <a:solidFill>
                  <a:srgbClr val="5A5A5A"/>
                </a:solidFill>
              </a:defRPr>
            </a:pPr>
            <a:r>
              <a:t>Chapter 9 — Design Evaluation / Technical Review</a:t>
            </a:r>
          </a:p>
        </p:txBody>
      </p:sp>
      <p:pic>
        <p:nvPicPr>
          <p:cNvPr id="15" name="Picture 14" descr="gitam_logo.png"/>
          <p:cNvPicPr>
            <a:picLocks noChangeAspect="1"/>
          </p:cNvPicPr>
          <p:nvPr/>
        </p:nvPicPr>
        <p:blipFill>
          <a:blip r:embed="rId3"/>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2786931889"/>
      </p:ext>
    </p:extLst>
  </p:cSld>
  <p:clrMapOvr>
    <a:overrideClrMapping bg1="lt1" tx1="dk1" bg2="lt2" tx2="dk2" accent1="accent1" accent2="accent2" accent3="accent3" accent4="accent4" accent5="accent5" accent6="accent6" hlink="hlink" folHlink="folHlink"/>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3" name="Text 1"/>
          <p:cNvSpPr/>
          <p:nvPr/>
        </p:nvSpPr>
        <p:spPr>
          <a:xfrm>
            <a:off x="548640" y="658368"/>
            <a:ext cx="10881360" cy="822960"/>
          </a:xfrm>
          <a:prstGeom prst="rect">
            <a:avLst/>
          </a:prstGeom>
          <a:noFill/>
          <a:ln/>
        </p:spPr>
        <p:txBody>
          <a:bodyPr wrap="square" rtlCol="0" anchor="t"/>
          <a:lstStyle/>
          <a:p>
            <a:pPr marL="0" indent="0" algn="l">
              <a:buNone/>
            </a:pPr>
            <a:r>
              <a:rPr lang="en-US" sz="3100" b="1" dirty="0">
                <a:solidFill>
                  <a:srgbClr val="13294B"/>
                </a:solidFill>
                <a:latin typeface="Cambria" pitchFamily="34" charset="0"/>
                <a:ea typeface="Cambria" pitchFamily="34" charset="-122"/>
                <a:cs typeface="Cambria" pitchFamily="34" charset="-120"/>
              </a:rPr>
              <a:t>DFDs are built level by level</a:t>
            </a:r>
            <a:endParaRPr lang="en-US" sz="3100" dirty="0"/>
          </a:p>
        </p:txBody>
      </p:sp>
      <p:sp>
        <p:nvSpPr>
          <p:cNvPr id="6" name="Text 4"/>
          <p:cNvSpPr/>
          <p:nvPr/>
        </p:nvSpPr>
        <p:spPr>
          <a:xfrm>
            <a:off x="11292840" y="6382512"/>
            <a:ext cx="502920" cy="329184"/>
          </a:xfrm>
          <a:prstGeom prst="rect">
            <a:avLst/>
          </a:prstGeom>
          <a:noFill/>
          <a:ln/>
        </p:spPr>
        <p:txBody>
          <a:bodyPr wrap="square" rtlCol="0" anchor="ctr"/>
          <a:lstStyle/>
          <a:p>
            <a:pPr marL="0" indent="0" algn="r">
              <a:buNone/>
            </a:pPr>
            <a:r>
              <a:rPr lang="en-US" sz="1100" b="1" dirty="0">
                <a:solidFill>
                  <a:srgbClr val="35618E"/>
                </a:solidFill>
                <a:latin typeface="Calibri" pitchFamily="34" charset="0"/>
                <a:ea typeface="Calibri" pitchFamily="34" charset="-122"/>
                <a:cs typeface="Calibri" pitchFamily="34" charset="-120"/>
              </a:rPr>
              <a:t>22</a:t>
            </a:r>
            <a:endParaRPr lang="en-US" sz="1100" dirty="0"/>
          </a:p>
        </p:txBody>
      </p:sp>
      <p:sp>
        <p:nvSpPr>
          <p:cNvPr id="7" name="Text 5"/>
          <p:cNvSpPr/>
          <p:nvPr/>
        </p:nvSpPr>
        <p:spPr>
          <a:xfrm>
            <a:off x="566928" y="1554480"/>
            <a:ext cx="10972800" cy="502920"/>
          </a:xfrm>
          <a:prstGeom prst="rect">
            <a:avLst/>
          </a:prstGeom>
          <a:noFill/>
          <a:ln/>
        </p:spPr>
        <p:txBody>
          <a:bodyPr wrap="square" lIns="0" tIns="0" rIns="0" bIns="0" rtlCol="0" anchor="t"/>
          <a:lstStyle/>
          <a:p>
            <a:pPr marL="0" indent="0" algn="l">
              <a:lnSpc>
                <a:spcPct val="110000"/>
              </a:lnSpc>
              <a:buNone/>
            </a:pPr>
            <a:r>
              <a:rPr lang="en-US" sz="1350" dirty="0">
                <a:solidFill>
                  <a:srgbClr val="5C6B82"/>
                </a:solidFill>
                <a:latin typeface="Calibri" pitchFamily="34" charset="0"/>
                <a:ea typeface="Calibri" pitchFamily="34" charset="-122"/>
                <a:cs typeface="Calibri" pitchFamily="34" charset="-120"/>
              </a:rPr>
              <a:t>A DFD hierarchy refines the system top-down. Each bubble on one level explodes into a whole diagram on the next — while staying balanced (inputs/outputs preserved).</a:t>
            </a:r>
            <a:endParaRPr lang="en-US" sz="1350" dirty="0"/>
          </a:p>
        </p:txBody>
      </p:sp>
      <p:sp>
        <p:nvSpPr>
          <p:cNvPr id="8" name="Shape 6"/>
          <p:cNvSpPr/>
          <p:nvPr/>
        </p:nvSpPr>
        <p:spPr>
          <a:xfrm>
            <a:off x="566928" y="2240280"/>
            <a:ext cx="3566160" cy="3794760"/>
          </a:xfrm>
          <a:prstGeom prst="roundRect">
            <a:avLst>
              <a:gd name="adj" fmla="val 3077"/>
            </a:avLst>
          </a:prstGeom>
          <a:solidFill>
            <a:srgbClr val="E1F1F1"/>
          </a:solidFill>
          <a:ln/>
          <a:effectLst>
            <a:outerShdw blurRad="1524" dist="889" dir="5400000" algn="bl" rotWithShape="0">
              <a:srgbClr val="1B3A5F">
                <a:alpha val="18000"/>
              </a:srgbClr>
            </a:outerShdw>
          </a:effectLst>
        </p:spPr>
      </p:sp>
      <p:sp>
        <p:nvSpPr>
          <p:cNvPr id="9" name="Text 7"/>
          <p:cNvSpPr/>
          <p:nvPr/>
        </p:nvSpPr>
        <p:spPr>
          <a:xfrm>
            <a:off x="777240" y="2395728"/>
            <a:ext cx="3200400" cy="320040"/>
          </a:xfrm>
          <a:prstGeom prst="rect">
            <a:avLst/>
          </a:prstGeom>
          <a:noFill/>
          <a:ln/>
        </p:spPr>
        <p:txBody>
          <a:bodyPr wrap="square" lIns="0" tIns="0" rIns="0" bIns="0" rtlCol="0" anchor="t"/>
          <a:lstStyle/>
          <a:p>
            <a:pPr marL="0" indent="0" algn="l">
              <a:lnSpc>
                <a:spcPct val="100000"/>
              </a:lnSpc>
              <a:buNone/>
            </a:pPr>
            <a:r>
              <a:rPr lang="en-US" sz="1300" b="1" dirty="0">
                <a:solidFill>
                  <a:srgbClr val="0A6E6E"/>
                </a:solidFill>
                <a:latin typeface="Calibri" pitchFamily="34" charset="0"/>
                <a:ea typeface="Calibri" pitchFamily="34" charset="-122"/>
                <a:cs typeface="Calibri" pitchFamily="34" charset="-120"/>
              </a:rPr>
              <a:t>Level 0 — Context diagram</a:t>
            </a:r>
            <a:endParaRPr lang="en-US" sz="1300" dirty="0"/>
          </a:p>
        </p:txBody>
      </p:sp>
      <p:sp>
        <p:nvSpPr>
          <p:cNvPr id="10" name="Text 8"/>
          <p:cNvSpPr/>
          <p:nvPr/>
        </p:nvSpPr>
        <p:spPr>
          <a:xfrm>
            <a:off x="777240" y="2724912"/>
            <a:ext cx="3154680" cy="640080"/>
          </a:xfrm>
          <a:prstGeom prst="rect">
            <a:avLst/>
          </a:prstGeom>
          <a:noFill/>
          <a:ln/>
        </p:spPr>
        <p:txBody>
          <a:bodyPr wrap="square" lIns="0" tIns="0" rIns="0" bIns="0" rtlCol="0" anchor="t"/>
          <a:lstStyle/>
          <a:p>
            <a:pPr marL="0" indent="0" algn="l">
              <a:lnSpc>
                <a:spcPct val="106000"/>
              </a:lnSpc>
              <a:buNone/>
            </a:pPr>
            <a:r>
              <a:rPr lang="en-US" sz="1080" dirty="0">
                <a:solidFill>
                  <a:srgbClr val="1B3A5F"/>
                </a:solidFill>
                <a:latin typeface="Calibri" pitchFamily="34" charset="0"/>
                <a:ea typeface="Calibri" pitchFamily="34" charset="-122"/>
                <a:cs typeface="Calibri" pitchFamily="34" charset="-120"/>
              </a:rPr>
              <a:t>The entire system as a single bubble, with external entities and net flows.</a:t>
            </a:r>
            <a:endParaRPr lang="en-US" sz="1080" dirty="0"/>
          </a:p>
        </p:txBody>
      </p:sp>
      <p:sp>
        <p:nvSpPr>
          <p:cNvPr id="11" name="Shape 9"/>
          <p:cNvSpPr/>
          <p:nvPr/>
        </p:nvSpPr>
        <p:spPr>
          <a:xfrm>
            <a:off x="1600200" y="3520440"/>
            <a:ext cx="1463040" cy="1463040"/>
          </a:xfrm>
          <a:prstGeom prst="ellipse">
            <a:avLst/>
          </a:prstGeom>
          <a:solidFill>
            <a:srgbClr val="FFFFFF"/>
          </a:solidFill>
          <a:ln w="31750">
            <a:solidFill>
              <a:srgbClr val="0E8F8F"/>
            </a:solidFill>
            <a:prstDash val="solid"/>
          </a:ln>
        </p:spPr>
      </p:sp>
      <p:sp>
        <p:nvSpPr>
          <p:cNvPr id="12" name="Text 10"/>
          <p:cNvSpPr/>
          <p:nvPr/>
        </p:nvSpPr>
        <p:spPr>
          <a:xfrm>
            <a:off x="1600200" y="3520440"/>
            <a:ext cx="1463040" cy="1463040"/>
          </a:xfrm>
          <a:prstGeom prst="rect">
            <a:avLst/>
          </a:prstGeom>
          <a:noFill/>
          <a:ln/>
        </p:spPr>
        <p:txBody>
          <a:bodyPr wrap="square" lIns="0" tIns="0" rIns="0" bIns="0" rtlCol="0" anchor="ctr"/>
          <a:lstStyle/>
          <a:p>
            <a:pPr marL="0" indent="0" algn="ctr">
              <a:lnSpc>
                <a:spcPct val="100000"/>
              </a:lnSpc>
              <a:buNone/>
            </a:pPr>
            <a:r>
              <a:rPr lang="en-US" sz="1200" b="1" dirty="0">
                <a:solidFill>
                  <a:srgbClr val="0A6E6E"/>
                </a:solidFill>
                <a:latin typeface="Calibri" pitchFamily="34" charset="0"/>
                <a:ea typeface="Calibri" pitchFamily="34" charset="-122"/>
                <a:cs typeface="Calibri" pitchFamily="34" charset="-120"/>
              </a:rPr>
              <a:t>0</a:t>
            </a:r>
            <a:endParaRPr lang="en-US" sz="1200" dirty="0"/>
          </a:p>
          <a:p>
            <a:pPr marL="0" indent="0" algn="ctr">
              <a:lnSpc>
                <a:spcPct val="100000"/>
              </a:lnSpc>
              <a:buNone/>
            </a:pPr>
            <a:r>
              <a:rPr lang="en-US" sz="1200" b="1" dirty="0">
                <a:solidFill>
                  <a:srgbClr val="0A6E6E"/>
                </a:solidFill>
                <a:latin typeface="Calibri" pitchFamily="34" charset="0"/>
                <a:ea typeface="Calibri" pitchFamily="34" charset="-122"/>
                <a:cs typeface="Calibri" pitchFamily="34" charset="-120"/>
              </a:rPr>
              <a:t>System</a:t>
            </a:r>
            <a:endParaRPr lang="en-US" sz="1200" dirty="0"/>
          </a:p>
        </p:txBody>
      </p:sp>
      <p:sp>
        <p:nvSpPr>
          <p:cNvPr id="13" name="Shape 11"/>
          <p:cNvSpPr/>
          <p:nvPr/>
        </p:nvSpPr>
        <p:spPr>
          <a:xfrm>
            <a:off x="777240" y="3931920"/>
            <a:ext cx="685800" cy="548640"/>
          </a:xfrm>
          <a:prstGeom prst="rect">
            <a:avLst/>
          </a:prstGeom>
          <a:solidFill>
            <a:srgbClr val="FFFFFF"/>
          </a:solidFill>
          <a:ln w="22860">
            <a:solidFill>
              <a:srgbClr val="35618E"/>
            </a:solidFill>
            <a:prstDash val="solid"/>
          </a:ln>
        </p:spPr>
      </p:sp>
      <p:sp>
        <p:nvSpPr>
          <p:cNvPr id="14" name="Text 12"/>
          <p:cNvSpPr/>
          <p:nvPr/>
        </p:nvSpPr>
        <p:spPr>
          <a:xfrm>
            <a:off x="777240" y="3931920"/>
            <a:ext cx="685800" cy="548640"/>
          </a:xfrm>
          <a:prstGeom prst="rect">
            <a:avLst/>
          </a:prstGeom>
          <a:noFill/>
          <a:ln/>
        </p:spPr>
        <p:txBody>
          <a:bodyPr wrap="square" lIns="0" tIns="0" rIns="0" bIns="0" rtlCol="0" anchor="ctr"/>
          <a:lstStyle/>
          <a:p>
            <a:pPr marL="0" indent="0" algn="ctr">
              <a:lnSpc>
                <a:spcPct val="100000"/>
              </a:lnSpc>
              <a:buNone/>
            </a:pPr>
            <a:r>
              <a:rPr lang="en-US" sz="900" b="1" dirty="0">
                <a:solidFill>
                  <a:srgbClr val="35618E"/>
                </a:solidFill>
                <a:latin typeface="Calibri" pitchFamily="34" charset="0"/>
                <a:ea typeface="Calibri" pitchFamily="34" charset="-122"/>
                <a:cs typeface="Calibri" pitchFamily="34" charset="-120"/>
              </a:rPr>
              <a:t>User</a:t>
            </a:r>
            <a:endParaRPr lang="en-US" sz="900" dirty="0"/>
          </a:p>
        </p:txBody>
      </p:sp>
      <p:sp>
        <p:nvSpPr>
          <p:cNvPr id="15" name="Shape 13"/>
          <p:cNvSpPr/>
          <p:nvPr/>
        </p:nvSpPr>
        <p:spPr>
          <a:xfrm>
            <a:off x="1463040" y="4206240"/>
            <a:ext cx="137160" cy="0"/>
          </a:xfrm>
          <a:prstGeom prst="line">
            <a:avLst/>
          </a:prstGeom>
          <a:noFill/>
          <a:ln w="22860">
            <a:solidFill>
              <a:srgbClr val="D9542B"/>
            </a:solidFill>
            <a:prstDash val="solid"/>
            <a:tailEnd type="triangle"/>
          </a:ln>
        </p:spPr>
      </p:sp>
      <p:sp>
        <p:nvSpPr>
          <p:cNvPr id="16" name="Shape 14"/>
          <p:cNvSpPr/>
          <p:nvPr/>
        </p:nvSpPr>
        <p:spPr>
          <a:xfrm>
            <a:off x="3200400" y="3931920"/>
            <a:ext cx="685800" cy="548640"/>
          </a:xfrm>
          <a:prstGeom prst="rect">
            <a:avLst/>
          </a:prstGeom>
          <a:solidFill>
            <a:srgbClr val="FFFFFF"/>
          </a:solidFill>
          <a:ln w="22860">
            <a:solidFill>
              <a:srgbClr val="35618E"/>
            </a:solidFill>
            <a:prstDash val="solid"/>
          </a:ln>
        </p:spPr>
      </p:sp>
      <p:sp>
        <p:nvSpPr>
          <p:cNvPr id="17" name="Text 15"/>
          <p:cNvSpPr/>
          <p:nvPr/>
        </p:nvSpPr>
        <p:spPr>
          <a:xfrm>
            <a:off x="3200400" y="3931920"/>
            <a:ext cx="685800" cy="548640"/>
          </a:xfrm>
          <a:prstGeom prst="rect">
            <a:avLst/>
          </a:prstGeom>
          <a:noFill/>
          <a:ln/>
        </p:spPr>
        <p:txBody>
          <a:bodyPr wrap="square" lIns="0" tIns="0" rIns="0" bIns="0" rtlCol="0" anchor="ctr"/>
          <a:lstStyle/>
          <a:p>
            <a:pPr marL="0" indent="0" algn="ctr">
              <a:lnSpc>
                <a:spcPct val="100000"/>
              </a:lnSpc>
              <a:buNone/>
            </a:pPr>
            <a:r>
              <a:rPr lang="en-US" sz="900" b="1" dirty="0">
                <a:solidFill>
                  <a:srgbClr val="35618E"/>
                </a:solidFill>
                <a:latin typeface="Calibri" pitchFamily="34" charset="0"/>
                <a:ea typeface="Calibri" pitchFamily="34" charset="-122"/>
                <a:cs typeface="Calibri" pitchFamily="34" charset="-120"/>
              </a:rPr>
              <a:t>Bank</a:t>
            </a:r>
            <a:endParaRPr lang="en-US" sz="900" dirty="0"/>
          </a:p>
        </p:txBody>
      </p:sp>
      <p:sp>
        <p:nvSpPr>
          <p:cNvPr id="18" name="Shape 16"/>
          <p:cNvSpPr/>
          <p:nvPr/>
        </p:nvSpPr>
        <p:spPr>
          <a:xfrm>
            <a:off x="3063240" y="4206240"/>
            <a:ext cx="137160" cy="0"/>
          </a:xfrm>
          <a:prstGeom prst="line">
            <a:avLst/>
          </a:prstGeom>
          <a:noFill/>
          <a:ln w="22860">
            <a:solidFill>
              <a:srgbClr val="D9542B"/>
            </a:solidFill>
            <a:prstDash val="solid"/>
            <a:tailEnd type="triangle"/>
          </a:ln>
        </p:spPr>
      </p:sp>
      <p:sp>
        <p:nvSpPr>
          <p:cNvPr id="19" name="Text 17"/>
          <p:cNvSpPr/>
          <p:nvPr/>
        </p:nvSpPr>
        <p:spPr>
          <a:xfrm>
            <a:off x="777240" y="5440680"/>
            <a:ext cx="3200400" cy="320040"/>
          </a:xfrm>
          <a:prstGeom prst="rect">
            <a:avLst/>
          </a:prstGeom>
          <a:noFill/>
          <a:ln/>
        </p:spPr>
        <p:txBody>
          <a:bodyPr wrap="square" lIns="0" tIns="0" rIns="0" bIns="0" rtlCol="0" anchor="t"/>
          <a:lstStyle/>
          <a:p>
            <a:pPr marL="0" indent="0" algn="ctr">
              <a:lnSpc>
                <a:spcPct val="100000"/>
              </a:lnSpc>
              <a:buNone/>
            </a:pPr>
            <a:r>
              <a:rPr lang="en-US" sz="1050" i="1" dirty="0">
                <a:solidFill>
                  <a:srgbClr val="0A6E6E"/>
                </a:solidFill>
                <a:latin typeface="Calibri" pitchFamily="34" charset="0"/>
                <a:ea typeface="Calibri" pitchFamily="34" charset="-122"/>
                <a:cs typeface="Calibri" pitchFamily="34" charset="-120"/>
              </a:rPr>
              <a:t>One bubble · numbered 0</a:t>
            </a:r>
            <a:endParaRPr lang="en-US" sz="1050" dirty="0"/>
          </a:p>
        </p:txBody>
      </p:sp>
      <p:sp>
        <p:nvSpPr>
          <p:cNvPr id="20" name="Shape 18"/>
          <p:cNvSpPr/>
          <p:nvPr/>
        </p:nvSpPr>
        <p:spPr>
          <a:xfrm rot="5400000">
            <a:off x="4224528" y="3840480"/>
            <a:ext cx="365760" cy="457200"/>
          </a:xfrm>
          <a:prstGeom prst="triangle">
            <a:avLst/>
          </a:prstGeom>
          <a:solidFill>
            <a:srgbClr val="8A97AC"/>
          </a:solidFill>
          <a:ln/>
        </p:spPr>
      </p:sp>
      <p:sp>
        <p:nvSpPr>
          <p:cNvPr id="21" name="Text 19"/>
          <p:cNvSpPr/>
          <p:nvPr/>
        </p:nvSpPr>
        <p:spPr>
          <a:xfrm>
            <a:off x="4114800" y="4297680"/>
            <a:ext cx="594360" cy="274320"/>
          </a:xfrm>
          <a:prstGeom prst="rect">
            <a:avLst/>
          </a:prstGeom>
          <a:noFill/>
          <a:ln/>
        </p:spPr>
        <p:txBody>
          <a:bodyPr wrap="square" lIns="0" tIns="0" rIns="0" bIns="0" rtlCol="0" anchor="t"/>
          <a:lstStyle/>
          <a:p>
            <a:pPr marL="0" indent="0" algn="ctr">
              <a:lnSpc>
                <a:spcPct val="100000"/>
              </a:lnSpc>
              <a:buNone/>
            </a:pPr>
            <a:r>
              <a:rPr lang="en-US" sz="900" i="1" dirty="0">
                <a:solidFill>
                  <a:srgbClr val="8A97AC"/>
                </a:solidFill>
                <a:latin typeface="Calibri" pitchFamily="34" charset="0"/>
                <a:ea typeface="Calibri" pitchFamily="34" charset="-122"/>
                <a:cs typeface="Calibri" pitchFamily="34" charset="-120"/>
              </a:rPr>
              <a:t>explode</a:t>
            </a:r>
            <a:endParaRPr lang="en-US" sz="900" dirty="0"/>
          </a:p>
        </p:txBody>
      </p:sp>
      <p:sp>
        <p:nvSpPr>
          <p:cNvPr id="22" name="Shape 20"/>
          <p:cNvSpPr/>
          <p:nvPr/>
        </p:nvSpPr>
        <p:spPr>
          <a:xfrm>
            <a:off x="4709160" y="2240280"/>
            <a:ext cx="6922008" cy="3794760"/>
          </a:xfrm>
          <a:prstGeom prst="roundRect">
            <a:avLst>
              <a:gd name="adj" fmla="val 2892"/>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sp>
      <p:sp>
        <p:nvSpPr>
          <p:cNvPr id="23" name="Text 21"/>
          <p:cNvSpPr/>
          <p:nvPr/>
        </p:nvSpPr>
        <p:spPr>
          <a:xfrm>
            <a:off x="4937760" y="2395728"/>
            <a:ext cx="4572000" cy="320040"/>
          </a:xfrm>
          <a:prstGeom prst="rect">
            <a:avLst/>
          </a:prstGeom>
          <a:noFill/>
          <a:ln/>
        </p:spPr>
        <p:txBody>
          <a:bodyPr wrap="square" lIns="0" tIns="0" rIns="0" bIns="0" rtlCol="0" anchor="t"/>
          <a:lstStyle/>
          <a:p>
            <a:pPr marL="0" indent="0" algn="l">
              <a:lnSpc>
                <a:spcPct val="100000"/>
              </a:lnSpc>
              <a:buNone/>
            </a:pPr>
            <a:r>
              <a:rPr lang="en-US" sz="1300" b="1" dirty="0">
                <a:solidFill>
                  <a:srgbClr val="13294B"/>
                </a:solidFill>
                <a:latin typeface="Calibri" pitchFamily="34" charset="0"/>
                <a:ea typeface="Calibri" pitchFamily="34" charset="-122"/>
                <a:cs typeface="Calibri" pitchFamily="34" charset="-120"/>
              </a:rPr>
              <a:t>Level 1 — top-level breakdown</a:t>
            </a:r>
            <a:endParaRPr lang="en-US" sz="1300" dirty="0"/>
          </a:p>
        </p:txBody>
      </p:sp>
      <p:sp>
        <p:nvSpPr>
          <p:cNvPr id="24" name="Text 22"/>
          <p:cNvSpPr/>
          <p:nvPr/>
        </p:nvSpPr>
        <p:spPr>
          <a:xfrm>
            <a:off x="4937760" y="2724912"/>
            <a:ext cx="6309360" cy="457200"/>
          </a:xfrm>
          <a:prstGeom prst="rect">
            <a:avLst/>
          </a:prstGeom>
          <a:noFill/>
          <a:ln/>
        </p:spPr>
        <p:txBody>
          <a:bodyPr wrap="square" lIns="0" tIns="0" rIns="0" bIns="0" rtlCol="0" anchor="t"/>
          <a:lstStyle/>
          <a:p>
            <a:pPr marL="0" indent="0" algn="l">
              <a:lnSpc>
                <a:spcPct val="105000"/>
              </a:lnSpc>
              <a:buNone/>
            </a:pPr>
            <a:r>
              <a:rPr lang="en-US" sz="1080" dirty="0">
                <a:solidFill>
                  <a:srgbClr val="5C6B82"/>
                </a:solidFill>
                <a:latin typeface="Calibri" pitchFamily="34" charset="0"/>
                <a:ea typeface="Calibri" pitchFamily="34" charset="-122"/>
                <a:cs typeface="Calibri" pitchFamily="34" charset="-120"/>
              </a:rPr>
              <a:t>The single bubble becomes several numbered processes (1, 2, 3 …) with data stores between them.</a:t>
            </a:r>
            <a:endParaRPr lang="en-US" sz="1080" dirty="0"/>
          </a:p>
        </p:txBody>
      </p:sp>
      <p:sp>
        <p:nvSpPr>
          <p:cNvPr id="25" name="Shape 23"/>
          <p:cNvSpPr/>
          <p:nvPr/>
        </p:nvSpPr>
        <p:spPr>
          <a:xfrm>
            <a:off x="5074920" y="3383280"/>
            <a:ext cx="1143000" cy="1143000"/>
          </a:xfrm>
          <a:prstGeom prst="ellipse">
            <a:avLst/>
          </a:prstGeom>
          <a:solidFill>
            <a:srgbClr val="E1F1F1"/>
          </a:solidFill>
          <a:ln w="25400">
            <a:solidFill>
              <a:srgbClr val="0E8F8F"/>
            </a:solidFill>
            <a:prstDash val="solid"/>
          </a:ln>
        </p:spPr>
      </p:sp>
      <p:sp>
        <p:nvSpPr>
          <p:cNvPr id="26" name="Text 24"/>
          <p:cNvSpPr/>
          <p:nvPr/>
        </p:nvSpPr>
        <p:spPr>
          <a:xfrm>
            <a:off x="5074920" y="3383280"/>
            <a:ext cx="1143000" cy="1143000"/>
          </a:xfrm>
          <a:prstGeom prst="rect">
            <a:avLst/>
          </a:prstGeom>
          <a:noFill/>
          <a:ln/>
        </p:spPr>
        <p:txBody>
          <a:bodyPr wrap="square" lIns="0" tIns="0" rIns="0" bIns="0" rtlCol="0" anchor="ctr"/>
          <a:lstStyle/>
          <a:p>
            <a:pPr marL="0" indent="0" algn="ctr">
              <a:lnSpc>
                <a:spcPct val="100000"/>
              </a:lnSpc>
              <a:buNone/>
            </a:pPr>
            <a:r>
              <a:rPr lang="en-US" sz="900" b="1" dirty="0">
                <a:solidFill>
                  <a:srgbClr val="0A6E6E"/>
                </a:solidFill>
                <a:latin typeface="Calibri" pitchFamily="34" charset="0"/>
                <a:ea typeface="Calibri" pitchFamily="34" charset="-122"/>
                <a:cs typeface="Calibri" pitchFamily="34" charset="-120"/>
              </a:rPr>
              <a:t>1</a:t>
            </a:r>
            <a:endParaRPr lang="en-US" sz="900" dirty="0"/>
          </a:p>
          <a:p>
            <a:pPr marL="0" indent="0" algn="ctr">
              <a:lnSpc>
                <a:spcPct val="100000"/>
              </a:lnSpc>
              <a:buNone/>
            </a:pPr>
            <a:r>
              <a:rPr lang="en-US" sz="900" b="1" dirty="0">
                <a:solidFill>
                  <a:srgbClr val="0A6E6E"/>
                </a:solidFill>
                <a:latin typeface="Calibri" pitchFamily="34" charset="0"/>
                <a:ea typeface="Calibri" pitchFamily="34" charset="-122"/>
                <a:cs typeface="Calibri" pitchFamily="34" charset="-120"/>
              </a:rPr>
              <a:t>Validate</a:t>
            </a:r>
            <a:endParaRPr lang="en-US" sz="900" dirty="0"/>
          </a:p>
        </p:txBody>
      </p:sp>
      <p:sp>
        <p:nvSpPr>
          <p:cNvPr id="27" name="Shape 25"/>
          <p:cNvSpPr/>
          <p:nvPr/>
        </p:nvSpPr>
        <p:spPr>
          <a:xfrm>
            <a:off x="7360920" y="3383280"/>
            <a:ext cx="1143000" cy="1143000"/>
          </a:xfrm>
          <a:prstGeom prst="ellipse">
            <a:avLst/>
          </a:prstGeom>
          <a:solidFill>
            <a:srgbClr val="E1F1F1"/>
          </a:solidFill>
          <a:ln w="25400">
            <a:solidFill>
              <a:srgbClr val="0E8F8F"/>
            </a:solidFill>
            <a:prstDash val="solid"/>
          </a:ln>
        </p:spPr>
      </p:sp>
      <p:sp>
        <p:nvSpPr>
          <p:cNvPr id="28" name="Text 26"/>
          <p:cNvSpPr/>
          <p:nvPr/>
        </p:nvSpPr>
        <p:spPr>
          <a:xfrm>
            <a:off x="7360920" y="3383280"/>
            <a:ext cx="1143000" cy="1143000"/>
          </a:xfrm>
          <a:prstGeom prst="rect">
            <a:avLst/>
          </a:prstGeom>
          <a:noFill/>
          <a:ln/>
        </p:spPr>
        <p:txBody>
          <a:bodyPr wrap="square" lIns="0" tIns="0" rIns="0" bIns="0" rtlCol="0" anchor="ctr"/>
          <a:lstStyle/>
          <a:p>
            <a:pPr marL="0" indent="0" algn="ctr">
              <a:lnSpc>
                <a:spcPct val="100000"/>
              </a:lnSpc>
              <a:buNone/>
            </a:pPr>
            <a:r>
              <a:rPr lang="en-US" sz="900" b="1" dirty="0">
                <a:solidFill>
                  <a:srgbClr val="0A6E6E"/>
                </a:solidFill>
                <a:latin typeface="Calibri" pitchFamily="34" charset="0"/>
                <a:ea typeface="Calibri" pitchFamily="34" charset="-122"/>
                <a:cs typeface="Calibri" pitchFamily="34" charset="-120"/>
              </a:rPr>
              <a:t>2</a:t>
            </a:r>
            <a:endParaRPr lang="en-US" sz="900" dirty="0"/>
          </a:p>
          <a:p>
            <a:pPr marL="0" indent="0" algn="ctr">
              <a:lnSpc>
                <a:spcPct val="100000"/>
              </a:lnSpc>
              <a:buNone/>
            </a:pPr>
            <a:r>
              <a:rPr lang="en-US" sz="900" b="1" dirty="0">
                <a:solidFill>
                  <a:srgbClr val="0A6E6E"/>
                </a:solidFill>
                <a:latin typeface="Calibri" pitchFamily="34" charset="0"/>
                <a:ea typeface="Calibri" pitchFamily="34" charset="-122"/>
                <a:cs typeface="Calibri" pitchFamily="34" charset="-120"/>
              </a:rPr>
              <a:t>Process</a:t>
            </a:r>
            <a:endParaRPr lang="en-US" sz="900" dirty="0"/>
          </a:p>
        </p:txBody>
      </p:sp>
      <p:sp>
        <p:nvSpPr>
          <p:cNvPr id="29" name="Shape 27"/>
          <p:cNvSpPr/>
          <p:nvPr/>
        </p:nvSpPr>
        <p:spPr>
          <a:xfrm>
            <a:off x="9646920" y="3383280"/>
            <a:ext cx="1143000" cy="1143000"/>
          </a:xfrm>
          <a:prstGeom prst="ellipse">
            <a:avLst/>
          </a:prstGeom>
          <a:solidFill>
            <a:srgbClr val="E1F1F1"/>
          </a:solidFill>
          <a:ln w="25400">
            <a:solidFill>
              <a:srgbClr val="0E8F8F"/>
            </a:solidFill>
            <a:prstDash val="solid"/>
          </a:ln>
        </p:spPr>
      </p:sp>
      <p:sp>
        <p:nvSpPr>
          <p:cNvPr id="30" name="Text 28"/>
          <p:cNvSpPr/>
          <p:nvPr/>
        </p:nvSpPr>
        <p:spPr>
          <a:xfrm>
            <a:off x="9646920" y="3383280"/>
            <a:ext cx="1143000" cy="1143000"/>
          </a:xfrm>
          <a:prstGeom prst="rect">
            <a:avLst/>
          </a:prstGeom>
          <a:noFill/>
          <a:ln/>
        </p:spPr>
        <p:txBody>
          <a:bodyPr wrap="square" lIns="0" tIns="0" rIns="0" bIns="0" rtlCol="0" anchor="ctr"/>
          <a:lstStyle/>
          <a:p>
            <a:pPr marL="0" indent="0" algn="ctr">
              <a:lnSpc>
                <a:spcPct val="100000"/>
              </a:lnSpc>
              <a:buNone/>
            </a:pPr>
            <a:r>
              <a:rPr lang="en-US" sz="900" b="1" dirty="0">
                <a:solidFill>
                  <a:srgbClr val="0A6E6E"/>
                </a:solidFill>
                <a:latin typeface="Calibri" pitchFamily="34" charset="0"/>
                <a:ea typeface="Calibri" pitchFamily="34" charset="-122"/>
                <a:cs typeface="Calibri" pitchFamily="34" charset="-120"/>
              </a:rPr>
              <a:t>3</a:t>
            </a:r>
            <a:endParaRPr lang="en-US" sz="900" dirty="0"/>
          </a:p>
          <a:p>
            <a:pPr marL="0" indent="0" algn="ctr">
              <a:lnSpc>
                <a:spcPct val="100000"/>
              </a:lnSpc>
              <a:buNone/>
            </a:pPr>
            <a:r>
              <a:rPr lang="en-US" sz="900" b="1" dirty="0">
                <a:solidFill>
                  <a:srgbClr val="0A6E6E"/>
                </a:solidFill>
                <a:latin typeface="Calibri" pitchFamily="34" charset="0"/>
                <a:ea typeface="Calibri" pitchFamily="34" charset="-122"/>
                <a:cs typeface="Calibri" pitchFamily="34" charset="-120"/>
              </a:rPr>
              <a:t>Report</a:t>
            </a:r>
            <a:endParaRPr lang="en-US" sz="900" dirty="0"/>
          </a:p>
        </p:txBody>
      </p:sp>
      <p:sp>
        <p:nvSpPr>
          <p:cNvPr id="31" name="Shape 29"/>
          <p:cNvSpPr/>
          <p:nvPr/>
        </p:nvSpPr>
        <p:spPr>
          <a:xfrm>
            <a:off x="6217920" y="3950208"/>
            <a:ext cx="1143000" cy="0"/>
          </a:xfrm>
          <a:prstGeom prst="line">
            <a:avLst/>
          </a:prstGeom>
          <a:noFill/>
          <a:ln w="25400">
            <a:solidFill>
              <a:srgbClr val="D9542B"/>
            </a:solidFill>
            <a:prstDash val="solid"/>
            <a:tailEnd type="triangle"/>
          </a:ln>
        </p:spPr>
      </p:sp>
      <p:sp>
        <p:nvSpPr>
          <p:cNvPr id="32" name="Shape 30"/>
          <p:cNvSpPr/>
          <p:nvPr/>
        </p:nvSpPr>
        <p:spPr>
          <a:xfrm>
            <a:off x="8503920" y="3950208"/>
            <a:ext cx="1143000" cy="0"/>
          </a:xfrm>
          <a:prstGeom prst="line">
            <a:avLst/>
          </a:prstGeom>
          <a:noFill/>
          <a:ln w="25400">
            <a:solidFill>
              <a:srgbClr val="D9542B"/>
            </a:solidFill>
            <a:prstDash val="solid"/>
            <a:tailEnd type="triangle"/>
          </a:ln>
        </p:spPr>
      </p:sp>
      <p:sp>
        <p:nvSpPr>
          <p:cNvPr id="33" name="Shape 31"/>
          <p:cNvSpPr/>
          <p:nvPr/>
        </p:nvSpPr>
        <p:spPr>
          <a:xfrm>
            <a:off x="7178040" y="4983480"/>
            <a:ext cx="1554480" cy="502920"/>
          </a:xfrm>
          <a:prstGeom prst="rect">
            <a:avLst/>
          </a:prstGeom>
          <a:solidFill>
            <a:srgbClr val="FBEFDC"/>
          </a:solidFill>
          <a:ln w="22860">
            <a:solidFill>
              <a:srgbClr val="D98A28"/>
            </a:solidFill>
            <a:prstDash val="solid"/>
          </a:ln>
        </p:spPr>
      </p:sp>
      <p:sp>
        <p:nvSpPr>
          <p:cNvPr id="34" name="Text 32"/>
          <p:cNvSpPr/>
          <p:nvPr/>
        </p:nvSpPr>
        <p:spPr>
          <a:xfrm>
            <a:off x="7178040" y="4983480"/>
            <a:ext cx="1554480" cy="502920"/>
          </a:xfrm>
          <a:prstGeom prst="rect">
            <a:avLst/>
          </a:prstGeom>
          <a:noFill/>
          <a:ln/>
        </p:spPr>
        <p:txBody>
          <a:bodyPr wrap="square" lIns="0" tIns="0" rIns="0" bIns="0" rtlCol="0" anchor="ctr"/>
          <a:lstStyle/>
          <a:p>
            <a:pPr marL="0" indent="0" algn="ctr">
              <a:lnSpc>
                <a:spcPct val="100000"/>
              </a:lnSpc>
              <a:buNone/>
            </a:pPr>
            <a:r>
              <a:rPr lang="en-US" sz="950" b="1" dirty="0">
                <a:solidFill>
                  <a:srgbClr val="D98A28"/>
                </a:solidFill>
                <a:latin typeface="Calibri" pitchFamily="34" charset="0"/>
                <a:ea typeface="Calibri" pitchFamily="34" charset="-122"/>
                <a:cs typeface="Calibri" pitchFamily="34" charset="-120"/>
              </a:rPr>
              <a:t>D1 | Records</a:t>
            </a:r>
            <a:endParaRPr lang="en-US" sz="950" dirty="0"/>
          </a:p>
        </p:txBody>
      </p:sp>
      <p:sp>
        <p:nvSpPr>
          <p:cNvPr id="35" name="Shape 33"/>
          <p:cNvSpPr/>
          <p:nvPr/>
        </p:nvSpPr>
        <p:spPr>
          <a:xfrm>
            <a:off x="7909560" y="4526280"/>
            <a:ext cx="0" cy="457200"/>
          </a:xfrm>
          <a:prstGeom prst="line">
            <a:avLst/>
          </a:prstGeom>
          <a:noFill/>
          <a:ln w="22860">
            <a:solidFill>
              <a:srgbClr val="D9542B"/>
            </a:solidFill>
            <a:prstDash val="solid"/>
            <a:tailEnd type="triangle"/>
          </a:ln>
        </p:spPr>
      </p:sp>
      <p:sp>
        <p:nvSpPr>
          <p:cNvPr id="36" name="Text 34"/>
          <p:cNvSpPr/>
          <p:nvPr/>
        </p:nvSpPr>
        <p:spPr>
          <a:xfrm>
            <a:off x="4937760" y="5532120"/>
            <a:ext cx="6492240" cy="457200"/>
          </a:xfrm>
          <a:prstGeom prst="rect">
            <a:avLst/>
          </a:prstGeom>
          <a:noFill/>
          <a:ln/>
        </p:spPr>
        <p:txBody>
          <a:bodyPr wrap="square" lIns="0" tIns="0" rIns="0" bIns="0" rtlCol="0" anchor="t"/>
          <a:lstStyle/>
          <a:p>
            <a:pPr marL="0" indent="0" algn="l">
              <a:lnSpc>
                <a:spcPct val="105000"/>
              </a:lnSpc>
              <a:buNone/>
            </a:pPr>
            <a:r>
              <a:rPr lang="en-US" sz="1080" i="1" dirty="0">
                <a:solidFill>
                  <a:srgbClr val="35618E"/>
                </a:solidFill>
                <a:latin typeface="Calibri" pitchFamily="34" charset="0"/>
                <a:ea typeface="Calibri" pitchFamily="34" charset="-122"/>
                <a:cs typeface="Calibri" pitchFamily="34" charset="-120"/>
              </a:rPr>
              <a:t>Deeper levels (Level 2, 3 …) refine each process further until every bottom bubble is a simple primitive described by a process specification.</a:t>
            </a:r>
            <a:endParaRPr lang="en-US" sz="1080" dirty="0"/>
          </a:p>
        </p:txBody>
      </p:sp>
      <p:pic>
        <p:nvPicPr>
          <p:cNvPr id="37" name="Picture 36" descr="gitam_logo.png"/>
          <p:cNvPicPr>
            <a:picLocks noChangeAspect="1"/>
          </p:cNvPicPr>
          <p:nvPr/>
        </p:nvPicPr>
        <p:blipFill>
          <a:blip r:embed="rId4"/>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123521188"/>
      </p:ext>
    </p:extLst>
  </p:cSld>
  <p:clrMapOvr>
    <a:overrideClrMapping bg1="lt1" tx1="dk1" bg2="lt2" tx2="dk2" accent1="accent1" accent2="accent2" accent3="accent3" accent4="accent4" accent5="accent5" accent6="accent6" hlink="hlink" folHlink="folHlink"/>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817296" y="472923"/>
            <a:ext cx="9234957" cy="5912154"/>
          </a:xfrm>
          <a:prstGeom prst="rect">
            <a:avLst/>
          </a:prstGeom>
        </p:spPr>
      </p:pic>
      <p:pic>
        <p:nvPicPr>
          <p:cNvPr id="3" name="Picture 2" descr="gitam_logo.png"/>
          <p:cNvPicPr>
            <a:picLocks noChangeAspect="1"/>
          </p:cNvPicPr>
          <p:nvPr/>
        </p:nvPicPr>
        <p:blipFill>
          <a:blip r:embed="rId4"/>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3140605503"/>
      </p:ext>
    </p:extLst>
  </p:cSld>
  <p:clrMapOvr>
    <a:overrideClrMapping bg1="lt1" tx1="dk1" bg2="lt2" tx2="dk2" accent1="accent1" accent2="accent2" accent3="accent3" accent4="accent4" accent5="accent5" accent6="accent6" hlink="hlink" folHlink="folHlink"/>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0" y="218485"/>
            <a:ext cx="11790096" cy="6473628"/>
          </a:xfrm>
          <a:prstGeom prst="rect">
            <a:avLst/>
          </a:prstGeom>
        </p:spPr>
      </p:pic>
      <p:pic>
        <p:nvPicPr>
          <p:cNvPr id="3" name="Picture 2" descr="gitam_logo.png"/>
          <p:cNvPicPr>
            <a:picLocks noChangeAspect="1"/>
          </p:cNvPicPr>
          <p:nvPr/>
        </p:nvPicPr>
        <p:blipFill>
          <a:blip r:embed="rId4"/>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1794296343"/>
      </p:ext>
    </p:extLst>
  </p:cSld>
  <p:clrMapOvr>
    <a:overrideClrMapping bg1="lt1" tx1="dk1" bg2="lt2" tx2="dk2" accent1="accent1" accent2="accent2" accent3="accent3" accent4="accent4" accent5="accent5" accent6="accent6" hlink="hlink" folHlink="folHlink"/>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388419" y="534074"/>
            <a:ext cx="9669982" cy="5814812"/>
          </a:xfrm>
          <a:prstGeom prst="rect">
            <a:avLst/>
          </a:prstGeom>
        </p:spPr>
      </p:pic>
      <p:pic>
        <p:nvPicPr>
          <p:cNvPr id="3" name="Picture 2" descr="gitam_logo.png"/>
          <p:cNvPicPr>
            <a:picLocks noChangeAspect="1"/>
          </p:cNvPicPr>
          <p:nvPr/>
        </p:nvPicPr>
        <p:blipFill>
          <a:blip r:embed="rId4"/>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3924693568"/>
      </p:ext>
    </p:extLst>
  </p:cSld>
  <p:clrMapOvr>
    <a:overrideClrMapping bg1="lt1" tx1="dk1" bg2="lt2" tx2="dk2" accent1="accent1" accent2="accent2" accent3="accent3" accent4="accent4" accent5="accent5" accent6="accent6" hlink="hlink" folHlink="folHlink"/>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614995" y="299405"/>
            <a:ext cx="10997076" cy="5968359"/>
          </a:xfrm>
          <a:prstGeom prst="rect">
            <a:avLst/>
          </a:prstGeom>
        </p:spPr>
      </p:pic>
      <p:pic>
        <p:nvPicPr>
          <p:cNvPr id="3" name="Picture 2" descr="gitam_logo.png"/>
          <p:cNvPicPr>
            <a:picLocks noChangeAspect="1"/>
          </p:cNvPicPr>
          <p:nvPr/>
        </p:nvPicPr>
        <p:blipFill>
          <a:blip r:embed="rId4"/>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1216051874"/>
      </p:ext>
    </p:extLst>
  </p:cSld>
  <p:clrMapOvr>
    <a:overrideClrMapping bg1="lt1" tx1="dk1" bg2="lt2" tx2="dk2" accent1="accent1" accent2="accent2" accent3="accent3" accent4="accent4" accent5="accent5" accent6="accent6" hlink="hlink" folHlink="folHlink"/>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250854" y="509798"/>
            <a:ext cx="10471094" cy="6274100"/>
          </a:xfrm>
          <a:prstGeom prst="rect">
            <a:avLst/>
          </a:prstGeom>
        </p:spPr>
      </p:pic>
      <p:pic>
        <p:nvPicPr>
          <p:cNvPr id="3" name="Picture 2" descr="gitam_logo.png"/>
          <p:cNvPicPr>
            <a:picLocks noChangeAspect="1"/>
          </p:cNvPicPr>
          <p:nvPr/>
        </p:nvPicPr>
        <p:blipFill>
          <a:blip r:embed="rId4"/>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4244468826"/>
      </p:ext>
    </p:extLst>
  </p:cSld>
  <p:clrMapOvr>
    <a:overrideClrMapping bg1="lt1" tx1="dk1" bg2="lt2" tx2="dk2" accent1="accent1" accent2="accent2" accent3="accent3" accent4="accent4" accent5="accent5" accent6="accent6" hlink="hlink" folHlink="folHlink"/>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3" name="Text 1"/>
          <p:cNvSpPr/>
          <p:nvPr/>
        </p:nvSpPr>
        <p:spPr>
          <a:xfrm>
            <a:off x="548640" y="658368"/>
            <a:ext cx="10881360" cy="822960"/>
          </a:xfrm>
          <a:prstGeom prst="rect">
            <a:avLst/>
          </a:prstGeom>
          <a:noFill/>
          <a:ln/>
        </p:spPr>
        <p:txBody>
          <a:bodyPr wrap="square" rtlCol="0" anchor="t"/>
          <a:lstStyle/>
          <a:p>
            <a:pPr marL="0" indent="0" algn="l">
              <a:buNone/>
            </a:pPr>
            <a:r>
              <a:rPr lang="en-US" sz="3100" b="1" dirty="0">
                <a:solidFill>
                  <a:srgbClr val="13294B"/>
                </a:solidFill>
                <a:latin typeface="Cambria" pitchFamily="34" charset="0"/>
                <a:ea typeface="Cambria" pitchFamily="34" charset="-122"/>
                <a:cs typeface="Cambria" pitchFamily="34" charset="-120"/>
              </a:rPr>
              <a:t>DFD rules &amp; common pitfalls</a:t>
            </a:r>
            <a:endParaRPr lang="en-US" sz="3100" dirty="0"/>
          </a:p>
        </p:txBody>
      </p:sp>
      <p:sp>
        <p:nvSpPr>
          <p:cNvPr id="6" name="Text 4"/>
          <p:cNvSpPr/>
          <p:nvPr/>
        </p:nvSpPr>
        <p:spPr>
          <a:xfrm>
            <a:off x="11292840" y="6382512"/>
            <a:ext cx="502920" cy="329184"/>
          </a:xfrm>
          <a:prstGeom prst="rect">
            <a:avLst/>
          </a:prstGeom>
          <a:noFill/>
          <a:ln/>
        </p:spPr>
        <p:txBody>
          <a:bodyPr wrap="square" rtlCol="0" anchor="ctr"/>
          <a:lstStyle/>
          <a:p>
            <a:pPr marL="0" indent="0" algn="r">
              <a:buNone/>
            </a:pPr>
            <a:r>
              <a:rPr lang="en-US" sz="1100" b="1" dirty="0">
                <a:solidFill>
                  <a:srgbClr val="35618E"/>
                </a:solidFill>
                <a:latin typeface="Calibri" pitchFamily="34" charset="0"/>
                <a:ea typeface="Calibri" pitchFamily="34" charset="-122"/>
                <a:cs typeface="Calibri" pitchFamily="34" charset="-120"/>
              </a:rPr>
              <a:t>23</a:t>
            </a:r>
            <a:endParaRPr lang="en-US" sz="1100" dirty="0"/>
          </a:p>
        </p:txBody>
      </p:sp>
      <p:sp>
        <p:nvSpPr>
          <p:cNvPr id="7" name="Shape 5"/>
          <p:cNvSpPr/>
          <p:nvPr/>
        </p:nvSpPr>
        <p:spPr>
          <a:xfrm>
            <a:off x="566928" y="1783080"/>
            <a:ext cx="5468112" cy="4251960"/>
          </a:xfrm>
          <a:prstGeom prst="roundRect">
            <a:avLst>
              <a:gd name="adj" fmla="val 2581"/>
            </a:avLst>
          </a:prstGeom>
          <a:solidFill>
            <a:srgbClr val="E4F1E9"/>
          </a:solidFill>
          <a:ln/>
          <a:effectLst>
            <a:outerShdw blurRad="1524" dist="889" dir="5400000" algn="bl" rotWithShape="0">
              <a:srgbClr val="1B3A5F">
                <a:alpha val="18000"/>
              </a:srgbClr>
            </a:outerShdw>
          </a:effectLst>
        </p:spPr>
      </p:sp>
      <p:sp>
        <p:nvSpPr>
          <p:cNvPr id="8" name="Shape 6"/>
          <p:cNvSpPr/>
          <p:nvPr/>
        </p:nvSpPr>
        <p:spPr>
          <a:xfrm>
            <a:off x="822960" y="2011680"/>
            <a:ext cx="603504" cy="603504"/>
          </a:xfrm>
          <a:prstGeom prst="ellipse">
            <a:avLst/>
          </a:prstGeom>
          <a:solidFill>
            <a:srgbClr val="2E8B57"/>
          </a:solidFill>
          <a:ln/>
          <a:effectLst>
            <a:outerShdw blurRad="1270" dist="635" dir="5400000" algn="bl" rotWithShape="0">
              <a:srgbClr val="1B3A5F">
                <a:alpha val="25000"/>
              </a:srgbClr>
            </a:outerShdw>
          </a:effectLst>
        </p:spPr>
      </p:sp>
      <p:pic>
        <p:nvPicPr>
          <p:cNvPr id="9" name="Image 0" descr="/home/claude/deck/icons/check.png"/>
          <p:cNvPicPr>
            <a:picLocks noChangeAspect="1"/>
          </p:cNvPicPr>
          <p:nvPr/>
        </p:nvPicPr>
        <p:blipFill>
          <a:blip r:embed="rId4"/>
          <a:stretch>
            <a:fillRect/>
          </a:stretch>
        </p:blipFill>
        <p:spPr>
          <a:xfrm>
            <a:off x="979871" y="2168591"/>
            <a:ext cx="289682" cy="289682"/>
          </a:xfrm>
          <a:prstGeom prst="rect">
            <a:avLst/>
          </a:prstGeom>
        </p:spPr>
      </p:pic>
      <p:sp>
        <p:nvSpPr>
          <p:cNvPr id="10" name="Text 7"/>
          <p:cNvSpPr/>
          <p:nvPr/>
        </p:nvSpPr>
        <p:spPr>
          <a:xfrm>
            <a:off x="1572768" y="2084832"/>
            <a:ext cx="3657600" cy="457200"/>
          </a:xfrm>
          <a:prstGeom prst="rect">
            <a:avLst/>
          </a:prstGeom>
          <a:noFill/>
          <a:ln/>
        </p:spPr>
        <p:txBody>
          <a:bodyPr wrap="square" lIns="0" tIns="0" rIns="0" bIns="0" rtlCol="0" anchor="t"/>
          <a:lstStyle/>
          <a:p>
            <a:pPr marL="0" indent="0" algn="l">
              <a:lnSpc>
                <a:spcPct val="100000"/>
              </a:lnSpc>
              <a:buNone/>
            </a:pPr>
            <a:r>
              <a:rPr lang="en-US" sz="1700" b="1" dirty="0">
                <a:solidFill>
                  <a:srgbClr val="256B45"/>
                </a:solidFill>
                <a:latin typeface="Cambria" pitchFamily="34" charset="0"/>
                <a:ea typeface="Cambria" pitchFamily="34" charset="-122"/>
                <a:cs typeface="Cambria" pitchFamily="34" charset="-120"/>
              </a:rPr>
              <a:t>Do</a:t>
            </a:r>
            <a:endParaRPr lang="en-US" sz="1700" dirty="0"/>
          </a:p>
        </p:txBody>
      </p:sp>
      <p:pic>
        <p:nvPicPr>
          <p:cNvPr id="11" name="Image 1" descr="/home/claude/deck/icons/check.png"/>
          <p:cNvPicPr>
            <a:picLocks noChangeAspect="1"/>
          </p:cNvPicPr>
          <p:nvPr/>
        </p:nvPicPr>
        <p:blipFill>
          <a:blip r:embed="rId4"/>
          <a:stretch>
            <a:fillRect/>
          </a:stretch>
        </p:blipFill>
        <p:spPr>
          <a:xfrm>
            <a:off x="914400" y="2862072"/>
            <a:ext cx="201168" cy="201168"/>
          </a:xfrm>
          <a:prstGeom prst="rect">
            <a:avLst/>
          </a:prstGeom>
        </p:spPr>
      </p:pic>
      <p:sp>
        <p:nvSpPr>
          <p:cNvPr id="12" name="Text 8"/>
          <p:cNvSpPr/>
          <p:nvPr/>
        </p:nvSpPr>
        <p:spPr>
          <a:xfrm>
            <a:off x="1280160" y="2816352"/>
            <a:ext cx="4480560" cy="548640"/>
          </a:xfrm>
          <a:prstGeom prst="rect">
            <a:avLst/>
          </a:prstGeom>
          <a:noFill/>
          <a:ln/>
        </p:spPr>
        <p:txBody>
          <a:bodyPr wrap="square" lIns="0" tIns="0" rIns="0" bIns="0" rtlCol="0" anchor="t"/>
          <a:lstStyle/>
          <a:p>
            <a:pPr marL="0" indent="0" algn="l">
              <a:lnSpc>
                <a:spcPct val="105000"/>
              </a:lnSpc>
              <a:buNone/>
            </a:pPr>
            <a:r>
              <a:rPr lang="en-US" sz="1230" dirty="0">
                <a:solidFill>
                  <a:srgbClr val="1B3A5F"/>
                </a:solidFill>
                <a:latin typeface="Calibri" pitchFamily="34" charset="0"/>
                <a:ea typeface="Calibri" pitchFamily="34" charset="-122"/>
                <a:cs typeface="Calibri" pitchFamily="34" charset="-120"/>
              </a:rPr>
              <a:t>Every process has at least one input and one output</a:t>
            </a:r>
            <a:endParaRPr lang="en-US" sz="1230" dirty="0"/>
          </a:p>
        </p:txBody>
      </p:sp>
      <p:pic>
        <p:nvPicPr>
          <p:cNvPr id="13" name="Image 2" descr="/home/claude/deck/icons/check.png"/>
          <p:cNvPicPr>
            <a:picLocks noChangeAspect="1"/>
          </p:cNvPicPr>
          <p:nvPr/>
        </p:nvPicPr>
        <p:blipFill>
          <a:blip r:embed="rId4"/>
          <a:stretch>
            <a:fillRect/>
          </a:stretch>
        </p:blipFill>
        <p:spPr>
          <a:xfrm>
            <a:off x="914400" y="3483864"/>
            <a:ext cx="201168" cy="201168"/>
          </a:xfrm>
          <a:prstGeom prst="rect">
            <a:avLst/>
          </a:prstGeom>
        </p:spPr>
      </p:pic>
      <p:sp>
        <p:nvSpPr>
          <p:cNvPr id="14" name="Text 9"/>
          <p:cNvSpPr/>
          <p:nvPr/>
        </p:nvSpPr>
        <p:spPr>
          <a:xfrm>
            <a:off x="1280160" y="3438144"/>
            <a:ext cx="4480560" cy="548640"/>
          </a:xfrm>
          <a:prstGeom prst="rect">
            <a:avLst/>
          </a:prstGeom>
          <a:noFill/>
          <a:ln/>
        </p:spPr>
        <p:txBody>
          <a:bodyPr wrap="square" lIns="0" tIns="0" rIns="0" bIns="0" rtlCol="0" anchor="t"/>
          <a:lstStyle/>
          <a:p>
            <a:pPr marL="0" indent="0" algn="l">
              <a:lnSpc>
                <a:spcPct val="105000"/>
              </a:lnSpc>
              <a:buNone/>
            </a:pPr>
            <a:r>
              <a:rPr lang="en-US" sz="1230" dirty="0">
                <a:solidFill>
                  <a:srgbClr val="1B3A5F"/>
                </a:solidFill>
                <a:latin typeface="Calibri" pitchFamily="34" charset="0"/>
                <a:ea typeface="Calibri" pitchFamily="34" charset="-122"/>
                <a:cs typeface="Calibri" pitchFamily="34" charset="-120"/>
              </a:rPr>
              <a:t>Label every data flow with a meaningful noun</a:t>
            </a:r>
            <a:endParaRPr lang="en-US" sz="1230" dirty="0"/>
          </a:p>
        </p:txBody>
      </p:sp>
      <p:pic>
        <p:nvPicPr>
          <p:cNvPr id="15" name="Image 3" descr="/home/claude/deck/icons/check.png"/>
          <p:cNvPicPr>
            <a:picLocks noChangeAspect="1"/>
          </p:cNvPicPr>
          <p:nvPr/>
        </p:nvPicPr>
        <p:blipFill>
          <a:blip r:embed="rId4"/>
          <a:stretch>
            <a:fillRect/>
          </a:stretch>
        </p:blipFill>
        <p:spPr>
          <a:xfrm>
            <a:off x="914400" y="4105656"/>
            <a:ext cx="201168" cy="201168"/>
          </a:xfrm>
          <a:prstGeom prst="rect">
            <a:avLst/>
          </a:prstGeom>
        </p:spPr>
      </p:pic>
      <p:sp>
        <p:nvSpPr>
          <p:cNvPr id="16" name="Text 10"/>
          <p:cNvSpPr/>
          <p:nvPr/>
        </p:nvSpPr>
        <p:spPr>
          <a:xfrm>
            <a:off x="1280160" y="4059936"/>
            <a:ext cx="4480560" cy="548640"/>
          </a:xfrm>
          <a:prstGeom prst="rect">
            <a:avLst/>
          </a:prstGeom>
          <a:noFill/>
          <a:ln/>
        </p:spPr>
        <p:txBody>
          <a:bodyPr wrap="square" lIns="0" tIns="0" rIns="0" bIns="0" rtlCol="0" anchor="t"/>
          <a:lstStyle/>
          <a:p>
            <a:pPr marL="0" indent="0" algn="l">
              <a:lnSpc>
                <a:spcPct val="105000"/>
              </a:lnSpc>
              <a:buNone/>
            </a:pPr>
            <a:r>
              <a:rPr lang="en-US" sz="1230" dirty="0">
                <a:solidFill>
                  <a:srgbClr val="1B3A5F"/>
                </a:solidFill>
                <a:latin typeface="Calibri" pitchFamily="34" charset="0"/>
                <a:ea typeface="Calibri" pitchFamily="34" charset="-122"/>
                <a:cs typeface="Calibri" pitchFamily="34" charset="-120"/>
              </a:rPr>
              <a:t>Number processes for traceability across levels</a:t>
            </a:r>
            <a:endParaRPr lang="en-US" sz="1230" dirty="0"/>
          </a:p>
        </p:txBody>
      </p:sp>
      <p:pic>
        <p:nvPicPr>
          <p:cNvPr id="17" name="Image 4" descr="/home/claude/deck/icons/check.png"/>
          <p:cNvPicPr>
            <a:picLocks noChangeAspect="1"/>
          </p:cNvPicPr>
          <p:nvPr/>
        </p:nvPicPr>
        <p:blipFill>
          <a:blip r:embed="rId4"/>
          <a:stretch>
            <a:fillRect/>
          </a:stretch>
        </p:blipFill>
        <p:spPr>
          <a:xfrm>
            <a:off x="914400" y="4727448"/>
            <a:ext cx="201168" cy="201168"/>
          </a:xfrm>
          <a:prstGeom prst="rect">
            <a:avLst/>
          </a:prstGeom>
        </p:spPr>
      </p:pic>
      <p:sp>
        <p:nvSpPr>
          <p:cNvPr id="18" name="Text 11"/>
          <p:cNvSpPr/>
          <p:nvPr/>
        </p:nvSpPr>
        <p:spPr>
          <a:xfrm>
            <a:off x="1280160" y="4681728"/>
            <a:ext cx="4480560" cy="548640"/>
          </a:xfrm>
          <a:prstGeom prst="rect">
            <a:avLst/>
          </a:prstGeom>
          <a:noFill/>
          <a:ln/>
        </p:spPr>
        <p:txBody>
          <a:bodyPr wrap="square" lIns="0" tIns="0" rIns="0" bIns="0" rtlCol="0" anchor="t"/>
          <a:lstStyle/>
          <a:p>
            <a:pPr marL="0" indent="0" algn="l">
              <a:lnSpc>
                <a:spcPct val="105000"/>
              </a:lnSpc>
              <a:buNone/>
            </a:pPr>
            <a:r>
              <a:rPr lang="en-US" sz="1230" dirty="0">
                <a:solidFill>
                  <a:srgbClr val="1B3A5F"/>
                </a:solidFill>
                <a:latin typeface="Calibri" pitchFamily="34" charset="0"/>
                <a:ea typeface="Calibri" pitchFamily="34" charset="-122"/>
                <a:cs typeface="Calibri" pitchFamily="34" charset="-120"/>
              </a:rPr>
              <a:t>Keep diagrams balanced — parent I/O = child I/O</a:t>
            </a:r>
            <a:endParaRPr lang="en-US" sz="1230" dirty="0"/>
          </a:p>
        </p:txBody>
      </p:sp>
      <p:pic>
        <p:nvPicPr>
          <p:cNvPr id="19" name="Image 5" descr="/home/claude/deck/icons/check.png"/>
          <p:cNvPicPr>
            <a:picLocks noChangeAspect="1"/>
          </p:cNvPicPr>
          <p:nvPr/>
        </p:nvPicPr>
        <p:blipFill>
          <a:blip r:embed="rId4"/>
          <a:stretch>
            <a:fillRect/>
          </a:stretch>
        </p:blipFill>
        <p:spPr>
          <a:xfrm>
            <a:off x="914400" y="5349240"/>
            <a:ext cx="201168" cy="201168"/>
          </a:xfrm>
          <a:prstGeom prst="rect">
            <a:avLst/>
          </a:prstGeom>
        </p:spPr>
      </p:pic>
      <p:sp>
        <p:nvSpPr>
          <p:cNvPr id="20" name="Text 12"/>
          <p:cNvSpPr/>
          <p:nvPr/>
        </p:nvSpPr>
        <p:spPr>
          <a:xfrm>
            <a:off x="1280160" y="5303520"/>
            <a:ext cx="4480560" cy="548640"/>
          </a:xfrm>
          <a:prstGeom prst="rect">
            <a:avLst/>
          </a:prstGeom>
          <a:noFill/>
          <a:ln/>
        </p:spPr>
        <p:txBody>
          <a:bodyPr wrap="square" lIns="0" tIns="0" rIns="0" bIns="0" rtlCol="0" anchor="t"/>
          <a:lstStyle/>
          <a:p>
            <a:pPr marL="0" indent="0" algn="l">
              <a:lnSpc>
                <a:spcPct val="105000"/>
              </a:lnSpc>
              <a:buNone/>
            </a:pPr>
            <a:r>
              <a:rPr lang="en-US" sz="1230" dirty="0">
                <a:solidFill>
                  <a:srgbClr val="1B3A5F"/>
                </a:solidFill>
                <a:latin typeface="Calibri" pitchFamily="34" charset="0"/>
                <a:ea typeface="Calibri" pitchFamily="34" charset="-122"/>
                <a:cs typeface="Calibri" pitchFamily="34" charset="-120"/>
              </a:rPr>
              <a:t>Aim for 7±2 bubbles per diagram (avoid clutter)</a:t>
            </a:r>
            <a:endParaRPr lang="en-US" sz="1230" dirty="0"/>
          </a:p>
        </p:txBody>
      </p:sp>
      <p:sp>
        <p:nvSpPr>
          <p:cNvPr id="21" name="Shape 13"/>
          <p:cNvSpPr/>
          <p:nvPr/>
        </p:nvSpPr>
        <p:spPr>
          <a:xfrm>
            <a:off x="6172200" y="1783080"/>
            <a:ext cx="5468112" cy="4251960"/>
          </a:xfrm>
          <a:prstGeom prst="roundRect">
            <a:avLst>
              <a:gd name="adj" fmla="val 2581"/>
            </a:avLst>
          </a:prstGeom>
          <a:solidFill>
            <a:srgbClr val="FBE7DF"/>
          </a:solidFill>
          <a:ln/>
          <a:effectLst>
            <a:outerShdw blurRad="1524" dist="889" dir="5400000" algn="bl" rotWithShape="0">
              <a:srgbClr val="1B3A5F">
                <a:alpha val="18000"/>
              </a:srgbClr>
            </a:outerShdw>
          </a:effectLst>
        </p:spPr>
      </p:sp>
      <p:sp>
        <p:nvSpPr>
          <p:cNvPr id="22" name="Shape 14"/>
          <p:cNvSpPr/>
          <p:nvPr/>
        </p:nvSpPr>
        <p:spPr>
          <a:xfrm>
            <a:off x="6428232" y="2011680"/>
            <a:ext cx="603504" cy="603504"/>
          </a:xfrm>
          <a:prstGeom prst="ellipse">
            <a:avLst/>
          </a:prstGeom>
          <a:solidFill>
            <a:srgbClr val="D9542B"/>
          </a:solidFill>
          <a:ln/>
          <a:effectLst>
            <a:outerShdw blurRad="1270" dist="635" dir="5400000" algn="bl" rotWithShape="0">
              <a:srgbClr val="1B3A5F">
                <a:alpha val="25000"/>
              </a:srgbClr>
            </a:outerShdw>
          </a:effectLst>
        </p:spPr>
      </p:sp>
      <p:pic>
        <p:nvPicPr>
          <p:cNvPr id="23" name="Image 6" descr="/home/claude/deck/icons/warning.png"/>
          <p:cNvPicPr>
            <a:picLocks noChangeAspect="1"/>
          </p:cNvPicPr>
          <p:nvPr/>
        </p:nvPicPr>
        <p:blipFill>
          <a:blip r:embed="rId5"/>
          <a:stretch>
            <a:fillRect/>
          </a:stretch>
        </p:blipFill>
        <p:spPr>
          <a:xfrm>
            <a:off x="6585143" y="2168591"/>
            <a:ext cx="289682" cy="289682"/>
          </a:xfrm>
          <a:prstGeom prst="rect">
            <a:avLst/>
          </a:prstGeom>
        </p:spPr>
      </p:pic>
      <p:sp>
        <p:nvSpPr>
          <p:cNvPr id="24" name="Text 15"/>
          <p:cNvSpPr/>
          <p:nvPr/>
        </p:nvSpPr>
        <p:spPr>
          <a:xfrm>
            <a:off x="7178040" y="2084832"/>
            <a:ext cx="3657600" cy="457200"/>
          </a:xfrm>
          <a:prstGeom prst="rect">
            <a:avLst/>
          </a:prstGeom>
          <a:noFill/>
          <a:ln/>
        </p:spPr>
        <p:txBody>
          <a:bodyPr wrap="square" lIns="0" tIns="0" rIns="0" bIns="0" rtlCol="0" anchor="t"/>
          <a:lstStyle/>
          <a:p>
            <a:pPr marL="0" indent="0" algn="l">
              <a:lnSpc>
                <a:spcPct val="100000"/>
              </a:lnSpc>
              <a:buNone/>
            </a:pPr>
            <a:r>
              <a:rPr lang="en-US" sz="1700" b="1" dirty="0">
                <a:solidFill>
                  <a:srgbClr val="A23F22"/>
                </a:solidFill>
                <a:latin typeface="Cambria" pitchFamily="34" charset="0"/>
                <a:ea typeface="Cambria" pitchFamily="34" charset="-122"/>
                <a:cs typeface="Cambria" pitchFamily="34" charset="-120"/>
              </a:rPr>
              <a:t>Don't</a:t>
            </a:r>
            <a:endParaRPr lang="en-US" sz="1700" dirty="0"/>
          </a:p>
        </p:txBody>
      </p:sp>
      <p:sp>
        <p:nvSpPr>
          <p:cNvPr id="25" name="Shape 16"/>
          <p:cNvSpPr/>
          <p:nvPr/>
        </p:nvSpPr>
        <p:spPr>
          <a:xfrm>
            <a:off x="6519672" y="2852928"/>
            <a:ext cx="219456" cy="219456"/>
          </a:xfrm>
          <a:prstGeom prst="ellipse">
            <a:avLst/>
          </a:prstGeom>
          <a:solidFill>
            <a:srgbClr val="D9542B"/>
          </a:solidFill>
          <a:ln/>
        </p:spPr>
      </p:sp>
      <p:sp>
        <p:nvSpPr>
          <p:cNvPr id="26" name="Text 17"/>
          <p:cNvSpPr/>
          <p:nvPr/>
        </p:nvSpPr>
        <p:spPr>
          <a:xfrm>
            <a:off x="6519672" y="2825496"/>
            <a:ext cx="219456" cy="219456"/>
          </a:xfrm>
          <a:prstGeom prst="rect">
            <a:avLst/>
          </a:prstGeom>
          <a:noFill/>
          <a:ln/>
        </p:spPr>
        <p:txBody>
          <a:bodyPr wrap="square" lIns="0" tIns="0" rIns="0" bIns="0" rtlCol="0" anchor="ctr"/>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7" name="Text 18"/>
          <p:cNvSpPr/>
          <p:nvPr/>
        </p:nvSpPr>
        <p:spPr>
          <a:xfrm>
            <a:off x="6903720" y="2816352"/>
            <a:ext cx="4526280" cy="548640"/>
          </a:xfrm>
          <a:prstGeom prst="rect">
            <a:avLst/>
          </a:prstGeom>
          <a:noFill/>
          <a:ln/>
        </p:spPr>
        <p:txBody>
          <a:bodyPr wrap="square" lIns="0" tIns="0" rIns="0" bIns="0" rtlCol="0" anchor="t"/>
          <a:lstStyle/>
          <a:p>
            <a:pPr marL="0" indent="0" algn="l">
              <a:lnSpc>
                <a:spcPct val="105000"/>
              </a:lnSpc>
              <a:buNone/>
            </a:pPr>
            <a:r>
              <a:rPr lang="en-US" sz="1230" dirty="0">
                <a:solidFill>
                  <a:srgbClr val="1B3A5F"/>
                </a:solidFill>
                <a:latin typeface="Calibri" pitchFamily="34" charset="0"/>
                <a:ea typeface="Calibri" pitchFamily="34" charset="-122"/>
                <a:cs typeface="Calibri" pitchFamily="34" charset="-120"/>
              </a:rPr>
              <a:t>A process with outputs but no inputs ("miracle")</a:t>
            </a:r>
            <a:endParaRPr lang="en-US" sz="1230" dirty="0"/>
          </a:p>
        </p:txBody>
      </p:sp>
      <p:sp>
        <p:nvSpPr>
          <p:cNvPr id="28" name="Shape 19"/>
          <p:cNvSpPr/>
          <p:nvPr/>
        </p:nvSpPr>
        <p:spPr>
          <a:xfrm>
            <a:off x="6519672" y="3474720"/>
            <a:ext cx="219456" cy="219456"/>
          </a:xfrm>
          <a:prstGeom prst="ellipse">
            <a:avLst/>
          </a:prstGeom>
          <a:solidFill>
            <a:srgbClr val="D9542B"/>
          </a:solidFill>
          <a:ln/>
        </p:spPr>
      </p:sp>
      <p:sp>
        <p:nvSpPr>
          <p:cNvPr id="29" name="Text 20"/>
          <p:cNvSpPr/>
          <p:nvPr/>
        </p:nvSpPr>
        <p:spPr>
          <a:xfrm>
            <a:off x="6519672" y="3447288"/>
            <a:ext cx="219456" cy="219456"/>
          </a:xfrm>
          <a:prstGeom prst="rect">
            <a:avLst/>
          </a:prstGeom>
          <a:noFill/>
          <a:ln/>
        </p:spPr>
        <p:txBody>
          <a:bodyPr wrap="square" lIns="0" tIns="0" rIns="0" bIns="0" rtlCol="0" anchor="ctr"/>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0" name="Text 21"/>
          <p:cNvSpPr/>
          <p:nvPr/>
        </p:nvSpPr>
        <p:spPr>
          <a:xfrm>
            <a:off x="6903720" y="3438144"/>
            <a:ext cx="4526280" cy="548640"/>
          </a:xfrm>
          <a:prstGeom prst="rect">
            <a:avLst/>
          </a:prstGeom>
          <a:noFill/>
          <a:ln/>
        </p:spPr>
        <p:txBody>
          <a:bodyPr wrap="square" lIns="0" tIns="0" rIns="0" bIns="0" rtlCol="0" anchor="t"/>
          <a:lstStyle/>
          <a:p>
            <a:pPr marL="0" indent="0" algn="l">
              <a:lnSpc>
                <a:spcPct val="105000"/>
              </a:lnSpc>
              <a:buNone/>
            </a:pPr>
            <a:r>
              <a:rPr lang="en-US" sz="1230" dirty="0">
                <a:solidFill>
                  <a:srgbClr val="1B3A5F"/>
                </a:solidFill>
                <a:latin typeface="Calibri" pitchFamily="34" charset="0"/>
                <a:ea typeface="Calibri" pitchFamily="34" charset="-122"/>
                <a:cs typeface="Calibri" pitchFamily="34" charset="-120"/>
              </a:rPr>
              <a:t>A process with inputs but no outputs ("black hole")</a:t>
            </a:r>
            <a:endParaRPr lang="en-US" sz="1230" dirty="0"/>
          </a:p>
        </p:txBody>
      </p:sp>
      <p:sp>
        <p:nvSpPr>
          <p:cNvPr id="31" name="Shape 22"/>
          <p:cNvSpPr/>
          <p:nvPr/>
        </p:nvSpPr>
        <p:spPr>
          <a:xfrm>
            <a:off x="6519672" y="4096512"/>
            <a:ext cx="219456" cy="219456"/>
          </a:xfrm>
          <a:prstGeom prst="ellipse">
            <a:avLst/>
          </a:prstGeom>
          <a:solidFill>
            <a:srgbClr val="D9542B"/>
          </a:solidFill>
          <a:ln/>
        </p:spPr>
      </p:sp>
      <p:sp>
        <p:nvSpPr>
          <p:cNvPr id="32" name="Text 23"/>
          <p:cNvSpPr/>
          <p:nvPr/>
        </p:nvSpPr>
        <p:spPr>
          <a:xfrm>
            <a:off x="6519672" y="4069080"/>
            <a:ext cx="219456" cy="219456"/>
          </a:xfrm>
          <a:prstGeom prst="rect">
            <a:avLst/>
          </a:prstGeom>
          <a:noFill/>
          <a:ln/>
        </p:spPr>
        <p:txBody>
          <a:bodyPr wrap="square" lIns="0" tIns="0" rIns="0" bIns="0" rtlCol="0" anchor="ctr"/>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3" name="Text 24"/>
          <p:cNvSpPr/>
          <p:nvPr/>
        </p:nvSpPr>
        <p:spPr>
          <a:xfrm>
            <a:off x="6903720" y="4059936"/>
            <a:ext cx="4526280" cy="548640"/>
          </a:xfrm>
          <a:prstGeom prst="rect">
            <a:avLst/>
          </a:prstGeom>
          <a:noFill/>
          <a:ln/>
        </p:spPr>
        <p:txBody>
          <a:bodyPr wrap="square" lIns="0" tIns="0" rIns="0" bIns="0" rtlCol="0" anchor="t"/>
          <a:lstStyle/>
          <a:p>
            <a:pPr marL="0" indent="0" algn="l">
              <a:lnSpc>
                <a:spcPct val="105000"/>
              </a:lnSpc>
              <a:buNone/>
            </a:pPr>
            <a:r>
              <a:rPr lang="en-US" sz="1230" dirty="0">
                <a:solidFill>
                  <a:srgbClr val="1B3A5F"/>
                </a:solidFill>
                <a:latin typeface="Calibri" pitchFamily="34" charset="0"/>
                <a:ea typeface="Calibri" pitchFamily="34" charset="-122"/>
                <a:cs typeface="Calibri" pitchFamily="34" charset="-120"/>
              </a:rPr>
              <a:t>Data flowing directly between two data stores</a:t>
            </a:r>
            <a:endParaRPr lang="en-US" sz="1230" dirty="0"/>
          </a:p>
        </p:txBody>
      </p:sp>
      <p:sp>
        <p:nvSpPr>
          <p:cNvPr id="34" name="Shape 25"/>
          <p:cNvSpPr/>
          <p:nvPr/>
        </p:nvSpPr>
        <p:spPr>
          <a:xfrm>
            <a:off x="6519672" y="4718304"/>
            <a:ext cx="219456" cy="219456"/>
          </a:xfrm>
          <a:prstGeom prst="ellipse">
            <a:avLst/>
          </a:prstGeom>
          <a:solidFill>
            <a:srgbClr val="D9542B"/>
          </a:solidFill>
          <a:ln/>
        </p:spPr>
      </p:sp>
      <p:sp>
        <p:nvSpPr>
          <p:cNvPr id="35" name="Text 26"/>
          <p:cNvSpPr/>
          <p:nvPr/>
        </p:nvSpPr>
        <p:spPr>
          <a:xfrm>
            <a:off x="6519672" y="4690872"/>
            <a:ext cx="219456" cy="219456"/>
          </a:xfrm>
          <a:prstGeom prst="rect">
            <a:avLst/>
          </a:prstGeom>
          <a:noFill/>
          <a:ln/>
        </p:spPr>
        <p:txBody>
          <a:bodyPr wrap="square" lIns="0" tIns="0" rIns="0" bIns="0" rtlCol="0" anchor="ctr"/>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6" name="Text 27"/>
          <p:cNvSpPr/>
          <p:nvPr/>
        </p:nvSpPr>
        <p:spPr>
          <a:xfrm>
            <a:off x="6903720" y="4681728"/>
            <a:ext cx="4526280" cy="548640"/>
          </a:xfrm>
          <a:prstGeom prst="rect">
            <a:avLst/>
          </a:prstGeom>
          <a:noFill/>
          <a:ln/>
        </p:spPr>
        <p:txBody>
          <a:bodyPr wrap="square" lIns="0" tIns="0" rIns="0" bIns="0" rtlCol="0" anchor="t"/>
          <a:lstStyle/>
          <a:p>
            <a:pPr marL="0" indent="0" algn="l">
              <a:lnSpc>
                <a:spcPct val="105000"/>
              </a:lnSpc>
              <a:buNone/>
            </a:pPr>
            <a:r>
              <a:rPr lang="en-US" sz="1230" dirty="0">
                <a:solidFill>
                  <a:srgbClr val="1B3A5F"/>
                </a:solidFill>
                <a:latin typeface="Calibri" pitchFamily="34" charset="0"/>
                <a:ea typeface="Calibri" pitchFamily="34" charset="-122"/>
                <a:cs typeface="Calibri" pitchFamily="34" charset="-120"/>
              </a:rPr>
              <a:t>Data flowing directly between two external entities</a:t>
            </a:r>
            <a:endParaRPr lang="en-US" sz="1230" dirty="0"/>
          </a:p>
        </p:txBody>
      </p:sp>
      <p:sp>
        <p:nvSpPr>
          <p:cNvPr id="37" name="Shape 28"/>
          <p:cNvSpPr/>
          <p:nvPr/>
        </p:nvSpPr>
        <p:spPr>
          <a:xfrm>
            <a:off x="6519672" y="5340096"/>
            <a:ext cx="219456" cy="219456"/>
          </a:xfrm>
          <a:prstGeom prst="ellipse">
            <a:avLst/>
          </a:prstGeom>
          <a:solidFill>
            <a:srgbClr val="D9542B"/>
          </a:solidFill>
          <a:ln/>
        </p:spPr>
      </p:sp>
      <p:sp>
        <p:nvSpPr>
          <p:cNvPr id="38" name="Text 29"/>
          <p:cNvSpPr/>
          <p:nvPr/>
        </p:nvSpPr>
        <p:spPr>
          <a:xfrm>
            <a:off x="6519672" y="5312664"/>
            <a:ext cx="219456" cy="219456"/>
          </a:xfrm>
          <a:prstGeom prst="rect">
            <a:avLst/>
          </a:prstGeom>
          <a:noFill/>
          <a:ln/>
        </p:spPr>
        <p:txBody>
          <a:bodyPr wrap="square" lIns="0" tIns="0" rIns="0" bIns="0" rtlCol="0" anchor="ctr"/>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9" name="Text 30"/>
          <p:cNvSpPr/>
          <p:nvPr/>
        </p:nvSpPr>
        <p:spPr>
          <a:xfrm>
            <a:off x="6903720" y="5303520"/>
            <a:ext cx="4526280" cy="548640"/>
          </a:xfrm>
          <a:prstGeom prst="rect">
            <a:avLst/>
          </a:prstGeom>
          <a:noFill/>
          <a:ln/>
        </p:spPr>
        <p:txBody>
          <a:bodyPr wrap="square" lIns="0" tIns="0" rIns="0" bIns="0" rtlCol="0" anchor="t"/>
          <a:lstStyle/>
          <a:p>
            <a:pPr marL="0" indent="0" algn="l">
              <a:lnSpc>
                <a:spcPct val="105000"/>
              </a:lnSpc>
              <a:buNone/>
            </a:pPr>
            <a:r>
              <a:rPr lang="en-US" sz="1230" dirty="0">
                <a:solidFill>
                  <a:srgbClr val="1B3A5F"/>
                </a:solidFill>
                <a:latin typeface="Calibri" pitchFamily="34" charset="0"/>
                <a:ea typeface="Calibri" pitchFamily="34" charset="-122"/>
                <a:cs typeface="Calibri" pitchFamily="34" charset="-120"/>
              </a:rPr>
              <a:t>Showing control logic or loops — a DFD is not a flowchart</a:t>
            </a:r>
            <a:endParaRPr lang="en-US" sz="1230" dirty="0"/>
          </a:p>
        </p:txBody>
      </p:sp>
      <p:pic>
        <p:nvPicPr>
          <p:cNvPr id="40" name="Picture 39" descr="gitam_logo.png"/>
          <p:cNvPicPr>
            <a:picLocks noChangeAspect="1"/>
          </p:cNvPicPr>
          <p:nvPr/>
        </p:nvPicPr>
        <p:blipFill>
          <a:blip r:embed="rId6"/>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2890815609"/>
      </p:ext>
    </p:extLst>
  </p:cSld>
  <p:clrMapOvr>
    <a:overrideClrMapping bg1="lt1" tx1="dk1" bg2="lt2" tx2="dk2" accent1="accent1" accent2="accent2" accent3="accent3" accent4="accent4" accent5="accent5" accent6="accent6" hlink="hlink" folHlink="folHlink"/>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rtlCol="0" anchor="ctr"/>
          <a:lstStyle/>
          <a:p>
            <a:pPr marL="0" indent="0" algn="l">
              <a:buNone/>
            </a:pPr>
            <a:r>
              <a:rPr lang="en-US" sz="1250" b="1" kern="0" spc="200" dirty="0">
                <a:solidFill>
                  <a:srgbClr val="0E8F8F"/>
                </a:solidFill>
                <a:latin typeface="Calibri" pitchFamily="34" charset="0"/>
                <a:ea typeface="Calibri" pitchFamily="34" charset="-122"/>
                <a:cs typeface="Calibri" pitchFamily="34" charset="-120"/>
              </a:rPr>
              <a:t>FUNCTION-ORIENTED DESIGN</a:t>
            </a:r>
            <a:endParaRPr lang="en-US" sz="1250" dirty="0"/>
          </a:p>
        </p:txBody>
      </p:sp>
      <p:sp>
        <p:nvSpPr>
          <p:cNvPr id="3" name="Text 1"/>
          <p:cNvSpPr/>
          <p:nvPr/>
        </p:nvSpPr>
        <p:spPr>
          <a:xfrm>
            <a:off x="548640" y="658368"/>
            <a:ext cx="10881360" cy="822960"/>
          </a:xfrm>
          <a:prstGeom prst="rect">
            <a:avLst/>
          </a:prstGeom>
          <a:noFill/>
          <a:ln/>
        </p:spPr>
        <p:txBody>
          <a:bodyPr wrap="square" rtlCol="0" anchor="t"/>
          <a:lstStyle/>
          <a:p>
            <a:pPr marL="0" indent="0" algn="l">
              <a:buNone/>
            </a:pPr>
            <a:r>
              <a:rPr lang="en-US" sz="3100" b="1" dirty="0">
                <a:solidFill>
                  <a:srgbClr val="13294B"/>
                </a:solidFill>
                <a:latin typeface="Cambria" pitchFamily="34" charset="0"/>
                <a:ea typeface="Cambria" pitchFamily="34" charset="-122"/>
                <a:cs typeface="Cambria" pitchFamily="34" charset="-120"/>
              </a:rPr>
              <a:t>Structured Design — DFD to structure chart</a:t>
            </a:r>
            <a:endParaRPr lang="en-US" sz="3100" dirty="0"/>
          </a:p>
        </p:txBody>
      </p:sp>
      <p:sp>
        <p:nvSpPr>
          <p:cNvPr id="6" name="Text 4"/>
          <p:cNvSpPr/>
          <p:nvPr/>
        </p:nvSpPr>
        <p:spPr>
          <a:xfrm>
            <a:off x="11292840" y="6382512"/>
            <a:ext cx="502920" cy="329184"/>
          </a:xfrm>
          <a:prstGeom prst="rect">
            <a:avLst/>
          </a:prstGeom>
          <a:noFill/>
          <a:ln/>
        </p:spPr>
        <p:txBody>
          <a:bodyPr wrap="square" rtlCol="0" anchor="ctr"/>
          <a:lstStyle/>
          <a:p>
            <a:pPr marL="0" indent="0" algn="r">
              <a:buNone/>
            </a:pPr>
            <a:r>
              <a:rPr lang="en-US" sz="1100" b="1" dirty="0">
                <a:solidFill>
                  <a:srgbClr val="35618E"/>
                </a:solidFill>
                <a:latin typeface="Calibri" pitchFamily="34" charset="0"/>
                <a:ea typeface="Calibri" pitchFamily="34" charset="-122"/>
                <a:cs typeface="Calibri" pitchFamily="34" charset="-120"/>
              </a:rPr>
              <a:t>24</a:t>
            </a:r>
            <a:endParaRPr lang="en-US" sz="1100" dirty="0"/>
          </a:p>
        </p:txBody>
      </p:sp>
      <p:sp>
        <p:nvSpPr>
          <p:cNvPr id="7" name="Text 5"/>
          <p:cNvSpPr/>
          <p:nvPr/>
        </p:nvSpPr>
        <p:spPr>
          <a:xfrm>
            <a:off x="566928" y="1554480"/>
            <a:ext cx="10972800" cy="457200"/>
          </a:xfrm>
          <a:prstGeom prst="rect">
            <a:avLst/>
          </a:prstGeom>
          <a:noFill/>
          <a:ln/>
        </p:spPr>
        <p:txBody>
          <a:bodyPr wrap="square" lIns="0" tIns="0" rIns="0" bIns="0" rtlCol="0" anchor="t"/>
          <a:lstStyle/>
          <a:p>
            <a:pPr marL="0" indent="0" algn="l">
              <a:lnSpc>
                <a:spcPct val="110000"/>
              </a:lnSpc>
              <a:buNone/>
            </a:pPr>
            <a:r>
              <a:rPr lang="en-US" sz="1380" dirty="0">
                <a:solidFill>
                  <a:srgbClr val="5C6B82"/>
                </a:solidFill>
                <a:latin typeface="Calibri" pitchFamily="34" charset="0"/>
                <a:ea typeface="Calibri" pitchFamily="34" charset="-122"/>
                <a:cs typeface="Calibri" pitchFamily="34" charset="-120"/>
              </a:rPr>
              <a:t>Structured design maps the analysis model (DFDs) onto a modular architecture (a structure chart). Two strategies decide the mapping.</a:t>
            </a:r>
            <a:endParaRPr lang="en-US" sz="1380" dirty="0"/>
          </a:p>
        </p:txBody>
      </p:sp>
      <p:sp>
        <p:nvSpPr>
          <p:cNvPr id="8" name="Shape 6"/>
          <p:cNvSpPr/>
          <p:nvPr/>
        </p:nvSpPr>
        <p:spPr>
          <a:xfrm>
            <a:off x="566928" y="2194560"/>
            <a:ext cx="5468112" cy="3840480"/>
          </a:xfrm>
          <a:prstGeom prst="roundRect">
            <a:avLst>
              <a:gd name="adj" fmla="val 2857"/>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txBody>
          <a:bodyPr/>
          <a:lstStyle/>
          <a:p>
            <a:endParaRPr lang="en-IN"/>
          </a:p>
        </p:txBody>
      </p:sp>
      <p:sp>
        <p:nvSpPr>
          <p:cNvPr id="9" name="Shape 7"/>
          <p:cNvSpPr/>
          <p:nvPr/>
        </p:nvSpPr>
        <p:spPr>
          <a:xfrm>
            <a:off x="822960" y="2432304"/>
            <a:ext cx="658368" cy="658368"/>
          </a:xfrm>
          <a:prstGeom prst="ellipse">
            <a:avLst/>
          </a:prstGeom>
          <a:solidFill>
            <a:srgbClr val="0E8F8F"/>
          </a:solidFill>
          <a:ln/>
          <a:effectLst>
            <a:outerShdw blurRad="1270" dist="635" dir="5400000" algn="bl" rotWithShape="0">
              <a:srgbClr val="1B3A5F">
                <a:alpha val="25000"/>
              </a:srgbClr>
            </a:outerShdw>
          </a:effectLst>
        </p:spPr>
      </p:sp>
      <p:pic>
        <p:nvPicPr>
          <p:cNvPr id="10" name="Image 0" descr="/home/claude/deck/icons/flow.png"/>
          <p:cNvPicPr>
            <a:picLocks noChangeAspect="1"/>
          </p:cNvPicPr>
          <p:nvPr/>
        </p:nvPicPr>
        <p:blipFill>
          <a:blip r:embed="rId4"/>
          <a:stretch>
            <a:fillRect/>
          </a:stretch>
        </p:blipFill>
        <p:spPr>
          <a:xfrm>
            <a:off x="994136" y="2603480"/>
            <a:ext cx="316017" cy="316017"/>
          </a:xfrm>
          <a:prstGeom prst="rect">
            <a:avLst/>
          </a:prstGeom>
        </p:spPr>
      </p:pic>
      <p:sp>
        <p:nvSpPr>
          <p:cNvPr id="11" name="Text 8"/>
          <p:cNvSpPr/>
          <p:nvPr/>
        </p:nvSpPr>
        <p:spPr>
          <a:xfrm>
            <a:off x="1591056" y="2542032"/>
            <a:ext cx="4297680" cy="457200"/>
          </a:xfrm>
          <a:prstGeom prst="rect">
            <a:avLst/>
          </a:prstGeom>
          <a:noFill/>
          <a:ln/>
        </p:spPr>
        <p:txBody>
          <a:bodyPr wrap="square" lIns="0" tIns="0" rIns="0" bIns="0" rtlCol="0" anchor="t"/>
          <a:lstStyle/>
          <a:p>
            <a:pPr marL="0" indent="0" algn="l">
              <a:lnSpc>
                <a:spcPct val="100000"/>
              </a:lnSpc>
              <a:buNone/>
            </a:pPr>
            <a:r>
              <a:rPr lang="en-US" sz="1600" b="1" dirty="0">
                <a:solidFill>
                  <a:srgbClr val="13294B"/>
                </a:solidFill>
                <a:latin typeface="Cambria" pitchFamily="34" charset="0"/>
                <a:ea typeface="Cambria" pitchFamily="34" charset="-122"/>
                <a:cs typeface="Cambria" pitchFamily="34" charset="-120"/>
              </a:rPr>
              <a:t>Transform analysis</a:t>
            </a:r>
            <a:endParaRPr lang="en-US" sz="1600" dirty="0"/>
          </a:p>
        </p:txBody>
      </p:sp>
      <p:sp>
        <p:nvSpPr>
          <p:cNvPr id="12" name="Text 9"/>
          <p:cNvSpPr/>
          <p:nvPr/>
        </p:nvSpPr>
        <p:spPr>
          <a:xfrm>
            <a:off x="841248" y="3246120"/>
            <a:ext cx="4937760" cy="1234440"/>
          </a:xfrm>
          <a:prstGeom prst="rect">
            <a:avLst/>
          </a:prstGeom>
          <a:noFill/>
          <a:ln/>
        </p:spPr>
        <p:txBody>
          <a:bodyPr wrap="square" lIns="0" tIns="0" rIns="0" bIns="0" rtlCol="0" anchor="t"/>
          <a:lstStyle/>
          <a:p>
            <a:pPr marL="0" indent="0" algn="l">
              <a:lnSpc>
                <a:spcPct val="114000"/>
              </a:lnSpc>
              <a:buNone/>
            </a:pPr>
            <a:r>
              <a:rPr lang="en-US" sz="1200" dirty="0">
                <a:solidFill>
                  <a:srgbClr val="5C6B82"/>
                </a:solidFill>
                <a:latin typeface="Calibri" pitchFamily="34" charset="0"/>
                <a:ea typeface="Calibri" pitchFamily="34" charset="-122"/>
                <a:cs typeface="Calibri" pitchFamily="34" charset="-120"/>
              </a:rPr>
              <a:t>Used when data flows through a clear input → transform → output path. Identify the "central transform", then factor the DFD into afferent (input), transform, and efferent (output) branches under a top module.</a:t>
            </a:r>
            <a:endParaRPr lang="en-US" sz="1200" dirty="0"/>
          </a:p>
        </p:txBody>
      </p:sp>
      <p:pic>
        <p:nvPicPr>
          <p:cNvPr id="13" name="Image 1" descr="/home/claude/deck/icons/arrow.png"/>
          <p:cNvPicPr>
            <a:picLocks noChangeAspect="1"/>
          </p:cNvPicPr>
          <p:nvPr/>
        </p:nvPicPr>
        <p:blipFill>
          <a:blip r:embed="rId5"/>
          <a:stretch>
            <a:fillRect/>
          </a:stretch>
        </p:blipFill>
        <p:spPr>
          <a:xfrm>
            <a:off x="859536" y="4553712"/>
            <a:ext cx="182880" cy="182880"/>
          </a:xfrm>
          <a:prstGeom prst="rect">
            <a:avLst/>
          </a:prstGeom>
        </p:spPr>
      </p:pic>
      <p:sp>
        <p:nvSpPr>
          <p:cNvPr id="14" name="Text 10"/>
          <p:cNvSpPr/>
          <p:nvPr/>
        </p:nvSpPr>
        <p:spPr>
          <a:xfrm>
            <a:off x="1170432" y="4507992"/>
            <a:ext cx="4663440" cy="457200"/>
          </a:xfrm>
          <a:prstGeom prst="rect">
            <a:avLst/>
          </a:prstGeom>
          <a:noFill/>
          <a:ln/>
        </p:spPr>
        <p:txBody>
          <a:bodyPr wrap="square" lIns="0" tIns="0" rIns="0" bIns="0" rtlCol="0" anchor="t"/>
          <a:lstStyle/>
          <a:p>
            <a:pPr marL="0" indent="0" algn="l">
              <a:lnSpc>
                <a:spcPct val="102000"/>
              </a:lnSpc>
              <a:buNone/>
            </a:pPr>
            <a:r>
              <a:rPr lang="en-US" sz="1160" b="1" dirty="0">
                <a:solidFill>
                  <a:srgbClr val="1B3A5F"/>
                </a:solidFill>
                <a:latin typeface="Calibri" pitchFamily="34" charset="0"/>
                <a:ea typeface="Calibri" pitchFamily="34" charset="-122"/>
                <a:cs typeface="Calibri" pitchFamily="34" charset="-120"/>
              </a:rPr>
              <a:t>Locate incoming &amp; outgoing flow boundaries</a:t>
            </a:r>
            <a:endParaRPr lang="en-US" sz="1160" dirty="0"/>
          </a:p>
        </p:txBody>
      </p:sp>
      <p:pic>
        <p:nvPicPr>
          <p:cNvPr id="15" name="Image 2" descr="/home/claude/deck/icons/arrow.png"/>
          <p:cNvPicPr>
            <a:picLocks noChangeAspect="1"/>
          </p:cNvPicPr>
          <p:nvPr/>
        </p:nvPicPr>
        <p:blipFill>
          <a:blip r:embed="rId5"/>
          <a:stretch>
            <a:fillRect/>
          </a:stretch>
        </p:blipFill>
        <p:spPr>
          <a:xfrm>
            <a:off x="859536" y="5029200"/>
            <a:ext cx="182880" cy="182880"/>
          </a:xfrm>
          <a:prstGeom prst="rect">
            <a:avLst/>
          </a:prstGeom>
        </p:spPr>
      </p:pic>
      <p:sp>
        <p:nvSpPr>
          <p:cNvPr id="16" name="Text 11"/>
          <p:cNvSpPr/>
          <p:nvPr/>
        </p:nvSpPr>
        <p:spPr>
          <a:xfrm>
            <a:off x="1170432" y="4983480"/>
            <a:ext cx="4663440" cy="457200"/>
          </a:xfrm>
          <a:prstGeom prst="rect">
            <a:avLst/>
          </a:prstGeom>
          <a:noFill/>
          <a:ln/>
        </p:spPr>
        <p:txBody>
          <a:bodyPr wrap="square" lIns="0" tIns="0" rIns="0" bIns="0" rtlCol="0" anchor="t"/>
          <a:lstStyle/>
          <a:p>
            <a:pPr marL="0" indent="0" algn="l">
              <a:lnSpc>
                <a:spcPct val="102000"/>
              </a:lnSpc>
              <a:buNone/>
            </a:pPr>
            <a:r>
              <a:rPr lang="en-US" sz="1160" b="1" dirty="0">
                <a:solidFill>
                  <a:srgbClr val="1B3A5F"/>
                </a:solidFill>
                <a:latin typeface="Calibri" pitchFamily="34" charset="0"/>
                <a:ea typeface="Calibri" pitchFamily="34" charset="-122"/>
                <a:cs typeface="Calibri" pitchFamily="34" charset="-120"/>
              </a:rPr>
              <a:t>Central transform becomes the main processing</a:t>
            </a:r>
            <a:endParaRPr lang="en-US" sz="1160" dirty="0"/>
          </a:p>
        </p:txBody>
      </p:sp>
      <p:pic>
        <p:nvPicPr>
          <p:cNvPr id="17" name="Image 3" descr="/home/claude/deck/icons/arrow.png"/>
          <p:cNvPicPr>
            <a:picLocks noChangeAspect="1"/>
          </p:cNvPicPr>
          <p:nvPr/>
        </p:nvPicPr>
        <p:blipFill>
          <a:blip r:embed="rId5"/>
          <a:stretch>
            <a:fillRect/>
          </a:stretch>
        </p:blipFill>
        <p:spPr>
          <a:xfrm>
            <a:off x="859536" y="5504688"/>
            <a:ext cx="182880" cy="182880"/>
          </a:xfrm>
          <a:prstGeom prst="rect">
            <a:avLst/>
          </a:prstGeom>
        </p:spPr>
      </p:pic>
      <p:sp>
        <p:nvSpPr>
          <p:cNvPr id="18" name="Text 12"/>
          <p:cNvSpPr/>
          <p:nvPr/>
        </p:nvSpPr>
        <p:spPr>
          <a:xfrm>
            <a:off x="1170432" y="5458968"/>
            <a:ext cx="4663440" cy="457200"/>
          </a:xfrm>
          <a:prstGeom prst="rect">
            <a:avLst/>
          </a:prstGeom>
          <a:noFill/>
          <a:ln/>
        </p:spPr>
        <p:txBody>
          <a:bodyPr wrap="square" lIns="0" tIns="0" rIns="0" bIns="0" rtlCol="0" anchor="t"/>
          <a:lstStyle/>
          <a:p>
            <a:pPr marL="0" indent="0" algn="l">
              <a:lnSpc>
                <a:spcPct val="102000"/>
              </a:lnSpc>
              <a:buNone/>
            </a:pPr>
            <a:r>
              <a:rPr lang="en-US" sz="1160" b="1" dirty="0">
                <a:solidFill>
                  <a:srgbClr val="1B3A5F"/>
                </a:solidFill>
                <a:latin typeface="Calibri" pitchFamily="34" charset="0"/>
                <a:ea typeface="Calibri" pitchFamily="34" charset="-122"/>
                <a:cs typeface="Calibri" pitchFamily="34" charset="-120"/>
              </a:rPr>
              <a:t>First-level factoring → input / transform / output</a:t>
            </a:r>
            <a:endParaRPr lang="en-US" sz="1160" dirty="0"/>
          </a:p>
        </p:txBody>
      </p:sp>
      <p:sp>
        <p:nvSpPr>
          <p:cNvPr id="19" name="Shape 13"/>
          <p:cNvSpPr/>
          <p:nvPr/>
        </p:nvSpPr>
        <p:spPr>
          <a:xfrm>
            <a:off x="6181344" y="2194560"/>
            <a:ext cx="5468112" cy="3840480"/>
          </a:xfrm>
          <a:prstGeom prst="roundRect">
            <a:avLst>
              <a:gd name="adj" fmla="val 2857"/>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sp>
      <p:sp>
        <p:nvSpPr>
          <p:cNvPr id="20" name="Shape 14"/>
          <p:cNvSpPr/>
          <p:nvPr/>
        </p:nvSpPr>
        <p:spPr>
          <a:xfrm>
            <a:off x="6437376" y="2432304"/>
            <a:ext cx="658368" cy="658368"/>
          </a:xfrm>
          <a:prstGeom prst="ellipse">
            <a:avLst/>
          </a:prstGeom>
          <a:solidFill>
            <a:srgbClr val="D98A28"/>
          </a:solidFill>
          <a:ln/>
          <a:effectLst>
            <a:outerShdw blurRad="1270" dist="635" dir="5400000" algn="bl" rotWithShape="0">
              <a:srgbClr val="1B3A5F">
                <a:alpha val="25000"/>
              </a:srgbClr>
            </a:outerShdw>
          </a:effectLst>
        </p:spPr>
      </p:sp>
      <p:pic>
        <p:nvPicPr>
          <p:cNvPr id="21" name="Image 4" descr="/home/claude/deck/icons/route.png"/>
          <p:cNvPicPr>
            <a:picLocks noChangeAspect="1"/>
          </p:cNvPicPr>
          <p:nvPr/>
        </p:nvPicPr>
        <p:blipFill>
          <a:blip r:embed="rId6"/>
          <a:stretch>
            <a:fillRect/>
          </a:stretch>
        </p:blipFill>
        <p:spPr>
          <a:xfrm>
            <a:off x="6608552" y="2603480"/>
            <a:ext cx="316017" cy="316017"/>
          </a:xfrm>
          <a:prstGeom prst="rect">
            <a:avLst/>
          </a:prstGeom>
        </p:spPr>
      </p:pic>
      <p:sp>
        <p:nvSpPr>
          <p:cNvPr id="22" name="Text 15"/>
          <p:cNvSpPr/>
          <p:nvPr/>
        </p:nvSpPr>
        <p:spPr>
          <a:xfrm>
            <a:off x="7205472" y="2542032"/>
            <a:ext cx="4297680" cy="457200"/>
          </a:xfrm>
          <a:prstGeom prst="rect">
            <a:avLst/>
          </a:prstGeom>
          <a:noFill/>
          <a:ln/>
        </p:spPr>
        <p:txBody>
          <a:bodyPr wrap="square" lIns="0" tIns="0" rIns="0" bIns="0" rtlCol="0" anchor="t"/>
          <a:lstStyle/>
          <a:p>
            <a:pPr marL="0" indent="0" algn="l">
              <a:lnSpc>
                <a:spcPct val="100000"/>
              </a:lnSpc>
              <a:buNone/>
            </a:pPr>
            <a:r>
              <a:rPr lang="en-US" sz="1600" b="1" dirty="0">
                <a:solidFill>
                  <a:srgbClr val="13294B"/>
                </a:solidFill>
                <a:latin typeface="Cambria" pitchFamily="34" charset="0"/>
                <a:ea typeface="Cambria" pitchFamily="34" charset="-122"/>
                <a:cs typeface="Cambria" pitchFamily="34" charset="-120"/>
              </a:rPr>
              <a:t>Transaction analysis</a:t>
            </a:r>
            <a:endParaRPr lang="en-US" sz="1600" dirty="0"/>
          </a:p>
        </p:txBody>
      </p:sp>
      <p:sp>
        <p:nvSpPr>
          <p:cNvPr id="23" name="Text 16"/>
          <p:cNvSpPr/>
          <p:nvPr/>
        </p:nvSpPr>
        <p:spPr>
          <a:xfrm>
            <a:off x="6455664" y="3246120"/>
            <a:ext cx="4937760" cy="1234440"/>
          </a:xfrm>
          <a:prstGeom prst="rect">
            <a:avLst/>
          </a:prstGeom>
          <a:noFill/>
          <a:ln/>
        </p:spPr>
        <p:txBody>
          <a:bodyPr wrap="square" lIns="0" tIns="0" rIns="0" bIns="0" rtlCol="0" anchor="t"/>
          <a:lstStyle/>
          <a:p>
            <a:pPr marL="0" indent="0" algn="l">
              <a:lnSpc>
                <a:spcPct val="114000"/>
              </a:lnSpc>
              <a:buNone/>
            </a:pPr>
            <a:r>
              <a:rPr lang="en-US" sz="1200" dirty="0">
                <a:solidFill>
                  <a:srgbClr val="5C6B82"/>
                </a:solidFill>
                <a:latin typeface="Calibri" pitchFamily="34" charset="0"/>
                <a:ea typeface="Calibri" pitchFamily="34" charset="-122"/>
                <a:cs typeface="Calibri" pitchFamily="34" charset="-120"/>
              </a:rPr>
              <a:t>Used when a single input triggers one of several distinct paths. A "transaction centre" dispatches to the appropriate action module based on the transaction type.</a:t>
            </a:r>
            <a:endParaRPr lang="en-US" sz="1200" dirty="0"/>
          </a:p>
        </p:txBody>
      </p:sp>
      <p:pic>
        <p:nvPicPr>
          <p:cNvPr id="24" name="Image 5" descr="/home/claude/deck/icons/arrow.png"/>
          <p:cNvPicPr>
            <a:picLocks noChangeAspect="1"/>
          </p:cNvPicPr>
          <p:nvPr/>
        </p:nvPicPr>
        <p:blipFill>
          <a:blip r:embed="rId5"/>
          <a:stretch>
            <a:fillRect/>
          </a:stretch>
        </p:blipFill>
        <p:spPr>
          <a:xfrm>
            <a:off x="6473952" y="4553712"/>
            <a:ext cx="182880" cy="182880"/>
          </a:xfrm>
          <a:prstGeom prst="rect">
            <a:avLst/>
          </a:prstGeom>
        </p:spPr>
      </p:pic>
      <p:sp>
        <p:nvSpPr>
          <p:cNvPr id="25" name="Text 17"/>
          <p:cNvSpPr/>
          <p:nvPr/>
        </p:nvSpPr>
        <p:spPr>
          <a:xfrm>
            <a:off x="6784848" y="4507992"/>
            <a:ext cx="4663440" cy="457200"/>
          </a:xfrm>
          <a:prstGeom prst="rect">
            <a:avLst/>
          </a:prstGeom>
          <a:noFill/>
          <a:ln/>
        </p:spPr>
        <p:txBody>
          <a:bodyPr wrap="square" lIns="0" tIns="0" rIns="0" bIns="0" rtlCol="0" anchor="t"/>
          <a:lstStyle/>
          <a:p>
            <a:pPr marL="0" indent="0" algn="l">
              <a:lnSpc>
                <a:spcPct val="102000"/>
              </a:lnSpc>
              <a:buNone/>
            </a:pPr>
            <a:r>
              <a:rPr lang="en-US" sz="1160" b="1" dirty="0">
                <a:solidFill>
                  <a:srgbClr val="1B3A5F"/>
                </a:solidFill>
                <a:latin typeface="Calibri" pitchFamily="34" charset="0"/>
                <a:ea typeface="Calibri" pitchFamily="34" charset="-122"/>
                <a:cs typeface="Calibri" pitchFamily="34" charset="-120"/>
              </a:rPr>
              <a:t>Identify the transaction centre (dispatcher)</a:t>
            </a:r>
            <a:endParaRPr lang="en-US" sz="1160" dirty="0"/>
          </a:p>
        </p:txBody>
      </p:sp>
      <p:pic>
        <p:nvPicPr>
          <p:cNvPr id="26" name="Image 6" descr="/home/claude/deck/icons/arrow.png"/>
          <p:cNvPicPr>
            <a:picLocks noChangeAspect="1"/>
          </p:cNvPicPr>
          <p:nvPr/>
        </p:nvPicPr>
        <p:blipFill>
          <a:blip r:embed="rId5"/>
          <a:stretch>
            <a:fillRect/>
          </a:stretch>
        </p:blipFill>
        <p:spPr>
          <a:xfrm>
            <a:off x="6473952" y="5029200"/>
            <a:ext cx="182880" cy="182880"/>
          </a:xfrm>
          <a:prstGeom prst="rect">
            <a:avLst/>
          </a:prstGeom>
        </p:spPr>
      </p:pic>
      <p:sp>
        <p:nvSpPr>
          <p:cNvPr id="27" name="Text 18"/>
          <p:cNvSpPr/>
          <p:nvPr/>
        </p:nvSpPr>
        <p:spPr>
          <a:xfrm>
            <a:off x="6784848" y="4983480"/>
            <a:ext cx="4663440" cy="457200"/>
          </a:xfrm>
          <a:prstGeom prst="rect">
            <a:avLst/>
          </a:prstGeom>
          <a:noFill/>
          <a:ln/>
        </p:spPr>
        <p:txBody>
          <a:bodyPr wrap="square" lIns="0" tIns="0" rIns="0" bIns="0" rtlCol="0" anchor="t"/>
          <a:lstStyle/>
          <a:p>
            <a:pPr marL="0" indent="0" algn="l">
              <a:lnSpc>
                <a:spcPct val="102000"/>
              </a:lnSpc>
              <a:buNone/>
            </a:pPr>
            <a:r>
              <a:rPr lang="en-US" sz="1160" b="1" dirty="0">
                <a:solidFill>
                  <a:srgbClr val="1B3A5F"/>
                </a:solidFill>
                <a:latin typeface="Calibri" pitchFamily="34" charset="0"/>
                <a:ea typeface="Calibri" pitchFamily="34" charset="-122"/>
                <a:cs typeface="Calibri" pitchFamily="34" charset="-120"/>
              </a:rPr>
              <a:t>Each transaction type → its own sub-tree</a:t>
            </a:r>
            <a:endParaRPr lang="en-US" sz="1160" dirty="0"/>
          </a:p>
        </p:txBody>
      </p:sp>
      <p:pic>
        <p:nvPicPr>
          <p:cNvPr id="28" name="Image 7" descr="/home/claude/deck/icons/arrow.png"/>
          <p:cNvPicPr>
            <a:picLocks noChangeAspect="1"/>
          </p:cNvPicPr>
          <p:nvPr/>
        </p:nvPicPr>
        <p:blipFill>
          <a:blip r:embed="rId5"/>
          <a:stretch>
            <a:fillRect/>
          </a:stretch>
        </p:blipFill>
        <p:spPr>
          <a:xfrm>
            <a:off x="6473952" y="5504688"/>
            <a:ext cx="182880" cy="182880"/>
          </a:xfrm>
          <a:prstGeom prst="rect">
            <a:avLst/>
          </a:prstGeom>
        </p:spPr>
      </p:pic>
      <p:sp>
        <p:nvSpPr>
          <p:cNvPr id="29" name="Text 19"/>
          <p:cNvSpPr/>
          <p:nvPr/>
        </p:nvSpPr>
        <p:spPr>
          <a:xfrm>
            <a:off x="6784848" y="5458968"/>
            <a:ext cx="4663440" cy="457200"/>
          </a:xfrm>
          <a:prstGeom prst="rect">
            <a:avLst/>
          </a:prstGeom>
          <a:noFill/>
          <a:ln/>
        </p:spPr>
        <p:txBody>
          <a:bodyPr wrap="square" lIns="0" tIns="0" rIns="0" bIns="0" rtlCol="0" anchor="t"/>
          <a:lstStyle/>
          <a:p>
            <a:pPr marL="0" indent="0" algn="l">
              <a:lnSpc>
                <a:spcPct val="102000"/>
              </a:lnSpc>
              <a:buNone/>
            </a:pPr>
            <a:r>
              <a:rPr lang="en-US" sz="1160" b="1" dirty="0">
                <a:solidFill>
                  <a:srgbClr val="1B3A5F"/>
                </a:solidFill>
                <a:latin typeface="Calibri" pitchFamily="34" charset="0"/>
                <a:ea typeface="Calibri" pitchFamily="34" charset="-122"/>
                <a:cs typeface="Calibri" pitchFamily="34" charset="-120"/>
              </a:rPr>
              <a:t>Common actions factored into shared modules</a:t>
            </a:r>
            <a:endParaRPr lang="en-US" sz="1160" dirty="0"/>
          </a:p>
        </p:txBody>
      </p:sp>
      <p:pic>
        <p:nvPicPr>
          <p:cNvPr id="30" name="Picture 29" descr="gitam_logo.png"/>
          <p:cNvPicPr>
            <a:picLocks noChangeAspect="1"/>
          </p:cNvPicPr>
          <p:nvPr/>
        </p:nvPicPr>
        <p:blipFill>
          <a:blip r:embed="rId7"/>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951780203"/>
      </p:ext>
    </p:extLst>
  </p:cSld>
  <p:clrMapOvr>
    <a:overrideClrMapping bg1="lt1" tx1="dk1" bg2="lt2" tx2="dk2" accent1="accent1" accent2="accent2" accent3="accent3" accent4="accent4" accent5="accent5" accent6="accent6" hlink="hlink" folHlink="folHlink"/>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2" name="Rectangle 1"/>
          <p:cNvSpPr/>
          <p:nvPr/>
        </p:nvSpPr>
        <p:spPr>
          <a:xfrm>
            <a:off x="0" y="12528"/>
            <a:ext cx="11450229" cy="3847207"/>
          </a:xfrm>
          <a:prstGeom prst="rect">
            <a:avLst/>
          </a:prstGeom>
        </p:spPr>
        <p:txBody>
          <a:bodyPr wrap="square">
            <a:spAutoFit/>
          </a:bodyPr>
          <a:lstStyle/>
          <a:p>
            <a:r>
              <a:rPr lang="en-US" b="1" dirty="0">
                <a:solidFill>
                  <a:srgbClr val="000000"/>
                </a:solidFill>
                <a:latin typeface="Harmony OS"/>
              </a:rPr>
              <a:t>                                                     </a:t>
            </a:r>
            <a:r>
              <a:rPr lang="en-US" sz="2800" b="1" dirty="0">
                <a:solidFill>
                  <a:srgbClr val="000000"/>
                </a:solidFill>
                <a:latin typeface="Harmony OS"/>
              </a:rPr>
              <a:t>Structured Chart </a:t>
            </a:r>
          </a:p>
          <a:p>
            <a:r>
              <a:rPr lang="en-US" sz="2400" b="1" dirty="0">
                <a:solidFill>
                  <a:srgbClr val="000000"/>
                </a:solidFill>
                <a:latin typeface="Times New Roman" panose="02020603050405020304" pitchFamily="18" charset="0"/>
                <a:cs typeface="Times New Roman" panose="02020603050405020304" pitchFamily="18" charset="0"/>
              </a:rPr>
              <a:t>Modules:</a:t>
            </a:r>
            <a:r>
              <a:rPr lang="en-US" sz="2400" dirty="0">
                <a:solidFill>
                  <a:srgbClr val="000000"/>
                </a:solidFill>
                <a:latin typeface="Times New Roman" panose="02020603050405020304" pitchFamily="18" charset="0"/>
                <a:cs typeface="Times New Roman" panose="02020603050405020304" pitchFamily="18" charset="0"/>
              </a:rPr>
              <a:t> These are the system components, represented as boxes. The modules are arranged from top to bottom in order of hierarchy. High-level modules are placed at the top while lower-level, more detailed modules are placed below.</a:t>
            </a:r>
          </a:p>
          <a:p>
            <a:endParaRPr lang="en-US" sz="2400" dirty="0">
              <a:solidFill>
                <a:srgbClr val="000000"/>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b="1" dirty="0">
                <a:solidFill>
                  <a:srgbClr val="000000"/>
                </a:solidFill>
                <a:latin typeface="Times New Roman" panose="02020603050405020304" pitchFamily="18" charset="0"/>
                <a:cs typeface="Times New Roman" panose="02020603050405020304" pitchFamily="18" charset="0"/>
              </a:rPr>
              <a:t>Lines:</a:t>
            </a:r>
            <a:r>
              <a:rPr lang="en-US" sz="2400" dirty="0">
                <a:solidFill>
                  <a:srgbClr val="000000"/>
                </a:solidFill>
                <a:latin typeface="Times New Roman" panose="02020603050405020304" pitchFamily="18" charset="0"/>
                <a:cs typeface="Times New Roman" panose="02020603050405020304" pitchFamily="18" charset="0"/>
              </a:rPr>
              <a:t> Lines are used to connect the modules to show the dependencies between them. Control flows downwards through the structure chart.</a:t>
            </a:r>
          </a:p>
          <a:p>
            <a:pPr>
              <a:buFont typeface="Arial" panose="020B0604020202020204" pitchFamily="34" charset="0"/>
              <a:buChar char="•"/>
            </a:pPr>
            <a:endParaRPr lang="en-US" sz="2400" b="1" dirty="0">
              <a:solidFill>
                <a:srgbClr val="000000"/>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b="1" dirty="0">
                <a:solidFill>
                  <a:srgbClr val="000000"/>
                </a:solidFill>
                <a:latin typeface="Times New Roman" panose="02020603050405020304" pitchFamily="18" charset="0"/>
                <a:cs typeface="Times New Roman" panose="02020603050405020304" pitchFamily="18" charset="0"/>
              </a:rPr>
              <a:t>Control:</a:t>
            </a:r>
            <a:r>
              <a:rPr lang="en-US" sz="2400" dirty="0">
                <a:solidFill>
                  <a:srgbClr val="000000"/>
                </a:solidFill>
                <a:latin typeface="Times New Roman" panose="02020603050405020304" pitchFamily="18" charset="0"/>
                <a:cs typeface="Times New Roman" panose="02020603050405020304" pitchFamily="18" charset="0"/>
              </a:rPr>
              <a:t> The lines indicate the control relationships between modules. A control relation means one module invokes or calls the other module below it.</a:t>
            </a: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pic>
        <p:nvPicPr>
          <p:cNvPr id="3" name="Picture 2" descr="gitam_logo.png"/>
          <p:cNvPicPr>
            <a:picLocks noChangeAspect="1"/>
          </p:cNvPicPr>
          <p:nvPr/>
        </p:nvPicPr>
        <p:blipFill>
          <a:blip r:embed="rId3"/>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2115831441"/>
      </p:ext>
    </p:extLst>
  </p:cSld>
  <p:clrMapOvr>
    <a:overrideClrMapping bg1="lt1" tx1="dk1" bg2="lt2" tx2="dk2" accent1="accent1" accent2="accent2" accent3="accent3" accent4="accent4" accent5="accent5" accent6="accent6" hlink="hlink" folHlink="folHlink"/>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rtlCol="0" anchor="ctr"/>
          <a:lstStyle/>
          <a:p>
            <a:pPr marL="0" indent="0" algn="l">
              <a:buNone/>
            </a:pPr>
            <a:r>
              <a:rPr lang="en-US" sz="1250" b="1" kern="0" spc="200" dirty="0">
                <a:solidFill>
                  <a:srgbClr val="0E8F8F"/>
                </a:solidFill>
                <a:latin typeface="Calibri" pitchFamily="34" charset="0"/>
                <a:ea typeface="Calibri" pitchFamily="34" charset="-122"/>
                <a:cs typeface="Calibri" pitchFamily="34" charset="-120"/>
              </a:rPr>
              <a:t>FUNCTION-ORIENTED DESIGN</a:t>
            </a:r>
            <a:endParaRPr lang="en-US" sz="1250" dirty="0"/>
          </a:p>
        </p:txBody>
      </p:sp>
      <p:sp>
        <p:nvSpPr>
          <p:cNvPr id="3" name="Text 1"/>
          <p:cNvSpPr/>
          <p:nvPr/>
        </p:nvSpPr>
        <p:spPr>
          <a:xfrm>
            <a:off x="548640" y="658368"/>
            <a:ext cx="10881360" cy="822960"/>
          </a:xfrm>
          <a:prstGeom prst="rect">
            <a:avLst/>
          </a:prstGeom>
          <a:noFill/>
          <a:ln/>
        </p:spPr>
        <p:txBody>
          <a:bodyPr wrap="square" rtlCol="0" anchor="t"/>
          <a:lstStyle/>
          <a:p>
            <a:pPr marL="0" indent="0" algn="l">
              <a:buNone/>
            </a:pPr>
            <a:r>
              <a:rPr lang="en-US" sz="3100" b="1" dirty="0">
                <a:solidFill>
                  <a:srgbClr val="13294B"/>
                </a:solidFill>
                <a:latin typeface="Cambria" pitchFamily="34" charset="0"/>
                <a:ea typeface="Cambria" pitchFamily="34" charset="-122"/>
                <a:cs typeface="Cambria" pitchFamily="34" charset="-120"/>
              </a:rPr>
              <a:t>The structure chart</a:t>
            </a:r>
            <a:endParaRPr lang="en-US" sz="3100" dirty="0"/>
          </a:p>
        </p:txBody>
      </p:sp>
      <p:sp>
        <p:nvSpPr>
          <p:cNvPr id="6" name="Text 4"/>
          <p:cNvSpPr/>
          <p:nvPr/>
        </p:nvSpPr>
        <p:spPr>
          <a:xfrm>
            <a:off x="11292840" y="6382512"/>
            <a:ext cx="502920" cy="329184"/>
          </a:xfrm>
          <a:prstGeom prst="rect">
            <a:avLst/>
          </a:prstGeom>
          <a:noFill/>
          <a:ln/>
        </p:spPr>
        <p:txBody>
          <a:bodyPr wrap="square" rtlCol="0" anchor="ctr"/>
          <a:lstStyle/>
          <a:p>
            <a:pPr marL="0" indent="0" algn="r">
              <a:buNone/>
            </a:pPr>
            <a:r>
              <a:rPr lang="en-US" sz="1100" b="1" dirty="0">
                <a:solidFill>
                  <a:srgbClr val="35618E"/>
                </a:solidFill>
                <a:latin typeface="Calibri" pitchFamily="34" charset="0"/>
                <a:ea typeface="Calibri" pitchFamily="34" charset="-122"/>
                <a:cs typeface="Calibri" pitchFamily="34" charset="-120"/>
              </a:rPr>
              <a:t>25</a:t>
            </a:r>
            <a:endParaRPr lang="en-US" sz="1100" dirty="0"/>
          </a:p>
        </p:txBody>
      </p:sp>
      <p:sp>
        <p:nvSpPr>
          <p:cNvPr id="7" name="Text 5"/>
          <p:cNvSpPr/>
          <p:nvPr/>
        </p:nvSpPr>
        <p:spPr>
          <a:xfrm>
            <a:off x="566928" y="1554480"/>
            <a:ext cx="10972800" cy="502920"/>
          </a:xfrm>
          <a:prstGeom prst="rect">
            <a:avLst/>
          </a:prstGeom>
          <a:noFill/>
          <a:ln/>
        </p:spPr>
        <p:txBody>
          <a:bodyPr wrap="square" lIns="0" tIns="0" rIns="0" bIns="0" rtlCol="0" anchor="t"/>
          <a:lstStyle/>
          <a:p>
            <a:pPr marL="0" indent="0" algn="l">
              <a:lnSpc>
                <a:spcPct val="110000"/>
              </a:lnSpc>
              <a:buNone/>
            </a:pPr>
            <a:r>
              <a:rPr lang="en-US" sz="1350" dirty="0">
                <a:solidFill>
                  <a:srgbClr val="5C6B82"/>
                </a:solidFill>
                <a:latin typeface="Calibri" pitchFamily="34" charset="0"/>
                <a:ea typeface="Calibri" pitchFamily="34" charset="-122"/>
                <a:cs typeface="Calibri" pitchFamily="34" charset="-120"/>
              </a:rPr>
              <a:t>A structure chart is the primary output of structured design: a tree of modules showing the call hierarchy and the data / control couples passed between them.</a:t>
            </a:r>
            <a:endParaRPr lang="en-US" sz="1350" dirty="0"/>
          </a:p>
        </p:txBody>
      </p:sp>
      <p:sp>
        <p:nvSpPr>
          <p:cNvPr id="8" name="Shape 6"/>
          <p:cNvSpPr/>
          <p:nvPr/>
        </p:nvSpPr>
        <p:spPr>
          <a:xfrm>
            <a:off x="5029200" y="2286000"/>
            <a:ext cx="2103120" cy="566928"/>
          </a:xfrm>
          <a:prstGeom prst="roundRect">
            <a:avLst>
              <a:gd name="adj" fmla="val 11290"/>
            </a:avLst>
          </a:prstGeom>
          <a:solidFill>
            <a:srgbClr val="13294B"/>
          </a:solidFill>
          <a:ln/>
          <a:effectLst>
            <a:outerShdw blurRad="1016" dist="508" dir="5400000" algn="bl" rotWithShape="0">
              <a:srgbClr val="1B3A5F">
                <a:alpha val="20000"/>
              </a:srgbClr>
            </a:outerShdw>
          </a:effectLst>
        </p:spPr>
      </p:sp>
      <p:sp>
        <p:nvSpPr>
          <p:cNvPr id="9" name="Text 7"/>
          <p:cNvSpPr/>
          <p:nvPr/>
        </p:nvSpPr>
        <p:spPr>
          <a:xfrm>
            <a:off x="5029200" y="2286000"/>
            <a:ext cx="2103120" cy="566928"/>
          </a:xfrm>
          <a:prstGeom prst="rect">
            <a:avLst/>
          </a:prstGeom>
          <a:noFill/>
          <a:ln/>
        </p:spPr>
        <p:txBody>
          <a:bodyPr wrap="square" lIns="0" tIns="0" rIns="0" bIns="0" rtlCol="0" anchor="ctr"/>
          <a:lstStyle/>
          <a:p>
            <a:pPr marL="0" indent="0" algn="ctr">
              <a:lnSpc>
                <a:spcPct val="100000"/>
              </a:lnSpc>
              <a:buNone/>
            </a:pPr>
            <a:r>
              <a:rPr lang="en-US" sz="1200" b="1" dirty="0">
                <a:solidFill>
                  <a:srgbClr val="FFFFFF"/>
                </a:solidFill>
                <a:latin typeface="Calibri" pitchFamily="34" charset="0"/>
                <a:ea typeface="Calibri" pitchFamily="34" charset="-122"/>
                <a:cs typeface="Calibri" pitchFamily="34" charset="-120"/>
              </a:rPr>
              <a:t>Process Payroll</a:t>
            </a:r>
            <a:endParaRPr lang="en-US" sz="1200" dirty="0"/>
          </a:p>
        </p:txBody>
      </p:sp>
      <p:sp>
        <p:nvSpPr>
          <p:cNvPr id="10" name="Shape 8"/>
          <p:cNvSpPr/>
          <p:nvPr/>
        </p:nvSpPr>
        <p:spPr>
          <a:xfrm flipV="1">
            <a:off x="3474720" y="2852928"/>
            <a:ext cx="2011650" cy="713232"/>
          </a:xfrm>
          <a:prstGeom prst="line">
            <a:avLst/>
          </a:prstGeom>
          <a:noFill/>
          <a:ln w="20320">
            <a:solidFill>
              <a:srgbClr val="35618E"/>
            </a:solidFill>
            <a:prstDash val="solid"/>
          </a:ln>
        </p:spPr>
      </p:sp>
      <p:sp>
        <p:nvSpPr>
          <p:cNvPr id="11" name="Shape 9"/>
          <p:cNvSpPr/>
          <p:nvPr/>
        </p:nvSpPr>
        <p:spPr>
          <a:xfrm>
            <a:off x="6080760" y="2852928"/>
            <a:ext cx="0" cy="713232"/>
          </a:xfrm>
          <a:prstGeom prst="line">
            <a:avLst/>
          </a:prstGeom>
          <a:noFill/>
          <a:ln w="20320">
            <a:solidFill>
              <a:srgbClr val="35618E"/>
            </a:solidFill>
            <a:prstDash val="solid"/>
          </a:ln>
        </p:spPr>
      </p:sp>
      <p:sp>
        <p:nvSpPr>
          <p:cNvPr id="12" name="Shape 10"/>
          <p:cNvSpPr/>
          <p:nvPr/>
        </p:nvSpPr>
        <p:spPr>
          <a:xfrm>
            <a:off x="6675120" y="2852928"/>
            <a:ext cx="2103120" cy="713232"/>
          </a:xfrm>
          <a:prstGeom prst="line">
            <a:avLst/>
          </a:prstGeom>
          <a:noFill/>
          <a:ln w="20320">
            <a:solidFill>
              <a:srgbClr val="35618E"/>
            </a:solidFill>
            <a:prstDash val="solid"/>
          </a:ln>
        </p:spPr>
      </p:sp>
      <p:sp>
        <p:nvSpPr>
          <p:cNvPr id="13" name="Shape 11"/>
          <p:cNvSpPr/>
          <p:nvPr/>
        </p:nvSpPr>
        <p:spPr>
          <a:xfrm>
            <a:off x="2468880" y="3566160"/>
            <a:ext cx="1828800" cy="566928"/>
          </a:xfrm>
          <a:prstGeom prst="roundRect">
            <a:avLst>
              <a:gd name="adj" fmla="val 11290"/>
            </a:avLst>
          </a:prstGeom>
          <a:solidFill>
            <a:srgbClr val="0E8F8F"/>
          </a:solidFill>
          <a:ln/>
          <a:effectLst>
            <a:outerShdw blurRad="1016" dist="508" dir="5400000" algn="bl" rotWithShape="0">
              <a:srgbClr val="1B3A5F">
                <a:alpha val="20000"/>
              </a:srgbClr>
            </a:outerShdw>
          </a:effectLst>
        </p:spPr>
      </p:sp>
      <p:sp>
        <p:nvSpPr>
          <p:cNvPr id="14" name="Text 12"/>
          <p:cNvSpPr/>
          <p:nvPr/>
        </p:nvSpPr>
        <p:spPr>
          <a:xfrm>
            <a:off x="2468880" y="3566160"/>
            <a:ext cx="1828800" cy="566928"/>
          </a:xfrm>
          <a:prstGeom prst="rect">
            <a:avLst/>
          </a:prstGeom>
          <a:noFill/>
          <a:ln/>
        </p:spPr>
        <p:txBody>
          <a:bodyPr wrap="square" lIns="0" tIns="0" rIns="0" bIns="0" rtlCol="0" anchor="ctr"/>
          <a:lstStyle/>
          <a:p>
            <a:pPr marL="0" indent="0" algn="ctr">
              <a:lnSpc>
                <a:spcPct val="100000"/>
              </a:lnSpc>
              <a:buNone/>
            </a:pPr>
            <a:r>
              <a:rPr lang="en-US" sz="1200" b="1" dirty="0">
                <a:solidFill>
                  <a:srgbClr val="FFFFFF"/>
                </a:solidFill>
                <a:latin typeface="Calibri" pitchFamily="34" charset="0"/>
                <a:ea typeface="Calibri" pitchFamily="34" charset="-122"/>
                <a:cs typeface="Calibri" pitchFamily="34" charset="-120"/>
              </a:rPr>
              <a:t>Get Employee</a:t>
            </a:r>
            <a:endParaRPr lang="en-US" sz="1200" dirty="0"/>
          </a:p>
        </p:txBody>
      </p:sp>
      <p:sp>
        <p:nvSpPr>
          <p:cNvPr id="15" name="Shape 13"/>
          <p:cNvSpPr/>
          <p:nvPr/>
        </p:nvSpPr>
        <p:spPr>
          <a:xfrm>
            <a:off x="5257800" y="3566160"/>
            <a:ext cx="1645920" cy="566928"/>
          </a:xfrm>
          <a:prstGeom prst="roundRect">
            <a:avLst>
              <a:gd name="adj" fmla="val 11290"/>
            </a:avLst>
          </a:prstGeom>
          <a:solidFill>
            <a:srgbClr val="0E8F8F"/>
          </a:solidFill>
          <a:ln/>
          <a:effectLst>
            <a:outerShdw blurRad="1016" dist="508" dir="5400000" algn="bl" rotWithShape="0">
              <a:srgbClr val="1B3A5F">
                <a:alpha val="20000"/>
              </a:srgbClr>
            </a:outerShdw>
          </a:effectLst>
        </p:spPr>
      </p:sp>
      <p:sp>
        <p:nvSpPr>
          <p:cNvPr id="16" name="Text 14"/>
          <p:cNvSpPr/>
          <p:nvPr/>
        </p:nvSpPr>
        <p:spPr>
          <a:xfrm>
            <a:off x="5257800" y="3566160"/>
            <a:ext cx="1645920" cy="566928"/>
          </a:xfrm>
          <a:prstGeom prst="rect">
            <a:avLst/>
          </a:prstGeom>
          <a:noFill/>
          <a:ln/>
        </p:spPr>
        <p:txBody>
          <a:bodyPr wrap="square" lIns="0" tIns="0" rIns="0" bIns="0" rtlCol="0" anchor="ctr"/>
          <a:lstStyle/>
          <a:p>
            <a:pPr marL="0" indent="0" algn="ctr">
              <a:lnSpc>
                <a:spcPct val="100000"/>
              </a:lnSpc>
              <a:buNone/>
            </a:pPr>
            <a:r>
              <a:rPr lang="en-US" sz="1200" b="1" dirty="0">
                <a:solidFill>
                  <a:srgbClr val="FFFFFF"/>
                </a:solidFill>
                <a:latin typeface="Calibri" pitchFamily="34" charset="0"/>
                <a:ea typeface="Calibri" pitchFamily="34" charset="-122"/>
                <a:cs typeface="Calibri" pitchFamily="34" charset="-120"/>
              </a:rPr>
              <a:t>Compute Pay</a:t>
            </a:r>
            <a:endParaRPr lang="en-US" sz="1200" dirty="0"/>
          </a:p>
        </p:txBody>
      </p:sp>
      <p:sp>
        <p:nvSpPr>
          <p:cNvPr id="17" name="Shape 15"/>
          <p:cNvSpPr/>
          <p:nvPr/>
        </p:nvSpPr>
        <p:spPr>
          <a:xfrm>
            <a:off x="7955280" y="3566160"/>
            <a:ext cx="1737360" cy="566928"/>
          </a:xfrm>
          <a:prstGeom prst="roundRect">
            <a:avLst>
              <a:gd name="adj" fmla="val 11290"/>
            </a:avLst>
          </a:prstGeom>
          <a:solidFill>
            <a:srgbClr val="0E8F8F"/>
          </a:solidFill>
          <a:ln/>
          <a:effectLst>
            <a:outerShdw blurRad="1016" dist="508" dir="5400000" algn="bl" rotWithShape="0">
              <a:srgbClr val="1B3A5F">
                <a:alpha val="20000"/>
              </a:srgbClr>
            </a:outerShdw>
          </a:effectLst>
        </p:spPr>
      </p:sp>
      <p:sp>
        <p:nvSpPr>
          <p:cNvPr id="18" name="Text 16"/>
          <p:cNvSpPr/>
          <p:nvPr/>
        </p:nvSpPr>
        <p:spPr>
          <a:xfrm>
            <a:off x="7955280" y="3566160"/>
            <a:ext cx="1737360" cy="566928"/>
          </a:xfrm>
          <a:prstGeom prst="rect">
            <a:avLst/>
          </a:prstGeom>
          <a:noFill/>
          <a:ln/>
        </p:spPr>
        <p:txBody>
          <a:bodyPr wrap="square" lIns="0" tIns="0" rIns="0" bIns="0" rtlCol="0" anchor="ctr"/>
          <a:lstStyle/>
          <a:p>
            <a:pPr marL="0" indent="0" algn="ctr">
              <a:lnSpc>
                <a:spcPct val="100000"/>
              </a:lnSpc>
              <a:buNone/>
            </a:pPr>
            <a:r>
              <a:rPr lang="en-US" sz="1200" b="1" dirty="0">
                <a:solidFill>
                  <a:srgbClr val="FFFFFF"/>
                </a:solidFill>
                <a:latin typeface="Calibri" pitchFamily="34" charset="0"/>
                <a:ea typeface="Calibri" pitchFamily="34" charset="-122"/>
                <a:cs typeface="Calibri" pitchFamily="34" charset="-120"/>
              </a:rPr>
              <a:t>Print Cheque</a:t>
            </a:r>
            <a:endParaRPr lang="en-US" sz="1200" dirty="0"/>
          </a:p>
        </p:txBody>
      </p:sp>
      <p:sp>
        <p:nvSpPr>
          <p:cNvPr id="19" name="Shape 17"/>
          <p:cNvSpPr/>
          <p:nvPr/>
        </p:nvSpPr>
        <p:spPr>
          <a:xfrm flipH="1">
            <a:off x="2331719" y="4133088"/>
            <a:ext cx="640079" cy="692080"/>
          </a:xfrm>
          <a:prstGeom prst="line">
            <a:avLst/>
          </a:prstGeom>
          <a:noFill/>
          <a:ln w="20320">
            <a:solidFill>
              <a:srgbClr val="35618E"/>
            </a:solidFill>
            <a:prstDash val="solid"/>
          </a:ln>
        </p:spPr>
      </p:sp>
      <p:sp>
        <p:nvSpPr>
          <p:cNvPr id="20" name="Shape 18"/>
          <p:cNvSpPr/>
          <p:nvPr/>
        </p:nvSpPr>
        <p:spPr>
          <a:xfrm>
            <a:off x="3474720" y="4133088"/>
            <a:ext cx="640080" cy="713232"/>
          </a:xfrm>
          <a:prstGeom prst="line">
            <a:avLst/>
          </a:prstGeom>
          <a:noFill/>
          <a:ln w="20320">
            <a:solidFill>
              <a:srgbClr val="35618E"/>
            </a:solidFill>
            <a:prstDash val="solid"/>
          </a:ln>
        </p:spPr>
      </p:sp>
      <p:sp>
        <p:nvSpPr>
          <p:cNvPr id="21" name="Shape 19"/>
          <p:cNvSpPr/>
          <p:nvPr/>
        </p:nvSpPr>
        <p:spPr>
          <a:xfrm>
            <a:off x="1554480" y="4846320"/>
            <a:ext cx="1645920" cy="566928"/>
          </a:xfrm>
          <a:prstGeom prst="roundRect">
            <a:avLst>
              <a:gd name="adj" fmla="val 11290"/>
            </a:avLst>
          </a:prstGeom>
          <a:solidFill>
            <a:srgbClr val="D98A28"/>
          </a:solidFill>
          <a:ln/>
          <a:effectLst>
            <a:outerShdw blurRad="1016" dist="508" dir="5400000" algn="bl" rotWithShape="0">
              <a:srgbClr val="1B3A5F">
                <a:alpha val="20000"/>
              </a:srgbClr>
            </a:outerShdw>
          </a:effectLst>
        </p:spPr>
      </p:sp>
      <p:sp>
        <p:nvSpPr>
          <p:cNvPr id="22" name="Text 20"/>
          <p:cNvSpPr/>
          <p:nvPr/>
        </p:nvSpPr>
        <p:spPr>
          <a:xfrm>
            <a:off x="1554480" y="4846320"/>
            <a:ext cx="1645920" cy="566928"/>
          </a:xfrm>
          <a:prstGeom prst="rect">
            <a:avLst/>
          </a:prstGeom>
          <a:noFill/>
          <a:ln/>
        </p:spPr>
        <p:txBody>
          <a:bodyPr wrap="square" lIns="0" tIns="0" rIns="0" bIns="0" rtlCol="0" anchor="ctr"/>
          <a:lstStyle/>
          <a:p>
            <a:pPr marL="0" indent="0" algn="ctr">
              <a:lnSpc>
                <a:spcPct val="100000"/>
              </a:lnSpc>
              <a:buNone/>
            </a:pPr>
            <a:r>
              <a:rPr lang="en-US" sz="1200" b="1" dirty="0">
                <a:solidFill>
                  <a:srgbClr val="FFFFFF"/>
                </a:solidFill>
                <a:latin typeface="Calibri" pitchFamily="34" charset="0"/>
                <a:ea typeface="Calibri" pitchFamily="34" charset="-122"/>
                <a:cs typeface="Calibri" pitchFamily="34" charset="-120"/>
              </a:rPr>
              <a:t>Read Record</a:t>
            </a:r>
            <a:endParaRPr lang="en-US" sz="1200" dirty="0"/>
          </a:p>
        </p:txBody>
      </p:sp>
      <p:sp>
        <p:nvSpPr>
          <p:cNvPr id="23" name="Shape 21"/>
          <p:cNvSpPr/>
          <p:nvPr/>
        </p:nvSpPr>
        <p:spPr>
          <a:xfrm>
            <a:off x="3566160" y="4846320"/>
            <a:ext cx="1645920" cy="566928"/>
          </a:xfrm>
          <a:prstGeom prst="roundRect">
            <a:avLst>
              <a:gd name="adj" fmla="val 11290"/>
            </a:avLst>
          </a:prstGeom>
          <a:solidFill>
            <a:srgbClr val="D98A28"/>
          </a:solidFill>
          <a:ln/>
          <a:effectLst>
            <a:outerShdw blurRad="1016" dist="508" dir="5400000" algn="bl" rotWithShape="0">
              <a:srgbClr val="1B3A5F">
                <a:alpha val="20000"/>
              </a:srgbClr>
            </a:outerShdw>
          </a:effectLst>
        </p:spPr>
      </p:sp>
      <p:sp>
        <p:nvSpPr>
          <p:cNvPr id="24" name="Text 22"/>
          <p:cNvSpPr/>
          <p:nvPr/>
        </p:nvSpPr>
        <p:spPr>
          <a:xfrm>
            <a:off x="3566160" y="4846320"/>
            <a:ext cx="1645920" cy="566928"/>
          </a:xfrm>
          <a:prstGeom prst="rect">
            <a:avLst/>
          </a:prstGeom>
          <a:noFill/>
          <a:ln/>
        </p:spPr>
        <p:txBody>
          <a:bodyPr wrap="square" lIns="0" tIns="0" rIns="0" bIns="0" rtlCol="0" anchor="ctr"/>
          <a:lstStyle/>
          <a:p>
            <a:pPr marL="0" indent="0" algn="ctr">
              <a:lnSpc>
                <a:spcPct val="100000"/>
              </a:lnSpc>
              <a:buNone/>
            </a:pPr>
            <a:r>
              <a:rPr lang="en-US" sz="1200" b="1" dirty="0">
                <a:solidFill>
                  <a:srgbClr val="FFFFFF"/>
                </a:solidFill>
                <a:latin typeface="Calibri" pitchFamily="34" charset="0"/>
                <a:ea typeface="Calibri" pitchFamily="34" charset="-122"/>
                <a:cs typeface="Calibri" pitchFamily="34" charset="-120"/>
              </a:rPr>
              <a:t>Validate</a:t>
            </a:r>
            <a:endParaRPr lang="en-US" sz="1200" dirty="0"/>
          </a:p>
        </p:txBody>
      </p:sp>
      <p:sp>
        <p:nvSpPr>
          <p:cNvPr id="25" name="Shape 23"/>
          <p:cNvSpPr/>
          <p:nvPr/>
        </p:nvSpPr>
        <p:spPr>
          <a:xfrm>
            <a:off x="6080760" y="4133088"/>
            <a:ext cx="0" cy="713232"/>
          </a:xfrm>
          <a:prstGeom prst="line">
            <a:avLst/>
          </a:prstGeom>
          <a:noFill/>
          <a:ln w="20320">
            <a:solidFill>
              <a:srgbClr val="35618E"/>
            </a:solidFill>
            <a:prstDash val="solid"/>
          </a:ln>
        </p:spPr>
      </p:sp>
      <p:sp>
        <p:nvSpPr>
          <p:cNvPr id="26" name="Shape 24"/>
          <p:cNvSpPr/>
          <p:nvPr/>
        </p:nvSpPr>
        <p:spPr>
          <a:xfrm>
            <a:off x="5257800" y="4846320"/>
            <a:ext cx="1645920" cy="566928"/>
          </a:xfrm>
          <a:prstGeom prst="roundRect">
            <a:avLst>
              <a:gd name="adj" fmla="val 11290"/>
            </a:avLst>
          </a:prstGeom>
          <a:solidFill>
            <a:srgbClr val="D98A28"/>
          </a:solidFill>
          <a:ln/>
          <a:effectLst>
            <a:outerShdw blurRad="1016" dist="508" dir="5400000" algn="bl" rotWithShape="0">
              <a:srgbClr val="1B3A5F">
                <a:alpha val="20000"/>
              </a:srgbClr>
            </a:outerShdw>
          </a:effectLst>
        </p:spPr>
      </p:sp>
      <p:sp>
        <p:nvSpPr>
          <p:cNvPr id="27" name="Text 25"/>
          <p:cNvSpPr/>
          <p:nvPr/>
        </p:nvSpPr>
        <p:spPr>
          <a:xfrm>
            <a:off x="5257800" y="4846320"/>
            <a:ext cx="1645920" cy="566928"/>
          </a:xfrm>
          <a:prstGeom prst="rect">
            <a:avLst/>
          </a:prstGeom>
          <a:noFill/>
          <a:ln/>
        </p:spPr>
        <p:txBody>
          <a:bodyPr wrap="square" lIns="0" tIns="0" rIns="0" bIns="0" rtlCol="0" anchor="ctr"/>
          <a:lstStyle/>
          <a:p>
            <a:pPr marL="0" indent="0" algn="ctr">
              <a:lnSpc>
                <a:spcPct val="100000"/>
              </a:lnSpc>
              <a:buNone/>
            </a:pPr>
            <a:r>
              <a:rPr lang="en-US" sz="1200" b="1" dirty="0">
                <a:solidFill>
                  <a:srgbClr val="FFFFFF"/>
                </a:solidFill>
                <a:latin typeface="Calibri" pitchFamily="34" charset="0"/>
                <a:ea typeface="Calibri" pitchFamily="34" charset="-122"/>
                <a:cs typeface="Calibri" pitchFamily="34" charset="-120"/>
              </a:rPr>
              <a:t>Calc Tax</a:t>
            </a:r>
            <a:endParaRPr lang="en-US" sz="1200" dirty="0"/>
          </a:p>
        </p:txBody>
      </p:sp>
      <p:sp>
        <p:nvSpPr>
          <p:cNvPr id="28" name="Shape 26"/>
          <p:cNvSpPr/>
          <p:nvPr/>
        </p:nvSpPr>
        <p:spPr>
          <a:xfrm>
            <a:off x="9966960" y="2286000"/>
            <a:ext cx="1664208" cy="2331720"/>
          </a:xfrm>
          <a:prstGeom prst="roundRect">
            <a:avLst>
              <a:gd name="adj" fmla="val 5495"/>
            </a:avLst>
          </a:prstGeom>
          <a:solidFill>
            <a:srgbClr val="F5F8FC"/>
          </a:solidFill>
          <a:ln w="12700">
            <a:solidFill>
              <a:srgbClr val="E1E8F1"/>
            </a:solidFill>
            <a:prstDash val="solid"/>
          </a:ln>
          <a:effectLst>
            <a:outerShdw blurRad="1524" dist="889" dir="5400000" algn="bl" rotWithShape="0">
              <a:srgbClr val="1B3A5F">
                <a:alpha val="18000"/>
              </a:srgbClr>
            </a:outerShdw>
          </a:effectLst>
        </p:spPr>
      </p:sp>
      <p:sp>
        <p:nvSpPr>
          <p:cNvPr id="29" name="Text 27"/>
          <p:cNvSpPr/>
          <p:nvPr/>
        </p:nvSpPr>
        <p:spPr>
          <a:xfrm>
            <a:off x="10104120" y="2395728"/>
            <a:ext cx="1463040" cy="274320"/>
          </a:xfrm>
          <a:prstGeom prst="rect">
            <a:avLst/>
          </a:prstGeom>
          <a:noFill/>
          <a:ln/>
        </p:spPr>
        <p:txBody>
          <a:bodyPr wrap="square" lIns="0" tIns="0" rIns="0" bIns="0" rtlCol="0" anchor="t"/>
          <a:lstStyle/>
          <a:p>
            <a:pPr marL="0" indent="0" algn="l">
              <a:lnSpc>
                <a:spcPct val="100000"/>
              </a:lnSpc>
              <a:buNone/>
            </a:pPr>
            <a:r>
              <a:rPr lang="en-US" sz="1150" b="1" dirty="0">
                <a:solidFill>
                  <a:srgbClr val="13294B"/>
                </a:solidFill>
                <a:latin typeface="Calibri" pitchFamily="34" charset="0"/>
                <a:ea typeface="Calibri" pitchFamily="34" charset="-122"/>
                <a:cs typeface="Calibri" pitchFamily="34" charset="-120"/>
              </a:rPr>
              <a:t>Couples</a:t>
            </a:r>
            <a:endParaRPr lang="en-US" sz="1150" dirty="0"/>
          </a:p>
        </p:txBody>
      </p:sp>
      <p:sp>
        <p:nvSpPr>
          <p:cNvPr id="30" name="Shape 28"/>
          <p:cNvSpPr/>
          <p:nvPr/>
        </p:nvSpPr>
        <p:spPr>
          <a:xfrm>
            <a:off x="10149840" y="2880360"/>
            <a:ext cx="201168" cy="201168"/>
          </a:xfrm>
          <a:prstGeom prst="ellipse">
            <a:avLst/>
          </a:prstGeom>
          <a:ln w="20320">
            <a:solidFill>
              <a:srgbClr val="0E8F8F"/>
            </a:solidFill>
            <a:prstDash val="solid"/>
          </a:ln>
        </p:spPr>
      </p:sp>
      <p:sp>
        <p:nvSpPr>
          <p:cNvPr id="31" name="Shape 29"/>
          <p:cNvSpPr/>
          <p:nvPr/>
        </p:nvSpPr>
        <p:spPr>
          <a:xfrm>
            <a:off x="10250424" y="2788920"/>
            <a:ext cx="0" cy="91440"/>
          </a:xfrm>
          <a:prstGeom prst="line">
            <a:avLst/>
          </a:prstGeom>
          <a:noFill/>
          <a:ln w="17780">
            <a:solidFill>
              <a:srgbClr val="0E8F8F"/>
            </a:solidFill>
            <a:prstDash val="solid"/>
          </a:ln>
        </p:spPr>
      </p:sp>
      <p:sp>
        <p:nvSpPr>
          <p:cNvPr id="32" name="Text 30"/>
          <p:cNvSpPr/>
          <p:nvPr/>
        </p:nvSpPr>
        <p:spPr>
          <a:xfrm>
            <a:off x="10442448" y="2816352"/>
            <a:ext cx="1188720" cy="274320"/>
          </a:xfrm>
          <a:prstGeom prst="rect">
            <a:avLst/>
          </a:prstGeom>
          <a:noFill/>
          <a:ln/>
        </p:spPr>
        <p:txBody>
          <a:bodyPr wrap="square" lIns="0" tIns="0" rIns="0" bIns="0" rtlCol="0" anchor="t"/>
          <a:lstStyle/>
          <a:p>
            <a:pPr marL="0" indent="0" algn="l">
              <a:lnSpc>
                <a:spcPct val="100000"/>
              </a:lnSpc>
              <a:buNone/>
            </a:pPr>
            <a:r>
              <a:rPr lang="en-US" sz="950" dirty="0">
                <a:solidFill>
                  <a:srgbClr val="1B3A5F"/>
                </a:solidFill>
                <a:latin typeface="Calibri" pitchFamily="34" charset="0"/>
                <a:ea typeface="Calibri" pitchFamily="34" charset="-122"/>
                <a:cs typeface="Calibri" pitchFamily="34" charset="-120"/>
              </a:rPr>
              <a:t>data couple</a:t>
            </a:r>
            <a:endParaRPr lang="en-US" sz="950" dirty="0"/>
          </a:p>
        </p:txBody>
      </p:sp>
      <p:sp>
        <p:nvSpPr>
          <p:cNvPr id="33" name="Shape 31"/>
          <p:cNvSpPr/>
          <p:nvPr/>
        </p:nvSpPr>
        <p:spPr>
          <a:xfrm>
            <a:off x="10149840" y="3429000"/>
            <a:ext cx="201168" cy="201168"/>
          </a:xfrm>
          <a:prstGeom prst="ellipse">
            <a:avLst/>
          </a:prstGeom>
          <a:solidFill>
            <a:srgbClr val="D9542B"/>
          </a:solidFill>
          <a:ln/>
        </p:spPr>
      </p:sp>
      <p:sp>
        <p:nvSpPr>
          <p:cNvPr id="34" name="Text 32"/>
          <p:cNvSpPr/>
          <p:nvPr/>
        </p:nvSpPr>
        <p:spPr>
          <a:xfrm>
            <a:off x="10442448" y="3364992"/>
            <a:ext cx="1188720" cy="274320"/>
          </a:xfrm>
          <a:prstGeom prst="rect">
            <a:avLst/>
          </a:prstGeom>
          <a:noFill/>
          <a:ln/>
        </p:spPr>
        <p:txBody>
          <a:bodyPr wrap="square" lIns="0" tIns="0" rIns="0" bIns="0" rtlCol="0" anchor="t"/>
          <a:lstStyle/>
          <a:p>
            <a:pPr marL="0" indent="0" algn="l">
              <a:lnSpc>
                <a:spcPct val="100000"/>
              </a:lnSpc>
              <a:buNone/>
            </a:pPr>
            <a:r>
              <a:rPr lang="en-US" sz="950" dirty="0">
                <a:solidFill>
                  <a:srgbClr val="1B3A5F"/>
                </a:solidFill>
                <a:latin typeface="Calibri" pitchFamily="34" charset="0"/>
                <a:ea typeface="Calibri" pitchFamily="34" charset="-122"/>
                <a:cs typeface="Calibri" pitchFamily="34" charset="-120"/>
              </a:rPr>
              <a:t>control flag</a:t>
            </a:r>
            <a:endParaRPr lang="en-US" sz="950" dirty="0"/>
          </a:p>
        </p:txBody>
      </p:sp>
      <p:sp>
        <p:nvSpPr>
          <p:cNvPr id="35" name="Text 33"/>
          <p:cNvSpPr/>
          <p:nvPr/>
        </p:nvSpPr>
        <p:spPr>
          <a:xfrm>
            <a:off x="10104120" y="3794760"/>
            <a:ext cx="1417320" cy="777240"/>
          </a:xfrm>
          <a:prstGeom prst="rect">
            <a:avLst/>
          </a:prstGeom>
          <a:noFill/>
          <a:ln/>
        </p:spPr>
        <p:txBody>
          <a:bodyPr wrap="square" lIns="0" tIns="0" rIns="0" bIns="0" rtlCol="0" anchor="t"/>
          <a:lstStyle/>
          <a:p>
            <a:pPr marL="0" indent="0" algn="l">
              <a:lnSpc>
                <a:spcPct val="105000"/>
              </a:lnSpc>
              <a:buNone/>
            </a:pPr>
            <a:r>
              <a:rPr lang="en-US" sz="930" i="1" dirty="0">
                <a:solidFill>
                  <a:srgbClr val="5C6B82"/>
                </a:solidFill>
                <a:latin typeface="Calibri" pitchFamily="34" charset="0"/>
                <a:ea typeface="Calibri" pitchFamily="34" charset="-122"/>
                <a:cs typeface="Calibri" pitchFamily="34" charset="-120"/>
              </a:rPr>
              <a:t>Arrows show which module calls which; annotations show what data passes.</a:t>
            </a:r>
            <a:endParaRPr lang="en-US" sz="930" dirty="0"/>
          </a:p>
        </p:txBody>
      </p:sp>
      <p:sp>
        <p:nvSpPr>
          <p:cNvPr id="37" name="Text 35"/>
          <p:cNvSpPr/>
          <p:nvPr/>
        </p:nvSpPr>
        <p:spPr>
          <a:xfrm>
            <a:off x="822960" y="5532120"/>
            <a:ext cx="10607040" cy="566928"/>
          </a:xfrm>
          <a:prstGeom prst="rect">
            <a:avLst/>
          </a:prstGeom>
          <a:noFill/>
          <a:ln/>
        </p:spPr>
        <p:txBody>
          <a:bodyPr wrap="square" lIns="0" tIns="0" rIns="0" bIns="0" rtlCol="0" anchor="ctr"/>
          <a:lstStyle/>
          <a:p>
            <a:pPr marL="0" indent="0" algn="l">
              <a:lnSpc>
                <a:spcPct val="100000"/>
              </a:lnSpc>
              <a:buNone/>
            </a:pPr>
            <a:r>
              <a:rPr lang="en-US" sz="1220" b="1" dirty="0">
                <a:solidFill>
                  <a:srgbClr val="FFFFFF"/>
                </a:solidFill>
                <a:latin typeface="Calibri" pitchFamily="34" charset="0"/>
                <a:ea typeface="Calibri" pitchFamily="34" charset="-122"/>
                <a:cs typeface="Calibri" pitchFamily="34" charset="-120"/>
              </a:rPr>
              <a:t>Read the chart top-down: the root controls the flow; leaves do the primitive work. Same terminology as the layered arrangement — depth, width, fan-in, fan-out.</a:t>
            </a:r>
            <a:endParaRPr lang="en-US" sz="1220" dirty="0"/>
          </a:p>
        </p:txBody>
      </p:sp>
      <p:pic>
        <p:nvPicPr>
          <p:cNvPr id="36" name="Picture 35" descr="gitam_logo.png"/>
          <p:cNvPicPr>
            <a:picLocks noChangeAspect="1"/>
          </p:cNvPicPr>
          <p:nvPr/>
        </p:nvPicPr>
        <p:blipFill>
          <a:blip r:embed="rId4"/>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1460492878"/>
      </p:ext>
    </p:extLst>
  </p:cSld>
  <p:clrMapOvr>
    <a:overrideClrMapping bg1="lt1" tx1="dk1" bg2="lt2" tx2="dk2" accent1="accent1" accent2="accent2" accent3="accent3" accent4="accent4" accent5="accent5" accent6="accent6" hlink="hlink" folHlink="folHlink"/>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29473" y="153749"/>
            <a:ext cx="11231745" cy="5923370"/>
          </a:xfrm>
          <a:prstGeom prst="rect">
            <a:avLst/>
          </a:prstGeom>
        </p:spPr>
      </p:pic>
      <p:pic>
        <p:nvPicPr>
          <p:cNvPr id="3" name="Picture 2" descr="gitam_logo.png"/>
          <p:cNvPicPr>
            <a:picLocks noChangeAspect="1"/>
          </p:cNvPicPr>
          <p:nvPr/>
        </p:nvPicPr>
        <p:blipFill>
          <a:blip r:embed="rId4"/>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1856755679"/>
      </p:ext>
    </p:extLst>
  </p:cSld>
  <p:clrMapOvr>
    <a:overrideClrMapping bg1="lt1" tx1="dk1" bg2="lt2" tx2="dk2" accent1="accent1" accent2="accent2" accent3="accent3" accent4="accent4" accent5="accent5" accent6="accent6" hlink="hlink" folHlink="folHlink"/>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413462" y="1125264"/>
            <a:ext cx="10405590" cy="4591286"/>
          </a:xfrm>
          <a:prstGeom prst="rect">
            <a:avLst/>
          </a:prstGeom>
        </p:spPr>
      </p:pic>
      <p:pic>
        <p:nvPicPr>
          <p:cNvPr id="3" name="Picture 2" descr="gitam_logo.png"/>
          <p:cNvPicPr>
            <a:picLocks noChangeAspect="1"/>
          </p:cNvPicPr>
          <p:nvPr/>
        </p:nvPicPr>
        <p:blipFill>
          <a:blip r:embed="rId4"/>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3713338796"/>
      </p:ext>
    </p:extLst>
  </p:cSld>
  <p:clrMapOvr>
    <a:overrideClrMapping bg1="lt1" tx1="dk1" bg2="lt2" tx2="dk2" accent1="accent1" accent2="accent2" accent3="accent3" accent4="accent4" accent5="accent5" accent6="accent6" hlink="hlink" folHlink="folHlink"/>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461246" y="226577"/>
            <a:ext cx="11037536" cy="6554549"/>
          </a:xfrm>
          <a:prstGeom prst="rect">
            <a:avLst/>
          </a:prstGeom>
        </p:spPr>
      </p:pic>
      <p:pic>
        <p:nvPicPr>
          <p:cNvPr id="3" name="Picture 2" descr="gitam_logo.png"/>
          <p:cNvPicPr>
            <a:picLocks noChangeAspect="1"/>
          </p:cNvPicPr>
          <p:nvPr/>
        </p:nvPicPr>
        <p:blipFill>
          <a:blip r:embed="rId4"/>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2521407749"/>
      </p:ext>
    </p:extLst>
  </p:cSld>
  <p:clrMapOvr>
    <a:overrideClrMapping bg1="lt1" tx1="dk1" bg2="lt2" tx2="dk2" accent1="accent1" accent2="accent2" accent3="accent3" accent4="accent4" accent5="accent5" accent6="accent6" hlink="hlink" folHlink="folHlink"/>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rtlCol="0" anchor="ctr"/>
          <a:lstStyle/>
          <a:p>
            <a:pPr marL="0" indent="0" algn="l">
              <a:buNone/>
            </a:pPr>
            <a:r>
              <a:rPr lang="en-US" sz="1250" b="1" kern="0" spc="200" dirty="0">
                <a:solidFill>
                  <a:srgbClr val="0E8F8F"/>
                </a:solidFill>
                <a:latin typeface="Calibri" pitchFamily="34" charset="0"/>
                <a:ea typeface="Calibri" pitchFamily="34" charset="-122"/>
                <a:cs typeface="Calibri" pitchFamily="34" charset="-120"/>
              </a:rPr>
              <a:t>FUNCTION-ORIENTED DESIGN</a:t>
            </a:r>
            <a:endParaRPr lang="en-US" sz="1250" dirty="0"/>
          </a:p>
        </p:txBody>
      </p:sp>
      <p:sp>
        <p:nvSpPr>
          <p:cNvPr id="3" name="Text 1"/>
          <p:cNvSpPr/>
          <p:nvPr/>
        </p:nvSpPr>
        <p:spPr>
          <a:xfrm>
            <a:off x="548640" y="658368"/>
            <a:ext cx="10881360" cy="822960"/>
          </a:xfrm>
          <a:prstGeom prst="rect">
            <a:avLst/>
          </a:prstGeom>
          <a:noFill/>
          <a:ln/>
        </p:spPr>
        <p:txBody>
          <a:bodyPr wrap="square" rtlCol="0" anchor="t"/>
          <a:lstStyle/>
          <a:p>
            <a:pPr marL="0" indent="0" algn="l">
              <a:buNone/>
            </a:pPr>
            <a:r>
              <a:rPr lang="en-US" sz="3100" b="1" dirty="0">
                <a:solidFill>
                  <a:srgbClr val="13294B"/>
                </a:solidFill>
                <a:latin typeface="Cambria" pitchFamily="34" charset="0"/>
                <a:ea typeface="Cambria" pitchFamily="34" charset="-122"/>
                <a:cs typeface="Cambria" pitchFamily="34" charset="-120"/>
              </a:rPr>
              <a:t>Detailed design</a:t>
            </a:r>
            <a:endParaRPr lang="en-US" sz="3100" dirty="0"/>
          </a:p>
        </p:txBody>
      </p:sp>
      <p:sp>
        <p:nvSpPr>
          <p:cNvPr id="6" name="Text 4"/>
          <p:cNvSpPr/>
          <p:nvPr/>
        </p:nvSpPr>
        <p:spPr>
          <a:xfrm>
            <a:off x="11292840" y="6382512"/>
            <a:ext cx="502920" cy="329184"/>
          </a:xfrm>
          <a:prstGeom prst="rect">
            <a:avLst/>
          </a:prstGeom>
          <a:noFill/>
          <a:ln/>
        </p:spPr>
        <p:txBody>
          <a:bodyPr wrap="square" rtlCol="0" anchor="ctr"/>
          <a:lstStyle/>
          <a:p>
            <a:pPr marL="0" indent="0" algn="r">
              <a:buNone/>
            </a:pPr>
            <a:r>
              <a:rPr lang="en-US" sz="1100" b="1" dirty="0">
                <a:solidFill>
                  <a:srgbClr val="35618E"/>
                </a:solidFill>
                <a:latin typeface="Calibri" pitchFamily="34" charset="0"/>
                <a:ea typeface="Calibri" pitchFamily="34" charset="-122"/>
                <a:cs typeface="Calibri" pitchFamily="34" charset="-120"/>
              </a:rPr>
              <a:t>26</a:t>
            </a:r>
            <a:endParaRPr lang="en-US" sz="1100" dirty="0"/>
          </a:p>
        </p:txBody>
      </p:sp>
      <p:sp>
        <p:nvSpPr>
          <p:cNvPr id="7" name="Text 5"/>
          <p:cNvSpPr/>
          <p:nvPr/>
        </p:nvSpPr>
        <p:spPr>
          <a:xfrm>
            <a:off x="566928" y="1554480"/>
            <a:ext cx="10972800" cy="502920"/>
          </a:xfrm>
          <a:prstGeom prst="rect">
            <a:avLst/>
          </a:prstGeom>
          <a:noFill/>
          <a:ln/>
        </p:spPr>
        <p:txBody>
          <a:bodyPr wrap="square" lIns="0" tIns="0" rIns="0" bIns="0" rtlCol="0" anchor="t"/>
          <a:lstStyle/>
          <a:p>
            <a:pPr marL="0" indent="0" algn="l">
              <a:lnSpc>
                <a:spcPct val="110000"/>
              </a:lnSpc>
              <a:buNone/>
            </a:pPr>
            <a:r>
              <a:rPr lang="en-US" sz="1350" dirty="0">
                <a:solidFill>
                  <a:srgbClr val="5C6B82"/>
                </a:solidFill>
                <a:latin typeface="Calibri" pitchFamily="34" charset="0"/>
                <a:ea typeface="Calibri" pitchFamily="34" charset="-122"/>
                <a:cs typeface="Calibri" pitchFamily="34" charset="-120"/>
              </a:rPr>
              <a:t>Once the structure chart fixes the modules, detailed (procedural) design specifies the internal logic and data structures of each module — precisely enough to code from.</a:t>
            </a:r>
            <a:endParaRPr lang="en-US" sz="1350" dirty="0"/>
          </a:p>
        </p:txBody>
      </p:sp>
      <p:sp>
        <p:nvSpPr>
          <p:cNvPr id="8" name="Shape 6"/>
          <p:cNvSpPr/>
          <p:nvPr/>
        </p:nvSpPr>
        <p:spPr>
          <a:xfrm>
            <a:off x="566928" y="2194560"/>
            <a:ext cx="5468112" cy="1234440"/>
          </a:xfrm>
          <a:prstGeom prst="roundRect">
            <a:avLst>
              <a:gd name="adj" fmla="val 8148"/>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sp>
      <p:sp>
        <p:nvSpPr>
          <p:cNvPr id="9" name="Shape 7"/>
          <p:cNvSpPr/>
          <p:nvPr/>
        </p:nvSpPr>
        <p:spPr>
          <a:xfrm>
            <a:off x="804672" y="2487168"/>
            <a:ext cx="658368" cy="658368"/>
          </a:xfrm>
          <a:prstGeom prst="ellipse">
            <a:avLst/>
          </a:prstGeom>
          <a:solidFill>
            <a:srgbClr val="0E8F8F"/>
          </a:solidFill>
          <a:ln/>
          <a:effectLst>
            <a:outerShdw blurRad="1270" dist="635" dir="5400000" algn="bl" rotWithShape="0">
              <a:srgbClr val="1B3A5F">
                <a:alpha val="25000"/>
              </a:srgbClr>
            </a:outerShdw>
          </a:effectLst>
        </p:spPr>
      </p:sp>
      <p:pic>
        <p:nvPicPr>
          <p:cNvPr id="10" name="Image 0" descr="/home/claude/deck/icons/listol.png"/>
          <p:cNvPicPr>
            <a:picLocks noChangeAspect="1"/>
          </p:cNvPicPr>
          <p:nvPr/>
        </p:nvPicPr>
        <p:blipFill>
          <a:blip r:embed="rId4"/>
          <a:stretch>
            <a:fillRect/>
          </a:stretch>
        </p:blipFill>
        <p:spPr>
          <a:xfrm>
            <a:off x="975848" y="2658344"/>
            <a:ext cx="316017" cy="316017"/>
          </a:xfrm>
          <a:prstGeom prst="rect">
            <a:avLst/>
          </a:prstGeom>
        </p:spPr>
      </p:pic>
      <p:sp>
        <p:nvSpPr>
          <p:cNvPr id="11" name="Text 8"/>
          <p:cNvSpPr/>
          <p:nvPr/>
        </p:nvSpPr>
        <p:spPr>
          <a:xfrm>
            <a:off x="1591056" y="2377440"/>
            <a:ext cx="4297680" cy="365760"/>
          </a:xfrm>
          <a:prstGeom prst="rect">
            <a:avLst/>
          </a:prstGeom>
          <a:noFill/>
          <a:ln/>
        </p:spPr>
        <p:txBody>
          <a:bodyPr wrap="square" lIns="0" tIns="0" rIns="0" bIns="0" rtlCol="0" anchor="t"/>
          <a:lstStyle/>
          <a:p>
            <a:pPr marL="0" indent="0" algn="l">
              <a:lnSpc>
                <a:spcPct val="100000"/>
              </a:lnSpc>
              <a:buNone/>
            </a:pPr>
            <a:r>
              <a:rPr lang="en-US" sz="1450" b="1" dirty="0">
                <a:solidFill>
                  <a:srgbClr val="13294B"/>
                </a:solidFill>
                <a:latin typeface="Cambria" pitchFamily="34" charset="0"/>
                <a:ea typeface="Cambria" pitchFamily="34" charset="-122"/>
                <a:cs typeface="Cambria" pitchFamily="34" charset="-120"/>
              </a:rPr>
              <a:t>Structured English</a:t>
            </a:r>
            <a:endParaRPr lang="en-US" sz="1450" dirty="0"/>
          </a:p>
        </p:txBody>
      </p:sp>
      <p:sp>
        <p:nvSpPr>
          <p:cNvPr id="12" name="Text 9"/>
          <p:cNvSpPr/>
          <p:nvPr/>
        </p:nvSpPr>
        <p:spPr>
          <a:xfrm>
            <a:off x="1591056" y="2761488"/>
            <a:ext cx="4343400" cy="640080"/>
          </a:xfrm>
          <a:prstGeom prst="rect">
            <a:avLst/>
          </a:prstGeom>
          <a:noFill/>
          <a:ln/>
        </p:spPr>
        <p:txBody>
          <a:bodyPr wrap="square" lIns="0" tIns="0" rIns="0" bIns="0" rtlCol="0" anchor="t"/>
          <a:lstStyle/>
          <a:p>
            <a:pPr marL="0" indent="0" algn="l">
              <a:lnSpc>
                <a:spcPct val="108000"/>
              </a:lnSpc>
              <a:buNone/>
            </a:pPr>
            <a:r>
              <a:rPr lang="en-US" sz="1160" dirty="0">
                <a:solidFill>
                  <a:srgbClr val="5C6B82"/>
                </a:solidFill>
                <a:latin typeface="Calibri" pitchFamily="34" charset="0"/>
                <a:ea typeface="Calibri" pitchFamily="34" charset="-122"/>
                <a:cs typeface="Calibri" pitchFamily="34" charset="-120"/>
              </a:rPr>
              <a:t>Pseudocode using a limited vocabulary of sequence, selection and iteration — readable yet unambiguous.</a:t>
            </a:r>
            <a:endParaRPr lang="en-US" sz="1160" dirty="0"/>
          </a:p>
        </p:txBody>
      </p:sp>
      <p:sp>
        <p:nvSpPr>
          <p:cNvPr id="13" name="Shape 10"/>
          <p:cNvSpPr/>
          <p:nvPr/>
        </p:nvSpPr>
        <p:spPr>
          <a:xfrm>
            <a:off x="6181344" y="2194560"/>
            <a:ext cx="5468112" cy="1234440"/>
          </a:xfrm>
          <a:prstGeom prst="roundRect">
            <a:avLst>
              <a:gd name="adj" fmla="val 8148"/>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sp>
      <p:sp>
        <p:nvSpPr>
          <p:cNvPr id="14" name="Shape 11"/>
          <p:cNvSpPr/>
          <p:nvPr/>
        </p:nvSpPr>
        <p:spPr>
          <a:xfrm>
            <a:off x="6419088" y="2487168"/>
            <a:ext cx="658368" cy="658368"/>
          </a:xfrm>
          <a:prstGeom prst="ellipse">
            <a:avLst/>
          </a:prstGeom>
          <a:solidFill>
            <a:srgbClr val="D98A28"/>
          </a:solidFill>
          <a:ln/>
          <a:effectLst>
            <a:outerShdw blurRad="1270" dist="635" dir="5400000" algn="bl" rotWithShape="0">
              <a:srgbClr val="1B3A5F">
                <a:alpha val="25000"/>
              </a:srgbClr>
            </a:outerShdw>
          </a:effectLst>
        </p:spPr>
      </p:sp>
      <p:pic>
        <p:nvPicPr>
          <p:cNvPr id="15" name="Image 1" descr="/home/claude/deck/icons/th.png"/>
          <p:cNvPicPr>
            <a:picLocks noChangeAspect="1"/>
          </p:cNvPicPr>
          <p:nvPr/>
        </p:nvPicPr>
        <p:blipFill>
          <a:blip r:embed="rId5"/>
          <a:stretch>
            <a:fillRect/>
          </a:stretch>
        </p:blipFill>
        <p:spPr>
          <a:xfrm>
            <a:off x="6590264" y="2658344"/>
            <a:ext cx="316017" cy="316017"/>
          </a:xfrm>
          <a:prstGeom prst="rect">
            <a:avLst/>
          </a:prstGeom>
        </p:spPr>
      </p:pic>
      <p:sp>
        <p:nvSpPr>
          <p:cNvPr id="16" name="Text 12"/>
          <p:cNvSpPr/>
          <p:nvPr/>
        </p:nvSpPr>
        <p:spPr>
          <a:xfrm>
            <a:off x="7205472" y="2377440"/>
            <a:ext cx="4297680" cy="365760"/>
          </a:xfrm>
          <a:prstGeom prst="rect">
            <a:avLst/>
          </a:prstGeom>
          <a:noFill/>
          <a:ln/>
        </p:spPr>
        <p:txBody>
          <a:bodyPr wrap="square" lIns="0" tIns="0" rIns="0" bIns="0" rtlCol="0" anchor="t"/>
          <a:lstStyle/>
          <a:p>
            <a:pPr marL="0" indent="0" algn="l">
              <a:lnSpc>
                <a:spcPct val="100000"/>
              </a:lnSpc>
              <a:buNone/>
            </a:pPr>
            <a:r>
              <a:rPr lang="en-US" sz="1450" b="1" dirty="0">
                <a:solidFill>
                  <a:srgbClr val="13294B"/>
                </a:solidFill>
                <a:latin typeface="Cambria" pitchFamily="34" charset="0"/>
                <a:ea typeface="Cambria" pitchFamily="34" charset="-122"/>
                <a:cs typeface="Cambria" pitchFamily="34" charset="-120"/>
              </a:rPr>
              <a:t>Decision tables</a:t>
            </a:r>
            <a:endParaRPr lang="en-US" sz="1450" dirty="0"/>
          </a:p>
        </p:txBody>
      </p:sp>
      <p:sp>
        <p:nvSpPr>
          <p:cNvPr id="17" name="Text 13"/>
          <p:cNvSpPr/>
          <p:nvPr/>
        </p:nvSpPr>
        <p:spPr>
          <a:xfrm>
            <a:off x="7205472" y="2761488"/>
            <a:ext cx="4343400" cy="640080"/>
          </a:xfrm>
          <a:prstGeom prst="rect">
            <a:avLst/>
          </a:prstGeom>
          <a:noFill/>
          <a:ln/>
        </p:spPr>
        <p:txBody>
          <a:bodyPr wrap="square" lIns="0" tIns="0" rIns="0" bIns="0" rtlCol="0" anchor="t"/>
          <a:lstStyle/>
          <a:p>
            <a:pPr marL="0" indent="0" algn="l">
              <a:lnSpc>
                <a:spcPct val="108000"/>
              </a:lnSpc>
              <a:buNone/>
            </a:pPr>
            <a:r>
              <a:rPr lang="en-US" sz="1160" dirty="0">
                <a:solidFill>
                  <a:srgbClr val="5C6B82"/>
                </a:solidFill>
                <a:latin typeface="Calibri" pitchFamily="34" charset="0"/>
                <a:ea typeface="Calibri" pitchFamily="34" charset="-122"/>
                <a:cs typeface="Calibri" pitchFamily="34" charset="-120"/>
              </a:rPr>
              <a:t>Tabulate combinations of conditions against the actions to take — ideal for complex business rules.</a:t>
            </a:r>
            <a:endParaRPr lang="en-US" sz="1160" dirty="0"/>
          </a:p>
        </p:txBody>
      </p:sp>
      <p:sp>
        <p:nvSpPr>
          <p:cNvPr id="18" name="Shape 14"/>
          <p:cNvSpPr/>
          <p:nvPr/>
        </p:nvSpPr>
        <p:spPr>
          <a:xfrm>
            <a:off x="566928" y="3566160"/>
            <a:ext cx="5468112" cy="1234440"/>
          </a:xfrm>
          <a:prstGeom prst="roundRect">
            <a:avLst>
              <a:gd name="adj" fmla="val 8148"/>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sp>
      <p:sp>
        <p:nvSpPr>
          <p:cNvPr id="19" name="Shape 15"/>
          <p:cNvSpPr/>
          <p:nvPr/>
        </p:nvSpPr>
        <p:spPr>
          <a:xfrm>
            <a:off x="804672" y="3858768"/>
            <a:ext cx="658368" cy="658368"/>
          </a:xfrm>
          <a:prstGeom prst="ellipse">
            <a:avLst/>
          </a:prstGeom>
          <a:solidFill>
            <a:srgbClr val="35618E"/>
          </a:solidFill>
          <a:ln/>
          <a:effectLst>
            <a:outerShdw blurRad="1270" dist="635" dir="5400000" algn="bl" rotWithShape="0">
              <a:srgbClr val="1B3A5F">
                <a:alpha val="25000"/>
              </a:srgbClr>
            </a:outerShdw>
          </a:effectLst>
        </p:spPr>
      </p:sp>
      <p:pic>
        <p:nvPicPr>
          <p:cNvPr id="20" name="Image 2" descr="/home/claude/deck/icons/sitemap.png"/>
          <p:cNvPicPr>
            <a:picLocks noChangeAspect="1"/>
          </p:cNvPicPr>
          <p:nvPr/>
        </p:nvPicPr>
        <p:blipFill>
          <a:blip r:embed="rId6"/>
          <a:stretch>
            <a:fillRect/>
          </a:stretch>
        </p:blipFill>
        <p:spPr>
          <a:xfrm>
            <a:off x="975848" y="4029944"/>
            <a:ext cx="316017" cy="316017"/>
          </a:xfrm>
          <a:prstGeom prst="rect">
            <a:avLst/>
          </a:prstGeom>
        </p:spPr>
      </p:pic>
      <p:sp>
        <p:nvSpPr>
          <p:cNvPr id="21" name="Text 16"/>
          <p:cNvSpPr/>
          <p:nvPr/>
        </p:nvSpPr>
        <p:spPr>
          <a:xfrm>
            <a:off x="1591056" y="3749040"/>
            <a:ext cx="4297680" cy="365760"/>
          </a:xfrm>
          <a:prstGeom prst="rect">
            <a:avLst/>
          </a:prstGeom>
          <a:noFill/>
          <a:ln/>
        </p:spPr>
        <p:txBody>
          <a:bodyPr wrap="square" lIns="0" tIns="0" rIns="0" bIns="0" rtlCol="0" anchor="t"/>
          <a:lstStyle/>
          <a:p>
            <a:pPr marL="0" indent="0" algn="l">
              <a:lnSpc>
                <a:spcPct val="100000"/>
              </a:lnSpc>
              <a:buNone/>
            </a:pPr>
            <a:r>
              <a:rPr lang="en-US" sz="1450" b="1" dirty="0">
                <a:solidFill>
                  <a:srgbClr val="13294B"/>
                </a:solidFill>
                <a:latin typeface="Cambria" pitchFamily="34" charset="0"/>
                <a:ea typeface="Cambria" pitchFamily="34" charset="-122"/>
                <a:cs typeface="Cambria" pitchFamily="34" charset="-120"/>
              </a:rPr>
              <a:t>Decision trees</a:t>
            </a:r>
            <a:endParaRPr lang="en-US" sz="1450" dirty="0"/>
          </a:p>
        </p:txBody>
      </p:sp>
      <p:sp>
        <p:nvSpPr>
          <p:cNvPr id="22" name="Text 17"/>
          <p:cNvSpPr/>
          <p:nvPr/>
        </p:nvSpPr>
        <p:spPr>
          <a:xfrm>
            <a:off x="1591056" y="4133088"/>
            <a:ext cx="4343400" cy="640080"/>
          </a:xfrm>
          <a:prstGeom prst="rect">
            <a:avLst/>
          </a:prstGeom>
          <a:noFill/>
          <a:ln/>
        </p:spPr>
        <p:txBody>
          <a:bodyPr wrap="square" lIns="0" tIns="0" rIns="0" bIns="0" rtlCol="0" anchor="t"/>
          <a:lstStyle/>
          <a:p>
            <a:pPr marL="0" indent="0" algn="l">
              <a:lnSpc>
                <a:spcPct val="108000"/>
              </a:lnSpc>
              <a:buNone/>
            </a:pPr>
            <a:r>
              <a:rPr lang="en-US" sz="1160" dirty="0">
                <a:solidFill>
                  <a:srgbClr val="5C6B82"/>
                </a:solidFill>
                <a:latin typeface="Calibri" pitchFamily="34" charset="0"/>
                <a:ea typeface="Calibri" pitchFamily="34" charset="-122"/>
                <a:cs typeface="Calibri" pitchFamily="34" charset="-120"/>
              </a:rPr>
              <a:t>A branching view of the same conditions/actions — easier to read for a small number of rules.</a:t>
            </a:r>
            <a:endParaRPr lang="en-US" sz="1160" dirty="0"/>
          </a:p>
        </p:txBody>
      </p:sp>
      <p:sp>
        <p:nvSpPr>
          <p:cNvPr id="23" name="Shape 18"/>
          <p:cNvSpPr/>
          <p:nvPr/>
        </p:nvSpPr>
        <p:spPr>
          <a:xfrm>
            <a:off x="6181344" y="3566160"/>
            <a:ext cx="5468112" cy="1234440"/>
          </a:xfrm>
          <a:prstGeom prst="roundRect">
            <a:avLst>
              <a:gd name="adj" fmla="val 8148"/>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sp>
      <p:sp>
        <p:nvSpPr>
          <p:cNvPr id="24" name="Shape 19"/>
          <p:cNvSpPr/>
          <p:nvPr/>
        </p:nvSpPr>
        <p:spPr>
          <a:xfrm>
            <a:off x="6419088" y="3858768"/>
            <a:ext cx="658368" cy="658368"/>
          </a:xfrm>
          <a:prstGeom prst="ellipse">
            <a:avLst/>
          </a:prstGeom>
          <a:solidFill>
            <a:srgbClr val="6C5B9E"/>
          </a:solidFill>
          <a:ln/>
          <a:effectLst>
            <a:outerShdw blurRad="1270" dist="635" dir="5400000" algn="bl" rotWithShape="0">
              <a:srgbClr val="1B3A5F">
                <a:alpha val="25000"/>
              </a:srgbClr>
            </a:outerShdw>
          </a:effectLst>
        </p:spPr>
      </p:sp>
      <p:pic>
        <p:nvPicPr>
          <p:cNvPr id="25" name="Image 3" descr="/home/claude/deck/icons/flow.png"/>
          <p:cNvPicPr>
            <a:picLocks noChangeAspect="1"/>
          </p:cNvPicPr>
          <p:nvPr/>
        </p:nvPicPr>
        <p:blipFill>
          <a:blip r:embed="rId7"/>
          <a:stretch>
            <a:fillRect/>
          </a:stretch>
        </p:blipFill>
        <p:spPr>
          <a:xfrm>
            <a:off x="6590264" y="4029944"/>
            <a:ext cx="316017" cy="316017"/>
          </a:xfrm>
          <a:prstGeom prst="rect">
            <a:avLst/>
          </a:prstGeom>
        </p:spPr>
      </p:pic>
      <p:sp>
        <p:nvSpPr>
          <p:cNvPr id="26" name="Text 20"/>
          <p:cNvSpPr/>
          <p:nvPr/>
        </p:nvSpPr>
        <p:spPr>
          <a:xfrm>
            <a:off x="7205472" y="3749040"/>
            <a:ext cx="4297680" cy="365760"/>
          </a:xfrm>
          <a:prstGeom prst="rect">
            <a:avLst/>
          </a:prstGeom>
          <a:noFill/>
          <a:ln/>
        </p:spPr>
        <p:txBody>
          <a:bodyPr wrap="square" lIns="0" tIns="0" rIns="0" bIns="0" rtlCol="0" anchor="t"/>
          <a:lstStyle/>
          <a:p>
            <a:pPr marL="0" indent="0" algn="l">
              <a:lnSpc>
                <a:spcPct val="100000"/>
              </a:lnSpc>
              <a:buNone/>
            </a:pPr>
            <a:r>
              <a:rPr lang="en-US" sz="1450" b="1" dirty="0">
                <a:solidFill>
                  <a:srgbClr val="13294B"/>
                </a:solidFill>
                <a:latin typeface="Cambria" pitchFamily="34" charset="0"/>
                <a:ea typeface="Cambria" pitchFamily="34" charset="-122"/>
                <a:cs typeface="Cambria" pitchFamily="34" charset="-120"/>
              </a:rPr>
              <a:t>Flowcharts / activity</a:t>
            </a:r>
            <a:endParaRPr lang="en-US" sz="1450" dirty="0"/>
          </a:p>
        </p:txBody>
      </p:sp>
      <p:sp>
        <p:nvSpPr>
          <p:cNvPr id="27" name="Text 21"/>
          <p:cNvSpPr/>
          <p:nvPr/>
        </p:nvSpPr>
        <p:spPr>
          <a:xfrm>
            <a:off x="7205472" y="4133088"/>
            <a:ext cx="4343400" cy="640080"/>
          </a:xfrm>
          <a:prstGeom prst="rect">
            <a:avLst/>
          </a:prstGeom>
          <a:noFill/>
          <a:ln/>
        </p:spPr>
        <p:txBody>
          <a:bodyPr wrap="square" lIns="0" tIns="0" rIns="0" bIns="0" rtlCol="0" anchor="t"/>
          <a:lstStyle/>
          <a:p>
            <a:pPr marL="0" indent="0" algn="l">
              <a:lnSpc>
                <a:spcPct val="108000"/>
              </a:lnSpc>
              <a:buNone/>
            </a:pPr>
            <a:r>
              <a:rPr lang="en-US" sz="1160" dirty="0">
                <a:solidFill>
                  <a:srgbClr val="5C6B82"/>
                </a:solidFill>
                <a:latin typeface="Calibri" pitchFamily="34" charset="0"/>
                <a:ea typeface="Calibri" pitchFamily="34" charset="-122"/>
                <a:cs typeface="Calibri" pitchFamily="34" charset="-120"/>
              </a:rPr>
              <a:t>Graphical control-flow of the algorithm; UML activity diagrams serve the same purpose today.</a:t>
            </a:r>
            <a:endParaRPr lang="en-US" sz="1160" dirty="0"/>
          </a:p>
        </p:txBody>
      </p:sp>
      <p:sp>
        <p:nvSpPr>
          <p:cNvPr id="28" name="Shape 22"/>
          <p:cNvSpPr/>
          <p:nvPr/>
        </p:nvSpPr>
        <p:spPr>
          <a:xfrm>
            <a:off x="566928" y="5029200"/>
            <a:ext cx="11064240" cy="1051560"/>
          </a:xfrm>
          <a:prstGeom prst="roundRect">
            <a:avLst>
              <a:gd name="adj" fmla="val 10435"/>
            </a:avLst>
          </a:prstGeom>
          <a:solidFill>
            <a:srgbClr val="E1F1F1"/>
          </a:solidFill>
          <a:ln/>
          <a:effectLst>
            <a:outerShdw blurRad="1524" dist="889" dir="5400000" algn="bl" rotWithShape="0">
              <a:srgbClr val="1B3A5F">
                <a:alpha val="18000"/>
              </a:srgbClr>
            </a:outerShdw>
          </a:effectLst>
        </p:spPr>
      </p:sp>
      <p:sp>
        <p:nvSpPr>
          <p:cNvPr id="29" name="Text 23"/>
          <p:cNvSpPr/>
          <p:nvPr/>
        </p:nvSpPr>
        <p:spPr>
          <a:xfrm>
            <a:off x="822960" y="5166360"/>
            <a:ext cx="2743200" cy="365760"/>
          </a:xfrm>
          <a:prstGeom prst="rect">
            <a:avLst/>
          </a:prstGeom>
          <a:noFill/>
          <a:ln/>
        </p:spPr>
        <p:txBody>
          <a:bodyPr wrap="square" lIns="0" tIns="0" rIns="0" bIns="0" rtlCol="0" anchor="t"/>
          <a:lstStyle/>
          <a:p>
            <a:pPr marL="0" indent="0" algn="l">
              <a:lnSpc>
                <a:spcPct val="100000"/>
              </a:lnSpc>
              <a:buNone/>
            </a:pPr>
            <a:r>
              <a:rPr lang="en-US" sz="1350" b="1" dirty="0">
                <a:solidFill>
                  <a:srgbClr val="0A6E6E"/>
                </a:solidFill>
                <a:latin typeface="Cambria" pitchFamily="34" charset="0"/>
                <a:ea typeface="Cambria" pitchFamily="34" charset="-122"/>
                <a:cs typeface="Cambria" pitchFamily="34" charset="-120"/>
              </a:rPr>
              <a:t>Also specified here</a:t>
            </a:r>
            <a:endParaRPr lang="en-US" sz="1350" dirty="0"/>
          </a:p>
        </p:txBody>
      </p:sp>
      <p:sp>
        <p:nvSpPr>
          <p:cNvPr id="30" name="Text 24"/>
          <p:cNvSpPr/>
          <p:nvPr/>
        </p:nvSpPr>
        <p:spPr>
          <a:xfrm>
            <a:off x="822960" y="5504688"/>
            <a:ext cx="10607040" cy="548640"/>
          </a:xfrm>
          <a:prstGeom prst="rect">
            <a:avLst/>
          </a:prstGeom>
          <a:noFill/>
          <a:ln/>
        </p:spPr>
        <p:txBody>
          <a:bodyPr wrap="square" lIns="0" tIns="0" rIns="0" bIns="0" rtlCol="0" anchor="t"/>
          <a:lstStyle/>
          <a:p>
            <a:pPr marL="0" indent="0" algn="l">
              <a:lnSpc>
                <a:spcPct val="108000"/>
              </a:lnSpc>
              <a:buNone/>
            </a:pPr>
            <a:r>
              <a:rPr lang="en-US" sz="1200" dirty="0">
                <a:solidFill>
                  <a:srgbClr val="1B3A5F"/>
                </a:solidFill>
                <a:latin typeface="Calibri" pitchFamily="34" charset="0"/>
                <a:ea typeface="Calibri" pitchFamily="34" charset="-122"/>
                <a:cs typeface="Calibri" pitchFamily="34" charset="-120"/>
              </a:rPr>
              <a:t>Data structures for each module · algorithms with their complexity · error &amp; exception handling · module interface details (exact parameters, types, pre/post-conditions).</a:t>
            </a:r>
            <a:endParaRPr lang="en-US" sz="1200" dirty="0"/>
          </a:p>
        </p:txBody>
      </p:sp>
      <p:pic>
        <p:nvPicPr>
          <p:cNvPr id="31" name="Picture 30" descr="gitam_logo.png"/>
          <p:cNvPicPr>
            <a:picLocks noChangeAspect="1"/>
          </p:cNvPicPr>
          <p:nvPr/>
        </p:nvPicPr>
        <p:blipFill>
          <a:blip r:embed="rId8"/>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2153971649"/>
      </p:ext>
    </p:extLst>
  </p:cSld>
  <p:clrMapOvr>
    <a:overrideClrMapping bg1="lt1" tx1="dk1" bg2="lt2" tx2="dk2" accent1="accent1" accent2="accent2" accent3="accent3" accent4="accent4" accent5="accent5" accent6="accent6" hlink="hlink" folHlink="folHlink"/>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2" name="Rectangle 1"/>
          <p:cNvSpPr/>
          <p:nvPr/>
        </p:nvSpPr>
        <p:spPr>
          <a:xfrm>
            <a:off x="129473" y="1166843"/>
            <a:ext cx="11895292" cy="4555093"/>
          </a:xfrm>
          <a:prstGeom prst="rect">
            <a:avLst/>
          </a:prstGeom>
        </p:spPr>
        <p:txBody>
          <a:bodyPr wrap="square">
            <a:spAutoFit/>
          </a:bodyPr>
          <a:lstStyle/>
          <a:p>
            <a:r>
              <a:rPr lang="en-US" sz="2000" b="1" dirty="0">
                <a:solidFill>
                  <a:srgbClr val="000000"/>
                </a:solidFill>
                <a:latin typeface="LiberationSerif"/>
              </a:rPr>
              <a:t>                                                 During detailed design</a:t>
            </a:r>
            <a:r>
              <a:rPr lang="en-US" dirty="0">
                <a:solidFill>
                  <a:srgbClr val="000000"/>
                </a:solidFill>
                <a:latin typeface="LiberationSerif"/>
              </a:rPr>
              <a:t> </a:t>
            </a:r>
          </a:p>
          <a:p>
            <a:r>
              <a:rPr lang="en-US" dirty="0">
                <a:solidFill>
                  <a:srgbClr val="000000"/>
                </a:solidFill>
                <a:latin typeface="LiberationSerif"/>
              </a:rPr>
              <a:t>The pseudo code description of the processing and the different data structures</a:t>
            </a:r>
          </a:p>
          <a:p>
            <a:r>
              <a:rPr lang="en-US" dirty="0">
                <a:solidFill>
                  <a:srgbClr val="000000"/>
                </a:solidFill>
                <a:latin typeface="LiberationSerif"/>
              </a:rPr>
              <a:t>are designed for the different modules of the structure chart. </a:t>
            </a:r>
          </a:p>
          <a:p>
            <a:endParaRPr lang="en-US" dirty="0">
              <a:solidFill>
                <a:srgbClr val="000000"/>
              </a:solidFill>
              <a:latin typeface="LiberationSerif"/>
            </a:endParaRPr>
          </a:p>
          <a:p>
            <a:r>
              <a:rPr lang="en-US" dirty="0">
                <a:solidFill>
                  <a:srgbClr val="000000"/>
                </a:solidFill>
                <a:latin typeface="LiberationSerif"/>
              </a:rPr>
              <a:t>These are usually described in the form of module specifications (MSPEC). MSPEC is usually written using structured English. </a:t>
            </a:r>
          </a:p>
          <a:p>
            <a:endParaRPr lang="en-US" dirty="0">
              <a:solidFill>
                <a:srgbClr val="000000"/>
              </a:solidFill>
              <a:latin typeface="LiberationSerif"/>
            </a:endParaRPr>
          </a:p>
          <a:p>
            <a:r>
              <a:rPr lang="en-US" dirty="0">
                <a:solidFill>
                  <a:srgbClr val="000000"/>
                </a:solidFill>
                <a:latin typeface="LiberationSerif"/>
              </a:rPr>
              <a:t>The MSPEC for the non-leaf modules describe the different conditions under which the responsibilities are delegated to the lower- level modules.</a:t>
            </a:r>
          </a:p>
          <a:p>
            <a:endParaRPr lang="en-US" dirty="0">
              <a:solidFill>
                <a:srgbClr val="000000"/>
              </a:solidFill>
              <a:latin typeface="LiberationSerif"/>
            </a:endParaRPr>
          </a:p>
          <a:p>
            <a:r>
              <a:rPr lang="en-US" dirty="0">
                <a:solidFill>
                  <a:srgbClr val="000000"/>
                </a:solidFill>
                <a:latin typeface="LiberationSerif"/>
              </a:rPr>
              <a:t>The MSPEC for the leaf-level modules should describe in algorithmic form how the primitive processing steps are carried out. </a:t>
            </a:r>
          </a:p>
          <a:p>
            <a:endParaRPr lang="en-US" dirty="0">
              <a:solidFill>
                <a:srgbClr val="000000"/>
              </a:solidFill>
              <a:latin typeface="LiberationSerif"/>
            </a:endParaRPr>
          </a:p>
          <a:p>
            <a:r>
              <a:rPr lang="en-US" dirty="0">
                <a:solidFill>
                  <a:srgbClr val="000000"/>
                </a:solidFill>
                <a:latin typeface="LiberationSerif"/>
              </a:rPr>
              <a:t>To develop the MSPEC of a module, it is usually necessary to refer to the DFD model and the SRS document to determine the </a:t>
            </a:r>
            <a:r>
              <a:rPr lang="en-IN" dirty="0" err="1">
                <a:solidFill>
                  <a:srgbClr val="000000"/>
                </a:solidFill>
                <a:latin typeface="LiberationSerif"/>
              </a:rPr>
              <a:t>unctionality</a:t>
            </a:r>
            <a:r>
              <a:rPr lang="en-IN" dirty="0">
                <a:solidFill>
                  <a:srgbClr val="000000"/>
                </a:solidFill>
                <a:latin typeface="LiberationSerif"/>
              </a:rPr>
              <a:t> of the module.</a:t>
            </a:r>
          </a:p>
          <a:p>
            <a:endParaRPr lang="en-IN" dirty="0"/>
          </a:p>
        </p:txBody>
      </p:sp>
      <p:pic>
        <p:nvPicPr>
          <p:cNvPr id="3" name="Picture 2" descr="gitam_logo.png"/>
          <p:cNvPicPr>
            <a:picLocks noChangeAspect="1"/>
          </p:cNvPicPr>
          <p:nvPr/>
        </p:nvPicPr>
        <p:blipFill>
          <a:blip r:embed="rId3"/>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1797324257"/>
      </p:ext>
    </p:extLst>
  </p:cSld>
  <p:clrMapOvr>
    <a:overrideClrMapping bg1="lt1" tx1="dk1" bg2="lt2" tx2="dk2" accent1="accent1" accent2="accent2" accent3="accent3" accent4="accent4" accent5="accent5" accent6="accent6" hlink="hlink" folHlink="folHlink"/>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rtlCol="0" anchor="ctr"/>
          <a:lstStyle/>
          <a:p>
            <a:pPr marL="0" indent="0" algn="l">
              <a:buNone/>
            </a:pPr>
            <a:r>
              <a:rPr lang="en-US" sz="1250" b="1" kern="0" spc="200" dirty="0">
                <a:solidFill>
                  <a:srgbClr val="0E8F8F"/>
                </a:solidFill>
                <a:latin typeface="Calibri" pitchFamily="34" charset="0"/>
                <a:ea typeface="Calibri" pitchFamily="34" charset="-122"/>
                <a:cs typeface="Calibri" pitchFamily="34" charset="-120"/>
              </a:rPr>
              <a:t>FUNCTION-ORIENTED DESIGN</a:t>
            </a:r>
            <a:endParaRPr lang="en-US" sz="1250" dirty="0"/>
          </a:p>
        </p:txBody>
      </p:sp>
      <p:sp>
        <p:nvSpPr>
          <p:cNvPr id="3" name="Text 1"/>
          <p:cNvSpPr/>
          <p:nvPr/>
        </p:nvSpPr>
        <p:spPr>
          <a:xfrm>
            <a:off x="548640" y="658368"/>
            <a:ext cx="10881360" cy="822960"/>
          </a:xfrm>
          <a:prstGeom prst="rect">
            <a:avLst/>
          </a:prstGeom>
          <a:noFill/>
          <a:ln/>
        </p:spPr>
        <p:txBody>
          <a:bodyPr wrap="square" rtlCol="0" anchor="t"/>
          <a:lstStyle/>
          <a:p>
            <a:pPr marL="0" indent="0" algn="l">
              <a:buNone/>
            </a:pPr>
            <a:r>
              <a:rPr lang="en-US" sz="3100" b="1" dirty="0">
                <a:solidFill>
                  <a:srgbClr val="13294B"/>
                </a:solidFill>
                <a:latin typeface="Cambria" pitchFamily="34" charset="0"/>
                <a:ea typeface="Cambria" pitchFamily="34" charset="-122"/>
                <a:cs typeface="Cambria" pitchFamily="34" charset="-120"/>
              </a:rPr>
              <a:t>Design review</a:t>
            </a:r>
            <a:endParaRPr lang="en-US" sz="3100" dirty="0"/>
          </a:p>
        </p:txBody>
      </p:sp>
      <p:sp>
        <p:nvSpPr>
          <p:cNvPr id="6" name="Text 4"/>
          <p:cNvSpPr/>
          <p:nvPr/>
        </p:nvSpPr>
        <p:spPr>
          <a:xfrm>
            <a:off x="11292840" y="6382512"/>
            <a:ext cx="502920" cy="329184"/>
          </a:xfrm>
          <a:prstGeom prst="rect">
            <a:avLst/>
          </a:prstGeom>
          <a:noFill/>
          <a:ln/>
        </p:spPr>
        <p:txBody>
          <a:bodyPr wrap="square" rtlCol="0" anchor="ctr"/>
          <a:lstStyle/>
          <a:p>
            <a:pPr marL="0" indent="0" algn="r">
              <a:buNone/>
            </a:pPr>
            <a:r>
              <a:rPr lang="en-US" sz="1100" b="1" dirty="0">
                <a:solidFill>
                  <a:srgbClr val="35618E"/>
                </a:solidFill>
                <a:latin typeface="Calibri" pitchFamily="34" charset="0"/>
                <a:ea typeface="Calibri" pitchFamily="34" charset="-122"/>
                <a:cs typeface="Calibri" pitchFamily="34" charset="-120"/>
              </a:rPr>
              <a:t>27</a:t>
            </a:r>
            <a:endParaRPr lang="en-US" sz="1100" dirty="0"/>
          </a:p>
        </p:txBody>
      </p:sp>
      <p:sp>
        <p:nvSpPr>
          <p:cNvPr id="7" name="Shape 5"/>
          <p:cNvSpPr/>
          <p:nvPr/>
        </p:nvSpPr>
        <p:spPr>
          <a:xfrm>
            <a:off x="566928" y="1691640"/>
            <a:ext cx="5212080" cy="1920240"/>
          </a:xfrm>
          <a:prstGeom prst="roundRect">
            <a:avLst>
              <a:gd name="adj" fmla="val 5714"/>
            </a:avLst>
          </a:prstGeom>
          <a:solidFill>
            <a:srgbClr val="13294B"/>
          </a:solidFill>
          <a:ln/>
          <a:effectLst>
            <a:outerShdw blurRad="1524" dist="889" dir="5400000" algn="bl" rotWithShape="0">
              <a:srgbClr val="1B3A5F">
                <a:alpha val="18000"/>
              </a:srgbClr>
            </a:outerShdw>
          </a:effectLst>
        </p:spPr>
        <p:txBody>
          <a:bodyPr/>
          <a:lstStyle/>
          <a:p>
            <a:endParaRPr lang="en-IN"/>
          </a:p>
        </p:txBody>
      </p:sp>
      <p:sp>
        <p:nvSpPr>
          <p:cNvPr id="8" name="Text 6"/>
          <p:cNvSpPr/>
          <p:nvPr/>
        </p:nvSpPr>
        <p:spPr>
          <a:xfrm>
            <a:off x="822960" y="1883664"/>
            <a:ext cx="4572000" cy="365760"/>
          </a:xfrm>
          <a:prstGeom prst="rect">
            <a:avLst/>
          </a:prstGeom>
          <a:noFill/>
          <a:ln/>
        </p:spPr>
        <p:txBody>
          <a:bodyPr wrap="square" lIns="0" tIns="0" rIns="0" bIns="0" rtlCol="0" anchor="t"/>
          <a:lstStyle/>
          <a:p>
            <a:pPr marL="0" indent="0" algn="l">
              <a:lnSpc>
                <a:spcPct val="100000"/>
              </a:lnSpc>
              <a:buNone/>
            </a:pPr>
            <a:r>
              <a:rPr lang="en-US" sz="1550" b="1" dirty="0">
                <a:solidFill>
                  <a:srgbClr val="FFFFFF"/>
                </a:solidFill>
                <a:latin typeface="Cambria" pitchFamily="34" charset="0"/>
                <a:ea typeface="Cambria" pitchFamily="34" charset="-122"/>
                <a:cs typeface="Cambria" pitchFamily="34" charset="-120"/>
              </a:rPr>
              <a:t>Why review the design?</a:t>
            </a:r>
            <a:endParaRPr lang="en-US" sz="1550" dirty="0"/>
          </a:p>
        </p:txBody>
      </p:sp>
      <p:sp>
        <p:nvSpPr>
          <p:cNvPr id="9" name="Text 7"/>
          <p:cNvSpPr/>
          <p:nvPr/>
        </p:nvSpPr>
        <p:spPr>
          <a:xfrm>
            <a:off x="822960" y="2304288"/>
            <a:ext cx="4754880" cy="1188720"/>
          </a:xfrm>
          <a:prstGeom prst="rect">
            <a:avLst/>
          </a:prstGeom>
          <a:noFill/>
          <a:ln/>
        </p:spPr>
        <p:txBody>
          <a:bodyPr wrap="square" lIns="0" tIns="0" rIns="0" bIns="0" rtlCol="0" anchor="t"/>
          <a:lstStyle/>
          <a:p>
            <a:pPr marL="0" indent="0" algn="l">
              <a:lnSpc>
                <a:spcPct val="116000"/>
              </a:lnSpc>
              <a:buNone/>
            </a:pPr>
            <a:r>
              <a:rPr lang="en-US" sz="1280" dirty="0">
                <a:solidFill>
                  <a:srgbClr val="C6D2E6"/>
                </a:solidFill>
                <a:latin typeface="Times New Roman" panose="02020603050405020304" pitchFamily="18" charset="0"/>
                <a:ea typeface="Calibri" pitchFamily="34" charset="-122"/>
                <a:cs typeface="Times New Roman" panose="02020603050405020304" pitchFamily="18" charset="0"/>
              </a:rPr>
              <a:t>Defects removed at design cost a fraction of those found in code or in the field. A review verifies the design against the requirements before construction begins.</a:t>
            </a:r>
            <a:endParaRPr lang="en-US" sz="1280" dirty="0">
              <a:latin typeface="Times New Roman" panose="02020603050405020304" pitchFamily="18" charset="0"/>
              <a:cs typeface="Times New Roman" panose="02020603050405020304" pitchFamily="18" charset="0"/>
            </a:endParaRPr>
          </a:p>
        </p:txBody>
      </p:sp>
      <p:sp>
        <p:nvSpPr>
          <p:cNvPr id="10" name="Shape 8"/>
          <p:cNvSpPr/>
          <p:nvPr/>
        </p:nvSpPr>
        <p:spPr>
          <a:xfrm>
            <a:off x="5943600" y="1691640"/>
            <a:ext cx="5687568" cy="777240"/>
          </a:xfrm>
          <a:prstGeom prst="roundRect">
            <a:avLst>
              <a:gd name="adj" fmla="val 11765"/>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txBody>
          <a:bodyPr/>
          <a:lstStyle/>
          <a:p>
            <a:endParaRPr lang="en-IN"/>
          </a:p>
        </p:txBody>
      </p:sp>
      <p:sp>
        <p:nvSpPr>
          <p:cNvPr id="11" name="Shape 9"/>
          <p:cNvSpPr/>
          <p:nvPr/>
        </p:nvSpPr>
        <p:spPr>
          <a:xfrm>
            <a:off x="6126480" y="1819656"/>
            <a:ext cx="530352" cy="530352"/>
          </a:xfrm>
          <a:prstGeom prst="ellipse">
            <a:avLst/>
          </a:prstGeom>
          <a:solidFill>
            <a:srgbClr val="0E8F8F"/>
          </a:solidFill>
          <a:ln/>
          <a:effectLst>
            <a:outerShdw blurRad="1270" dist="635" dir="5400000" algn="bl" rotWithShape="0">
              <a:srgbClr val="1B3A5F">
                <a:alpha val="25000"/>
              </a:srgbClr>
            </a:outerShdw>
          </a:effectLst>
        </p:spPr>
      </p:sp>
      <p:pic>
        <p:nvPicPr>
          <p:cNvPr id="12" name="Image 0" descr="/home/claude/deck/icons/users.png"/>
          <p:cNvPicPr>
            <a:picLocks noChangeAspect="1"/>
          </p:cNvPicPr>
          <p:nvPr/>
        </p:nvPicPr>
        <p:blipFill>
          <a:blip r:embed="rId4"/>
          <a:stretch>
            <a:fillRect/>
          </a:stretch>
        </p:blipFill>
        <p:spPr>
          <a:xfrm>
            <a:off x="6264372" y="1957548"/>
            <a:ext cx="254569" cy="254569"/>
          </a:xfrm>
          <a:prstGeom prst="rect">
            <a:avLst/>
          </a:prstGeom>
        </p:spPr>
      </p:pic>
      <p:sp>
        <p:nvSpPr>
          <p:cNvPr id="13" name="Text 10"/>
          <p:cNvSpPr/>
          <p:nvPr/>
        </p:nvSpPr>
        <p:spPr>
          <a:xfrm>
            <a:off x="6784848" y="1783080"/>
            <a:ext cx="4663440" cy="329184"/>
          </a:xfrm>
          <a:prstGeom prst="rect">
            <a:avLst/>
          </a:prstGeom>
          <a:noFill/>
          <a:ln/>
        </p:spPr>
        <p:txBody>
          <a:bodyPr wrap="square" lIns="0" tIns="0" rIns="0" bIns="0" rtlCol="0" anchor="t"/>
          <a:lstStyle/>
          <a:p>
            <a:pPr marL="0" indent="0" algn="l">
              <a:lnSpc>
                <a:spcPct val="100000"/>
              </a:lnSpc>
              <a:buNone/>
            </a:pPr>
            <a:r>
              <a:rPr lang="en-US" sz="1330" b="1" dirty="0">
                <a:solidFill>
                  <a:srgbClr val="13294B"/>
                </a:solidFill>
                <a:latin typeface="Cambria" pitchFamily="34" charset="0"/>
                <a:ea typeface="Cambria" pitchFamily="34" charset="-122"/>
                <a:cs typeface="Cambria" pitchFamily="34" charset="-120"/>
              </a:rPr>
              <a:t>Walkthrough</a:t>
            </a:r>
            <a:endParaRPr lang="en-US" sz="1330" dirty="0"/>
          </a:p>
        </p:txBody>
      </p:sp>
      <p:sp>
        <p:nvSpPr>
          <p:cNvPr id="14" name="Text 11"/>
          <p:cNvSpPr/>
          <p:nvPr/>
        </p:nvSpPr>
        <p:spPr>
          <a:xfrm>
            <a:off x="6784848" y="2103120"/>
            <a:ext cx="4709160" cy="329184"/>
          </a:xfrm>
          <a:prstGeom prst="rect">
            <a:avLst/>
          </a:prstGeom>
          <a:noFill/>
          <a:ln/>
        </p:spPr>
        <p:txBody>
          <a:bodyPr wrap="square" lIns="0" tIns="0" rIns="0" bIns="0" rtlCol="0" anchor="t"/>
          <a:lstStyle/>
          <a:p>
            <a:pPr marL="0" indent="0" algn="l">
              <a:lnSpc>
                <a:spcPct val="100000"/>
              </a:lnSpc>
              <a:buNone/>
            </a:pPr>
            <a:r>
              <a:rPr lang="en-US" sz="1080" dirty="0">
                <a:solidFill>
                  <a:srgbClr val="5C6B82"/>
                </a:solidFill>
                <a:latin typeface="Calibri" pitchFamily="34" charset="0"/>
                <a:ea typeface="Calibri" pitchFamily="34" charset="-122"/>
                <a:cs typeface="Calibri" pitchFamily="34" charset="-120"/>
              </a:rPr>
              <a:t>Author leads peers through the design informally to surface issues.</a:t>
            </a:r>
            <a:endParaRPr lang="en-US" sz="1080" dirty="0"/>
          </a:p>
        </p:txBody>
      </p:sp>
      <p:sp>
        <p:nvSpPr>
          <p:cNvPr id="15" name="Shape 12"/>
          <p:cNvSpPr/>
          <p:nvPr/>
        </p:nvSpPr>
        <p:spPr>
          <a:xfrm>
            <a:off x="5943600" y="2587752"/>
            <a:ext cx="5687568" cy="777240"/>
          </a:xfrm>
          <a:prstGeom prst="roundRect">
            <a:avLst>
              <a:gd name="adj" fmla="val 11765"/>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sp>
      <p:sp>
        <p:nvSpPr>
          <p:cNvPr id="16" name="Shape 13"/>
          <p:cNvSpPr/>
          <p:nvPr/>
        </p:nvSpPr>
        <p:spPr>
          <a:xfrm>
            <a:off x="6126480" y="2715768"/>
            <a:ext cx="530352" cy="530352"/>
          </a:xfrm>
          <a:prstGeom prst="ellipse">
            <a:avLst/>
          </a:prstGeom>
          <a:solidFill>
            <a:srgbClr val="D98A28"/>
          </a:solidFill>
          <a:ln/>
          <a:effectLst>
            <a:outerShdw blurRad="1270" dist="635" dir="5400000" algn="bl" rotWithShape="0">
              <a:srgbClr val="1B3A5F">
                <a:alpha val="25000"/>
              </a:srgbClr>
            </a:outerShdw>
          </a:effectLst>
        </p:spPr>
      </p:sp>
      <p:pic>
        <p:nvPicPr>
          <p:cNvPr id="17" name="Image 1" descr="/home/claude/deck/icons/review.png"/>
          <p:cNvPicPr>
            <a:picLocks noChangeAspect="1"/>
          </p:cNvPicPr>
          <p:nvPr/>
        </p:nvPicPr>
        <p:blipFill>
          <a:blip r:embed="rId5"/>
          <a:stretch>
            <a:fillRect/>
          </a:stretch>
        </p:blipFill>
        <p:spPr>
          <a:xfrm>
            <a:off x="6264372" y="2853660"/>
            <a:ext cx="254569" cy="254569"/>
          </a:xfrm>
          <a:prstGeom prst="rect">
            <a:avLst/>
          </a:prstGeom>
        </p:spPr>
      </p:pic>
      <p:sp>
        <p:nvSpPr>
          <p:cNvPr id="18" name="Text 14"/>
          <p:cNvSpPr/>
          <p:nvPr/>
        </p:nvSpPr>
        <p:spPr>
          <a:xfrm>
            <a:off x="6784848" y="2679192"/>
            <a:ext cx="4663440" cy="329184"/>
          </a:xfrm>
          <a:prstGeom prst="rect">
            <a:avLst/>
          </a:prstGeom>
          <a:noFill/>
          <a:ln/>
        </p:spPr>
        <p:txBody>
          <a:bodyPr wrap="square" lIns="0" tIns="0" rIns="0" bIns="0" rtlCol="0" anchor="t"/>
          <a:lstStyle/>
          <a:p>
            <a:pPr marL="0" indent="0" algn="l">
              <a:lnSpc>
                <a:spcPct val="100000"/>
              </a:lnSpc>
              <a:buNone/>
            </a:pPr>
            <a:r>
              <a:rPr lang="en-US" sz="1330" b="1" dirty="0">
                <a:solidFill>
                  <a:srgbClr val="13294B"/>
                </a:solidFill>
                <a:latin typeface="Cambria" pitchFamily="34" charset="0"/>
                <a:ea typeface="Cambria" pitchFamily="34" charset="-122"/>
                <a:cs typeface="Cambria" pitchFamily="34" charset="-120"/>
              </a:rPr>
              <a:t>Formal / technical review</a:t>
            </a:r>
            <a:endParaRPr lang="en-US" sz="1330" dirty="0"/>
          </a:p>
        </p:txBody>
      </p:sp>
      <p:sp>
        <p:nvSpPr>
          <p:cNvPr id="19" name="Text 15"/>
          <p:cNvSpPr/>
          <p:nvPr/>
        </p:nvSpPr>
        <p:spPr>
          <a:xfrm>
            <a:off x="6784848" y="2999232"/>
            <a:ext cx="4709160" cy="329184"/>
          </a:xfrm>
          <a:prstGeom prst="rect">
            <a:avLst/>
          </a:prstGeom>
          <a:noFill/>
          <a:ln/>
        </p:spPr>
        <p:txBody>
          <a:bodyPr wrap="square" lIns="0" tIns="0" rIns="0" bIns="0" rtlCol="0" anchor="t"/>
          <a:lstStyle/>
          <a:p>
            <a:pPr marL="0" indent="0" algn="l">
              <a:lnSpc>
                <a:spcPct val="100000"/>
              </a:lnSpc>
              <a:buNone/>
            </a:pPr>
            <a:r>
              <a:rPr lang="en-US" sz="1080" dirty="0">
                <a:solidFill>
                  <a:srgbClr val="5C6B82"/>
                </a:solidFill>
                <a:latin typeface="Calibri" pitchFamily="34" charset="0"/>
                <a:ea typeface="Calibri" pitchFamily="34" charset="-122"/>
                <a:cs typeface="Calibri" pitchFamily="34" charset="-120"/>
              </a:rPr>
              <a:t>A structured meeting with defined roles (moderator, reader, recorder) &amp; a checklist.</a:t>
            </a:r>
            <a:endParaRPr lang="en-US" sz="1080" dirty="0"/>
          </a:p>
        </p:txBody>
      </p:sp>
      <p:sp>
        <p:nvSpPr>
          <p:cNvPr id="20" name="Shape 16"/>
          <p:cNvSpPr/>
          <p:nvPr/>
        </p:nvSpPr>
        <p:spPr>
          <a:xfrm>
            <a:off x="5943600" y="3483864"/>
            <a:ext cx="5687568" cy="777240"/>
          </a:xfrm>
          <a:prstGeom prst="roundRect">
            <a:avLst>
              <a:gd name="adj" fmla="val 11765"/>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sp>
      <p:sp>
        <p:nvSpPr>
          <p:cNvPr id="21" name="Shape 17"/>
          <p:cNvSpPr/>
          <p:nvPr/>
        </p:nvSpPr>
        <p:spPr>
          <a:xfrm>
            <a:off x="6126480" y="3611880"/>
            <a:ext cx="530352" cy="530352"/>
          </a:xfrm>
          <a:prstGeom prst="ellipse">
            <a:avLst/>
          </a:prstGeom>
          <a:solidFill>
            <a:srgbClr val="35618E"/>
          </a:solidFill>
          <a:ln/>
          <a:effectLst>
            <a:outerShdw blurRad="1270" dist="635" dir="5400000" algn="bl" rotWithShape="0">
              <a:srgbClr val="1B3A5F">
                <a:alpha val="25000"/>
              </a:srgbClr>
            </a:outerShdw>
          </a:effectLst>
        </p:spPr>
      </p:sp>
      <p:pic>
        <p:nvPicPr>
          <p:cNvPr id="22" name="Image 2" descr="/home/claude/deck/icons/brain.png"/>
          <p:cNvPicPr>
            <a:picLocks noChangeAspect="1"/>
          </p:cNvPicPr>
          <p:nvPr/>
        </p:nvPicPr>
        <p:blipFill>
          <a:blip r:embed="rId6"/>
          <a:stretch>
            <a:fillRect/>
          </a:stretch>
        </p:blipFill>
        <p:spPr>
          <a:xfrm>
            <a:off x="6264372" y="3749772"/>
            <a:ext cx="254569" cy="254569"/>
          </a:xfrm>
          <a:prstGeom prst="rect">
            <a:avLst/>
          </a:prstGeom>
        </p:spPr>
      </p:pic>
      <p:sp>
        <p:nvSpPr>
          <p:cNvPr id="23" name="Text 18"/>
          <p:cNvSpPr/>
          <p:nvPr/>
        </p:nvSpPr>
        <p:spPr>
          <a:xfrm>
            <a:off x="6784848" y="3575304"/>
            <a:ext cx="4663440" cy="329184"/>
          </a:xfrm>
          <a:prstGeom prst="rect">
            <a:avLst/>
          </a:prstGeom>
          <a:noFill/>
          <a:ln/>
        </p:spPr>
        <p:txBody>
          <a:bodyPr wrap="square" lIns="0" tIns="0" rIns="0" bIns="0" rtlCol="0" anchor="t"/>
          <a:lstStyle/>
          <a:p>
            <a:pPr marL="0" indent="0" algn="l">
              <a:lnSpc>
                <a:spcPct val="100000"/>
              </a:lnSpc>
              <a:buNone/>
            </a:pPr>
            <a:r>
              <a:rPr lang="en-US" sz="1330" b="1" dirty="0">
                <a:solidFill>
                  <a:srgbClr val="13294B"/>
                </a:solidFill>
                <a:latin typeface="Cambria" pitchFamily="34" charset="0"/>
                <a:ea typeface="Cambria" pitchFamily="34" charset="-122"/>
                <a:cs typeface="Cambria" pitchFamily="34" charset="-120"/>
              </a:rPr>
              <a:t>Inspection</a:t>
            </a:r>
            <a:endParaRPr lang="en-US" sz="1330" dirty="0"/>
          </a:p>
        </p:txBody>
      </p:sp>
      <p:sp>
        <p:nvSpPr>
          <p:cNvPr id="24" name="Text 19"/>
          <p:cNvSpPr/>
          <p:nvPr/>
        </p:nvSpPr>
        <p:spPr>
          <a:xfrm>
            <a:off x="6784848" y="3895344"/>
            <a:ext cx="4709160" cy="329184"/>
          </a:xfrm>
          <a:prstGeom prst="rect">
            <a:avLst/>
          </a:prstGeom>
          <a:noFill/>
          <a:ln/>
        </p:spPr>
        <p:txBody>
          <a:bodyPr wrap="square" lIns="0" tIns="0" rIns="0" bIns="0" rtlCol="0" anchor="t"/>
          <a:lstStyle/>
          <a:p>
            <a:pPr marL="0" indent="0" algn="l">
              <a:lnSpc>
                <a:spcPct val="100000"/>
              </a:lnSpc>
              <a:buNone/>
            </a:pPr>
            <a:r>
              <a:rPr lang="en-US" sz="1080" dirty="0">
                <a:solidFill>
                  <a:srgbClr val="5C6B82"/>
                </a:solidFill>
                <a:latin typeface="Calibri" pitchFamily="34" charset="0"/>
                <a:ea typeface="Calibri" pitchFamily="34" charset="-122"/>
                <a:cs typeface="Calibri" pitchFamily="34" charset="-120"/>
              </a:rPr>
              <a:t>A rigorous, metric-driven examination against explicit entry/exit criteria.</a:t>
            </a:r>
            <a:endParaRPr lang="en-US" sz="1080" dirty="0"/>
          </a:p>
        </p:txBody>
      </p:sp>
      <p:sp>
        <p:nvSpPr>
          <p:cNvPr id="25" name="Shape 20"/>
          <p:cNvSpPr/>
          <p:nvPr/>
        </p:nvSpPr>
        <p:spPr>
          <a:xfrm>
            <a:off x="228600" y="4345962"/>
            <a:ext cx="11064240" cy="2286000"/>
          </a:xfrm>
          <a:prstGeom prst="roundRect">
            <a:avLst>
              <a:gd name="adj" fmla="val 4800"/>
            </a:avLst>
          </a:prstGeom>
          <a:solidFill>
            <a:srgbClr val="FFFFFF"/>
          </a:solidFill>
          <a:ln w="12700">
            <a:solidFill>
              <a:srgbClr val="E1E8F1"/>
            </a:solidFill>
            <a:prstDash val="solid"/>
          </a:ln>
          <a:effectLst>
            <a:outerShdw blurRad="1524" dist="889" dir="5400000" algn="bl" rotWithShape="0">
              <a:srgbClr val="1B3A5F">
                <a:alpha val="18000"/>
              </a:srgbClr>
            </a:outerShdw>
          </a:effectLst>
        </p:spPr>
      </p:sp>
      <p:sp>
        <p:nvSpPr>
          <p:cNvPr id="26" name="Text 21"/>
          <p:cNvSpPr/>
          <p:nvPr/>
        </p:nvSpPr>
        <p:spPr>
          <a:xfrm>
            <a:off x="822960" y="3977640"/>
            <a:ext cx="7315200" cy="365760"/>
          </a:xfrm>
          <a:prstGeom prst="rect">
            <a:avLst/>
          </a:prstGeom>
          <a:noFill/>
          <a:ln/>
        </p:spPr>
        <p:txBody>
          <a:bodyPr wrap="square" lIns="0" tIns="0" rIns="0" bIns="0" rtlCol="0" anchor="t"/>
          <a:lstStyle/>
          <a:p>
            <a:pPr marL="0" indent="0" algn="l">
              <a:lnSpc>
                <a:spcPct val="100000"/>
              </a:lnSpc>
              <a:buNone/>
            </a:pPr>
            <a:r>
              <a:rPr lang="en-US" sz="1500" b="1" dirty="0">
                <a:solidFill>
                  <a:srgbClr val="13294B"/>
                </a:solidFill>
                <a:latin typeface="Cambria" pitchFamily="34" charset="0"/>
                <a:ea typeface="Cambria" pitchFamily="34" charset="-122"/>
                <a:cs typeface="Cambria" pitchFamily="34" charset="-120"/>
              </a:rPr>
              <a:t>A design-review checklist asks…</a:t>
            </a:r>
            <a:endParaRPr lang="en-US" sz="1500" dirty="0"/>
          </a:p>
        </p:txBody>
      </p:sp>
      <p:pic>
        <p:nvPicPr>
          <p:cNvPr id="27" name="Image 3" descr="/home/claude/deck/icons/check.png"/>
          <p:cNvPicPr>
            <a:picLocks noChangeAspect="1"/>
          </p:cNvPicPr>
          <p:nvPr/>
        </p:nvPicPr>
        <p:blipFill>
          <a:blip r:embed="rId7"/>
          <a:stretch>
            <a:fillRect/>
          </a:stretch>
        </p:blipFill>
        <p:spPr>
          <a:xfrm>
            <a:off x="822960" y="4507992"/>
            <a:ext cx="201168" cy="201168"/>
          </a:xfrm>
          <a:prstGeom prst="rect">
            <a:avLst/>
          </a:prstGeom>
        </p:spPr>
      </p:pic>
      <p:sp>
        <p:nvSpPr>
          <p:cNvPr id="28" name="Text 22"/>
          <p:cNvSpPr/>
          <p:nvPr/>
        </p:nvSpPr>
        <p:spPr>
          <a:xfrm>
            <a:off x="1152144" y="4462272"/>
            <a:ext cx="5029200" cy="457200"/>
          </a:xfrm>
          <a:prstGeom prst="rect">
            <a:avLst/>
          </a:prstGeom>
          <a:noFill/>
          <a:ln/>
        </p:spPr>
        <p:txBody>
          <a:bodyPr wrap="square" lIns="0" tIns="0" rIns="0" bIns="0" rtlCol="0" anchor="t"/>
          <a:lstStyle/>
          <a:p>
            <a:pPr marL="0" indent="0" algn="l">
              <a:lnSpc>
                <a:spcPct val="102000"/>
              </a:lnSpc>
              <a:buNone/>
            </a:pPr>
            <a:r>
              <a:rPr lang="en-US" sz="1200" dirty="0">
                <a:solidFill>
                  <a:srgbClr val="1B3A5F"/>
                </a:solidFill>
                <a:latin typeface="Calibri" pitchFamily="34" charset="0"/>
                <a:ea typeface="Calibri" pitchFamily="34" charset="-122"/>
                <a:cs typeface="Calibri" pitchFamily="34" charset="-120"/>
              </a:rPr>
              <a:t>Does the design implement every requirement?</a:t>
            </a:r>
            <a:endParaRPr lang="en-US" sz="1200" dirty="0"/>
          </a:p>
        </p:txBody>
      </p:sp>
      <p:pic>
        <p:nvPicPr>
          <p:cNvPr id="29" name="Image 4" descr="/home/claude/deck/icons/check.png"/>
          <p:cNvPicPr>
            <a:picLocks noChangeAspect="1"/>
          </p:cNvPicPr>
          <p:nvPr/>
        </p:nvPicPr>
        <p:blipFill>
          <a:blip r:embed="rId7"/>
          <a:stretch>
            <a:fillRect/>
          </a:stretch>
        </p:blipFill>
        <p:spPr>
          <a:xfrm>
            <a:off x="6309360" y="4507992"/>
            <a:ext cx="201168" cy="201168"/>
          </a:xfrm>
          <a:prstGeom prst="rect">
            <a:avLst/>
          </a:prstGeom>
        </p:spPr>
      </p:pic>
      <p:sp>
        <p:nvSpPr>
          <p:cNvPr id="30" name="Text 23"/>
          <p:cNvSpPr/>
          <p:nvPr/>
        </p:nvSpPr>
        <p:spPr>
          <a:xfrm>
            <a:off x="6638544" y="4462272"/>
            <a:ext cx="5029200" cy="457200"/>
          </a:xfrm>
          <a:prstGeom prst="rect">
            <a:avLst/>
          </a:prstGeom>
          <a:noFill/>
          <a:ln/>
        </p:spPr>
        <p:txBody>
          <a:bodyPr wrap="square" lIns="0" tIns="0" rIns="0" bIns="0" rtlCol="0" anchor="t"/>
          <a:lstStyle/>
          <a:p>
            <a:pPr marL="0" indent="0" algn="l">
              <a:lnSpc>
                <a:spcPct val="102000"/>
              </a:lnSpc>
              <a:buNone/>
            </a:pPr>
            <a:r>
              <a:rPr lang="en-US" sz="1200" dirty="0">
                <a:solidFill>
                  <a:srgbClr val="1B3A5F"/>
                </a:solidFill>
                <a:latin typeface="Calibri" pitchFamily="34" charset="0"/>
                <a:ea typeface="Calibri" pitchFamily="34" charset="-122"/>
                <a:cs typeface="Calibri" pitchFamily="34" charset="-120"/>
              </a:rPr>
              <a:t>Is each module highly cohesive and loosely coupled?</a:t>
            </a:r>
            <a:endParaRPr lang="en-US" sz="1200" dirty="0"/>
          </a:p>
        </p:txBody>
      </p:sp>
      <p:pic>
        <p:nvPicPr>
          <p:cNvPr id="31" name="Image 5" descr="/home/claude/deck/icons/check.png"/>
          <p:cNvPicPr>
            <a:picLocks noChangeAspect="1"/>
          </p:cNvPicPr>
          <p:nvPr/>
        </p:nvPicPr>
        <p:blipFill>
          <a:blip r:embed="rId7"/>
          <a:stretch>
            <a:fillRect/>
          </a:stretch>
        </p:blipFill>
        <p:spPr>
          <a:xfrm>
            <a:off x="822960" y="5020056"/>
            <a:ext cx="201168" cy="201168"/>
          </a:xfrm>
          <a:prstGeom prst="rect">
            <a:avLst/>
          </a:prstGeom>
        </p:spPr>
      </p:pic>
      <p:sp>
        <p:nvSpPr>
          <p:cNvPr id="32" name="Text 24"/>
          <p:cNvSpPr/>
          <p:nvPr/>
        </p:nvSpPr>
        <p:spPr>
          <a:xfrm>
            <a:off x="1152144" y="4974336"/>
            <a:ext cx="5029200" cy="457200"/>
          </a:xfrm>
          <a:prstGeom prst="rect">
            <a:avLst/>
          </a:prstGeom>
          <a:noFill/>
          <a:ln/>
        </p:spPr>
        <p:txBody>
          <a:bodyPr wrap="square" lIns="0" tIns="0" rIns="0" bIns="0" rtlCol="0" anchor="t"/>
          <a:lstStyle/>
          <a:p>
            <a:pPr marL="0" indent="0" algn="l">
              <a:lnSpc>
                <a:spcPct val="102000"/>
              </a:lnSpc>
              <a:buNone/>
            </a:pPr>
            <a:r>
              <a:rPr lang="en-US" sz="1200" dirty="0">
                <a:solidFill>
                  <a:srgbClr val="1B3A5F"/>
                </a:solidFill>
                <a:latin typeface="Calibri" pitchFamily="34" charset="0"/>
                <a:ea typeface="Calibri" pitchFamily="34" charset="-122"/>
                <a:cs typeface="Calibri" pitchFamily="34" charset="-120"/>
              </a:rPr>
              <a:t>Are interfaces simple, consistent and well-defined?</a:t>
            </a:r>
            <a:endParaRPr lang="en-US" sz="1200" dirty="0"/>
          </a:p>
        </p:txBody>
      </p:sp>
      <p:pic>
        <p:nvPicPr>
          <p:cNvPr id="33" name="Image 6" descr="/home/claude/deck/icons/check.png"/>
          <p:cNvPicPr>
            <a:picLocks noChangeAspect="1"/>
          </p:cNvPicPr>
          <p:nvPr/>
        </p:nvPicPr>
        <p:blipFill>
          <a:blip r:embed="rId7"/>
          <a:stretch>
            <a:fillRect/>
          </a:stretch>
        </p:blipFill>
        <p:spPr>
          <a:xfrm>
            <a:off x="6309360" y="5020056"/>
            <a:ext cx="201168" cy="201168"/>
          </a:xfrm>
          <a:prstGeom prst="rect">
            <a:avLst/>
          </a:prstGeom>
        </p:spPr>
      </p:pic>
      <p:sp>
        <p:nvSpPr>
          <p:cNvPr id="34" name="Text 25"/>
          <p:cNvSpPr/>
          <p:nvPr/>
        </p:nvSpPr>
        <p:spPr>
          <a:xfrm>
            <a:off x="6638544" y="4974336"/>
            <a:ext cx="5029200" cy="457200"/>
          </a:xfrm>
          <a:prstGeom prst="rect">
            <a:avLst/>
          </a:prstGeom>
          <a:noFill/>
          <a:ln/>
        </p:spPr>
        <p:txBody>
          <a:bodyPr wrap="square" lIns="0" tIns="0" rIns="0" bIns="0" rtlCol="0" anchor="t"/>
          <a:lstStyle/>
          <a:p>
            <a:pPr marL="0" indent="0" algn="l">
              <a:lnSpc>
                <a:spcPct val="102000"/>
              </a:lnSpc>
              <a:buNone/>
            </a:pPr>
            <a:r>
              <a:rPr lang="en-US" sz="1200" dirty="0">
                <a:solidFill>
                  <a:srgbClr val="1B3A5F"/>
                </a:solidFill>
                <a:latin typeface="Calibri" pitchFamily="34" charset="0"/>
                <a:ea typeface="Calibri" pitchFamily="34" charset="-122"/>
                <a:cs typeface="Calibri" pitchFamily="34" charset="-120"/>
              </a:rPr>
              <a:t>Are data structures and algorithms appropriate?</a:t>
            </a:r>
            <a:endParaRPr lang="en-US" sz="1200" dirty="0"/>
          </a:p>
        </p:txBody>
      </p:sp>
      <p:pic>
        <p:nvPicPr>
          <p:cNvPr id="35" name="Image 7" descr="/home/claude/deck/icons/check.png"/>
          <p:cNvPicPr>
            <a:picLocks noChangeAspect="1"/>
          </p:cNvPicPr>
          <p:nvPr/>
        </p:nvPicPr>
        <p:blipFill>
          <a:blip r:embed="rId7"/>
          <a:stretch>
            <a:fillRect/>
          </a:stretch>
        </p:blipFill>
        <p:spPr>
          <a:xfrm>
            <a:off x="822960" y="5532120"/>
            <a:ext cx="201168" cy="201168"/>
          </a:xfrm>
          <a:prstGeom prst="rect">
            <a:avLst/>
          </a:prstGeom>
        </p:spPr>
      </p:pic>
      <p:sp>
        <p:nvSpPr>
          <p:cNvPr id="36" name="Text 26"/>
          <p:cNvSpPr/>
          <p:nvPr/>
        </p:nvSpPr>
        <p:spPr>
          <a:xfrm>
            <a:off x="1152144" y="5486400"/>
            <a:ext cx="5029200" cy="457200"/>
          </a:xfrm>
          <a:prstGeom prst="rect">
            <a:avLst/>
          </a:prstGeom>
          <a:noFill/>
          <a:ln/>
        </p:spPr>
        <p:txBody>
          <a:bodyPr wrap="square" lIns="0" tIns="0" rIns="0" bIns="0" rtlCol="0" anchor="t"/>
          <a:lstStyle/>
          <a:p>
            <a:pPr marL="0" indent="0" algn="l">
              <a:lnSpc>
                <a:spcPct val="102000"/>
              </a:lnSpc>
              <a:buNone/>
            </a:pPr>
            <a:r>
              <a:rPr lang="en-US" sz="1200" dirty="0">
                <a:solidFill>
                  <a:srgbClr val="1B3A5F"/>
                </a:solidFill>
                <a:latin typeface="Calibri" pitchFamily="34" charset="0"/>
                <a:ea typeface="Calibri" pitchFamily="34" charset="-122"/>
                <a:cs typeface="Calibri" pitchFamily="34" charset="-120"/>
              </a:rPr>
              <a:t>Is the design traceable back to the analysis model?</a:t>
            </a:r>
            <a:endParaRPr lang="en-US" sz="1200" dirty="0"/>
          </a:p>
        </p:txBody>
      </p:sp>
      <p:pic>
        <p:nvPicPr>
          <p:cNvPr id="37" name="Image 8" descr="/home/claude/deck/icons/check.png"/>
          <p:cNvPicPr>
            <a:picLocks noChangeAspect="1"/>
          </p:cNvPicPr>
          <p:nvPr/>
        </p:nvPicPr>
        <p:blipFill>
          <a:blip r:embed="rId7"/>
          <a:stretch>
            <a:fillRect/>
          </a:stretch>
        </p:blipFill>
        <p:spPr>
          <a:xfrm>
            <a:off x="6309360" y="5532120"/>
            <a:ext cx="201168" cy="201168"/>
          </a:xfrm>
          <a:prstGeom prst="rect">
            <a:avLst/>
          </a:prstGeom>
        </p:spPr>
      </p:pic>
      <p:sp>
        <p:nvSpPr>
          <p:cNvPr id="38" name="Text 27"/>
          <p:cNvSpPr/>
          <p:nvPr/>
        </p:nvSpPr>
        <p:spPr>
          <a:xfrm>
            <a:off x="6638544" y="5486400"/>
            <a:ext cx="5029200" cy="457200"/>
          </a:xfrm>
          <a:prstGeom prst="rect">
            <a:avLst/>
          </a:prstGeom>
          <a:noFill/>
          <a:ln/>
        </p:spPr>
        <p:txBody>
          <a:bodyPr wrap="square" lIns="0" tIns="0" rIns="0" bIns="0" rtlCol="0" anchor="t"/>
          <a:lstStyle/>
          <a:p>
            <a:pPr marL="0" indent="0" algn="l">
              <a:lnSpc>
                <a:spcPct val="102000"/>
              </a:lnSpc>
              <a:buNone/>
            </a:pPr>
            <a:r>
              <a:rPr lang="en-US" sz="1200" dirty="0">
                <a:solidFill>
                  <a:srgbClr val="1B3A5F"/>
                </a:solidFill>
                <a:latin typeface="Calibri" pitchFamily="34" charset="0"/>
                <a:ea typeface="Calibri" pitchFamily="34" charset="-122"/>
                <a:cs typeface="Calibri" pitchFamily="34" charset="-120"/>
              </a:rPr>
              <a:t>Has error handling and boundary behaviour been addressed?</a:t>
            </a:r>
            <a:endParaRPr lang="en-US" sz="1200" dirty="0"/>
          </a:p>
        </p:txBody>
      </p:sp>
      <p:pic>
        <p:nvPicPr>
          <p:cNvPr id="39" name="Picture 38" descr="gitam_logo.png"/>
          <p:cNvPicPr>
            <a:picLocks noChangeAspect="1"/>
          </p:cNvPicPr>
          <p:nvPr/>
        </p:nvPicPr>
        <p:blipFill>
          <a:blip r:embed="rId8"/>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2921375678"/>
      </p:ext>
    </p:extLst>
  </p:cSld>
  <p:clrMapOvr>
    <a:overrideClrMapping bg1="lt1" tx1="dk1" bg2="lt2" tx2="dk2" accent1="accent1" accent2="accent2" accent3="accent3" accent4="accent4" accent5="accent5" accent6="accent6" hlink="hlink" folHlink="folHlink"/>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p:cNvGrpSpPr/>
        <p:nvPr/>
      </p:nvGrpSpPr>
      <p:grpSpPr>
        <a:xfrm>
          <a:off x="0" y="0"/>
          <a:ext cx="0" cy="0"/>
          <a:chOff x="0" y="0"/>
          <a:chExt cx="0" cy="0"/>
        </a:xfrm>
      </p:grpSpPr>
      <p:sp>
        <p:nvSpPr>
          <p:cNvPr id="2" name="Rectangle 1"/>
          <p:cNvSpPr/>
          <p:nvPr/>
        </p:nvSpPr>
        <p:spPr>
          <a:xfrm>
            <a:off x="210393" y="1445236"/>
            <a:ext cx="11587795" cy="4524315"/>
          </a:xfrm>
          <a:prstGeom prst="rect">
            <a:avLst/>
          </a:prstGeom>
        </p:spPr>
        <p:txBody>
          <a:bodyPr wrap="square">
            <a:spAutoFit/>
          </a:bodyPr>
          <a:lstStyle/>
          <a:p>
            <a:r>
              <a:rPr lang="en-US" dirty="0">
                <a:solidFill>
                  <a:srgbClr val="000000"/>
                </a:solidFill>
                <a:latin typeface="Times New Roman" panose="02020603050405020304" pitchFamily="18" charset="0"/>
                <a:cs typeface="Times New Roman" panose="02020603050405020304" pitchFamily="18" charset="0"/>
              </a:rPr>
              <a:t>After a design is complete, the design is required to be reviewed. The review team usually consists of members with design, implementation, testing, and maintenance perspectives, who may or may not be the members of the development team. </a:t>
            </a:r>
          </a:p>
          <a:p>
            <a:endParaRPr lang="en-US" dirty="0">
              <a:solidFill>
                <a:srgbClr val="000000"/>
              </a:solidFill>
              <a:latin typeface="Times New Roman" panose="02020603050405020304" pitchFamily="18" charset="0"/>
              <a:cs typeface="Times New Roman" panose="02020603050405020304" pitchFamily="18" charset="0"/>
            </a:endParaRPr>
          </a:p>
          <a:p>
            <a:r>
              <a:rPr lang="en-US" dirty="0">
                <a:solidFill>
                  <a:srgbClr val="000000"/>
                </a:solidFill>
                <a:latin typeface="Times New Roman" panose="02020603050405020304" pitchFamily="18" charset="0"/>
                <a:cs typeface="Times New Roman" panose="02020603050405020304" pitchFamily="18" charset="0"/>
              </a:rPr>
              <a:t>Normally, members of the team who would code the design, and test the code, the analysts, and the maintainers attend the review meeting. The review team checks the design documents especially for the following aspects:</a:t>
            </a:r>
          </a:p>
          <a:p>
            <a:endParaRPr lang="en-US" b="1" dirty="0">
              <a:solidFill>
                <a:srgbClr val="000000"/>
              </a:solidFill>
              <a:latin typeface="Times New Roman" panose="02020603050405020304" pitchFamily="18" charset="0"/>
              <a:cs typeface="Times New Roman" panose="02020603050405020304" pitchFamily="18" charset="0"/>
            </a:endParaRPr>
          </a:p>
          <a:p>
            <a:r>
              <a:rPr lang="en-US" b="1" dirty="0">
                <a:solidFill>
                  <a:srgbClr val="000000"/>
                </a:solidFill>
                <a:latin typeface="Times New Roman" panose="02020603050405020304" pitchFamily="18" charset="0"/>
                <a:cs typeface="Times New Roman" panose="02020603050405020304" pitchFamily="18" charset="0"/>
              </a:rPr>
              <a:t>Traceability: </a:t>
            </a:r>
            <a:r>
              <a:rPr lang="en-US" dirty="0">
                <a:solidFill>
                  <a:srgbClr val="000000"/>
                </a:solidFill>
                <a:latin typeface="Times New Roman" panose="02020603050405020304" pitchFamily="18" charset="0"/>
                <a:cs typeface="Times New Roman" panose="02020603050405020304" pitchFamily="18" charset="0"/>
              </a:rPr>
              <a:t>Whether each bubble of the DFD can be traced to some module in the structure chart and vice versa.</a:t>
            </a:r>
          </a:p>
          <a:p>
            <a:endParaRPr lang="en-US" dirty="0">
              <a:solidFill>
                <a:srgbClr val="000000"/>
              </a:solidFill>
              <a:latin typeface="Times New Roman" panose="02020603050405020304" pitchFamily="18" charset="0"/>
              <a:cs typeface="Times New Roman" panose="02020603050405020304" pitchFamily="18" charset="0"/>
            </a:endParaRPr>
          </a:p>
          <a:p>
            <a:r>
              <a:rPr lang="en-US" dirty="0">
                <a:solidFill>
                  <a:srgbClr val="000000"/>
                </a:solidFill>
                <a:latin typeface="Times New Roman" panose="02020603050405020304" pitchFamily="18" charset="0"/>
                <a:cs typeface="Times New Roman" panose="02020603050405020304" pitchFamily="18" charset="0"/>
              </a:rPr>
              <a:t>They check whether each functional requirement in the SRS document can be traced to some bubble in the DFD model and vice versa.</a:t>
            </a:r>
          </a:p>
          <a:p>
            <a:endParaRPr lang="en-US" b="1" dirty="0">
              <a:solidFill>
                <a:srgbClr val="000000"/>
              </a:solidFill>
              <a:latin typeface="Times New Roman" panose="02020603050405020304" pitchFamily="18" charset="0"/>
              <a:cs typeface="Times New Roman" panose="02020603050405020304" pitchFamily="18" charset="0"/>
            </a:endParaRPr>
          </a:p>
          <a:p>
            <a:r>
              <a:rPr lang="en-US" b="1" dirty="0">
                <a:solidFill>
                  <a:srgbClr val="000000"/>
                </a:solidFill>
                <a:latin typeface="Times New Roman" panose="02020603050405020304" pitchFamily="18" charset="0"/>
                <a:cs typeface="Times New Roman" panose="02020603050405020304" pitchFamily="18" charset="0"/>
              </a:rPr>
              <a:t>Correctness: </a:t>
            </a:r>
            <a:r>
              <a:rPr lang="en-US" dirty="0">
                <a:solidFill>
                  <a:srgbClr val="000000"/>
                </a:solidFill>
                <a:latin typeface="Times New Roman" panose="02020603050405020304" pitchFamily="18" charset="0"/>
                <a:cs typeface="Times New Roman" panose="02020603050405020304" pitchFamily="18" charset="0"/>
              </a:rPr>
              <a:t>Whether all the algorithms and data structures of the detailed design are correct.</a:t>
            </a:r>
          </a:p>
          <a:p>
            <a:endParaRPr lang="en-US" b="1" dirty="0">
              <a:solidFill>
                <a:srgbClr val="000000"/>
              </a:solidFill>
              <a:latin typeface="Times New Roman" panose="02020603050405020304" pitchFamily="18" charset="0"/>
              <a:cs typeface="Times New Roman" panose="02020603050405020304" pitchFamily="18" charset="0"/>
            </a:endParaRPr>
          </a:p>
          <a:p>
            <a:r>
              <a:rPr lang="en-US" b="1" dirty="0">
                <a:solidFill>
                  <a:srgbClr val="000000"/>
                </a:solidFill>
                <a:latin typeface="Times New Roman" panose="02020603050405020304" pitchFamily="18" charset="0"/>
                <a:cs typeface="Times New Roman" panose="02020603050405020304" pitchFamily="18" charset="0"/>
              </a:rPr>
              <a:t>Maintainability: </a:t>
            </a:r>
            <a:r>
              <a:rPr lang="en-US" dirty="0">
                <a:solidFill>
                  <a:srgbClr val="000000"/>
                </a:solidFill>
                <a:latin typeface="Times New Roman" panose="02020603050405020304" pitchFamily="18" charset="0"/>
                <a:cs typeface="Times New Roman" panose="02020603050405020304" pitchFamily="18" charset="0"/>
              </a:rPr>
              <a:t>Whether the design can be easily maintained in future.</a:t>
            </a:r>
          </a:p>
          <a:p>
            <a:endParaRPr lang="en-US" dirty="0">
              <a:solidFill>
                <a:srgbClr val="000000"/>
              </a:solidFill>
              <a:latin typeface="Times New Roman" panose="02020603050405020304" pitchFamily="18" charset="0"/>
              <a:cs typeface="Times New Roman" panose="02020603050405020304" pitchFamily="18" charset="0"/>
            </a:endParaRPr>
          </a:p>
          <a:p>
            <a:r>
              <a:rPr lang="en-US" b="1" dirty="0">
                <a:solidFill>
                  <a:srgbClr val="1C1C1C"/>
                </a:solidFill>
                <a:latin typeface="Times New Roman" panose="02020603050405020304" pitchFamily="18" charset="0"/>
                <a:cs typeface="Times New Roman" panose="02020603050405020304" pitchFamily="18" charset="0"/>
              </a:rPr>
              <a:t>Implementation: </a:t>
            </a:r>
            <a:r>
              <a:rPr lang="en-US" dirty="0">
                <a:solidFill>
                  <a:srgbClr val="1C1C1C"/>
                </a:solidFill>
                <a:latin typeface="Times New Roman" panose="02020603050405020304" pitchFamily="18" charset="0"/>
                <a:cs typeface="Times New Roman" panose="02020603050405020304" pitchFamily="18" charset="0"/>
              </a:rPr>
              <a:t>Whether the design can be easily and efficiently be implemented.</a:t>
            </a:r>
            <a:endParaRPr lang="en-IN" dirty="0">
              <a:latin typeface="Times New Roman" panose="02020603050405020304" pitchFamily="18" charset="0"/>
              <a:cs typeface="Times New Roman" panose="02020603050405020304" pitchFamily="18" charset="0"/>
            </a:endParaRPr>
          </a:p>
        </p:txBody>
      </p:sp>
      <p:sp>
        <p:nvSpPr>
          <p:cNvPr id="3" name="Rectangle 2"/>
          <p:cNvSpPr/>
          <p:nvPr/>
        </p:nvSpPr>
        <p:spPr>
          <a:xfrm>
            <a:off x="2021456" y="784355"/>
            <a:ext cx="6216236" cy="523220"/>
          </a:xfrm>
          <a:prstGeom prst="rect">
            <a:avLst/>
          </a:prstGeom>
        </p:spPr>
        <p:txBody>
          <a:bodyPr wrap="square">
            <a:spAutoFit/>
          </a:bodyPr>
          <a:lstStyle/>
          <a:p>
            <a:pPr algn="ctr"/>
            <a:r>
              <a:rPr lang="en-US" sz="2800" b="1" dirty="0">
                <a:solidFill>
                  <a:srgbClr val="13294B"/>
                </a:solidFill>
                <a:latin typeface="Times New Roman" panose="02020603050405020304" pitchFamily="18" charset="0"/>
                <a:ea typeface="Cambria" pitchFamily="34" charset="-122"/>
                <a:cs typeface="Times New Roman" panose="02020603050405020304" pitchFamily="18" charset="0"/>
              </a:rPr>
              <a:t>Contd…Design review</a:t>
            </a:r>
            <a:endParaRPr lang="en-US" sz="2800" dirty="0">
              <a:latin typeface="Times New Roman" panose="02020603050405020304" pitchFamily="18" charset="0"/>
              <a:cs typeface="Times New Roman" panose="02020603050405020304" pitchFamily="18" charset="0"/>
            </a:endParaRPr>
          </a:p>
        </p:txBody>
      </p:sp>
      <p:pic>
        <p:nvPicPr>
          <p:cNvPr id="4" name="Picture 3" descr="gitam_logo.png"/>
          <p:cNvPicPr>
            <a:picLocks noChangeAspect="1"/>
          </p:cNvPicPr>
          <p:nvPr/>
        </p:nvPicPr>
        <p:blipFill>
          <a:blip r:embed="rId3"/>
          <a:stretch>
            <a:fillRect/>
          </a:stretch>
        </p:blipFill>
        <p:spPr>
          <a:xfrm>
            <a:off x="9656064" y="5683121"/>
            <a:ext cx="2377440" cy="991999"/>
          </a:xfrm>
          <a:prstGeom prst="rect">
            <a:avLst/>
          </a:prstGeom>
        </p:spPr>
      </p:pic>
    </p:spTree>
    <p:extLst>
      <p:ext uri="{BB962C8B-B14F-4D97-AF65-F5344CB8AC3E}">
        <p14:creationId xmlns:p14="http://schemas.microsoft.com/office/powerpoint/2010/main" val="2467956287"/>
      </p:ext>
    </p:extLst>
  </p:cSld>
  <p:clrMapOvr>
    <a:overrideClrMapping bg1="lt1" tx1="dk1" bg2="lt2" tx2="dk2" accent1="accent1" accent2="accent2" accent3="accent3" accent4="accent4" accent5="accent5" accent6="accent6" hlink="hlink" folHlink="folHlink"/>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
          <a:extLst>
            <a:ext uri="{FF2B5EF4-FFF2-40B4-BE49-F238E27FC236}">
              <a16:creationId xmlns:a16="http://schemas.microsoft.com/office/drawing/2014/main" id="{F2CDB8AF-AB81-B6B3-9EEB-742F8622003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31C0FBF-06D4-FC9D-3BC2-D49911724D64}"/>
              </a:ext>
            </a:extLst>
          </p:cNvPr>
          <p:cNvSpPr/>
          <p:nvPr/>
        </p:nvSpPr>
        <p:spPr>
          <a:xfrm>
            <a:off x="0" y="64008"/>
            <a:ext cx="45720" cy="6720840"/>
          </a:xfrm>
          <a:prstGeom prst="rect">
            <a:avLst/>
          </a:prstGeom>
          <a:solidFill>
            <a:srgbClr val="E0F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itam_logo.png">
            <a:extLst>
              <a:ext uri="{FF2B5EF4-FFF2-40B4-BE49-F238E27FC236}">
                <a16:creationId xmlns:a16="http://schemas.microsoft.com/office/drawing/2014/main" id="{5FA88E32-1C44-3541-C543-3AA27E8CE6DE}"/>
              </a:ext>
            </a:extLst>
          </p:cNvPr>
          <p:cNvPicPr>
            <a:picLocks noChangeAspect="1"/>
          </p:cNvPicPr>
          <p:nvPr/>
        </p:nvPicPr>
        <p:blipFill>
          <a:blip r:embed="rId3"/>
          <a:stretch>
            <a:fillRect/>
          </a:stretch>
        </p:blipFill>
        <p:spPr>
          <a:xfrm>
            <a:off x="9656064" y="5779008"/>
            <a:ext cx="2103120" cy="896112"/>
          </a:xfrm>
          <a:prstGeom prst="rect">
            <a:avLst/>
          </a:prstGeom>
        </p:spPr>
      </p:pic>
      <p:pic>
        <p:nvPicPr>
          <p:cNvPr id="8" name="Picture 7">
            <a:extLst>
              <a:ext uri="{FF2B5EF4-FFF2-40B4-BE49-F238E27FC236}">
                <a16:creationId xmlns:a16="http://schemas.microsoft.com/office/drawing/2014/main" id="{BFB387E6-258C-8259-C525-40B3114469EF}"/>
              </a:ext>
            </a:extLst>
          </p:cNvPr>
          <p:cNvPicPr>
            <a:picLocks noChangeAspect="1"/>
          </p:cNvPicPr>
          <p:nvPr/>
        </p:nvPicPr>
        <p:blipFill>
          <a:blip r:embed="rId4"/>
          <a:stretch>
            <a:fillRect/>
          </a:stretch>
        </p:blipFill>
        <p:spPr>
          <a:xfrm>
            <a:off x="767080" y="203200"/>
            <a:ext cx="8797544" cy="6146800"/>
          </a:xfrm>
          <a:prstGeom prst="rect">
            <a:avLst/>
          </a:prstGeom>
        </p:spPr>
      </p:pic>
    </p:spTree>
    <p:extLst>
      <p:ext uri="{BB962C8B-B14F-4D97-AF65-F5344CB8AC3E}">
        <p14:creationId xmlns:p14="http://schemas.microsoft.com/office/powerpoint/2010/main" val="3183745989"/>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3_Office Theme">
  <a:themeElements>
    <a:clrScheme name="Custom 77">
      <a:dk1>
        <a:srgbClr val="282828"/>
      </a:dk1>
      <a:lt1>
        <a:srgbClr val="FFFFFF"/>
      </a:lt1>
      <a:dk2>
        <a:srgbClr val="282828"/>
      </a:dk2>
      <a:lt2>
        <a:srgbClr val="FAFAFA"/>
      </a:lt2>
      <a:accent1>
        <a:srgbClr val="FFC639"/>
      </a:accent1>
      <a:accent2>
        <a:srgbClr val="F29B6B"/>
      </a:accent2>
      <a:accent3>
        <a:srgbClr val="CCD4FB"/>
      </a:accent3>
      <a:accent4>
        <a:srgbClr val="2B7158"/>
      </a:accent4>
      <a:accent5>
        <a:srgbClr val="456AB8"/>
      </a:accent5>
      <a:accent6>
        <a:srgbClr val="36383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8.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9.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0.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8.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9.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0.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8.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9.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0.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8.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9.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0.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8.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9.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60.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6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6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15418</TotalTime>
  <Words>4233</Words>
  <Application>Microsoft Macintosh PowerPoint</Application>
  <PresentationFormat>Widescreen</PresentationFormat>
  <Paragraphs>563</Paragraphs>
  <Slides>63</Slides>
  <Notes>22</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63</vt:i4>
      </vt:variant>
    </vt:vector>
  </HeadingPairs>
  <TitlesOfParts>
    <vt:vector size="78" baseType="lpstr">
      <vt:lpstr>宋体</vt:lpstr>
      <vt:lpstr>Aptos</vt:lpstr>
      <vt:lpstr>Arial</vt:lpstr>
      <vt:lpstr>Calibri</vt:lpstr>
      <vt:lpstr>Cambria</vt:lpstr>
      <vt:lpstr>Courier New</vt:lpstr>
      <vt:lpstr>Harmony OS</vt:lpstr>
      <vt:lpstr>LiberationSerif</vt:lpstr>
      <vt:lpstr>Plus Jakarta Sans</vt:lpstr>
      <vt:lpstr>STIXMathJax_Main-Bold-SC750</vt:lpstr>
      <vt:lpstr>Times New Roman</vt:lpstr>
      <vt:lpstr>Wingdings</vt:lpstr>
      <vt:lpstr>Wingdings 2</vt:lpstr>
      <vt:lpstr>Office Theme</vt:lpstr>
      <vt:lpstr>3_Office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Design Concepts</vt:lpstr>
      <vt:lpstr>1.Abstraction </vt:lpstr>
      <vt:lpstr>PowerPoint Presentation</vt:lpstr>
      <vt:lpstr>PowerPoint Presentation</vt:lpstr>
      <vt:lpstr>PowerPoint Presentation</vt:lpstr>
      <vt:lpstr>Separation of Concerns</vt:lpstr>
      <vt:lpstr>PowerPoint Presentation</vt:lpstr>
      <vt:lpstr>PowerPoint Presentation</vt:lpstr>
      <vt:lpstr>Functional independence</vt:lpstr>
      <vt:lpstr>Cohesion &amp; Coupling</vt:lpstr>
      <vt:lpstr>Cohesion vs Coupling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Design class for FloorPlan and composite aggregation for the class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Vijayabharathi Manjeti</dc:creator>
  <cp:keywords/>
  <dc:description>generated using python-pptx</dc:description>
  <cp:lastModifiedBy>Thammi</cp:lastModifiedBy>
  <cp:revision>146</cp:revision>
  <dcterms:created xsi:type="dcterms:W3CDTF">2013-01-27T09:14:16Z</dcterms:created>
  <dcterms:modified xsi:type="dcterms:W3CDTF">2026-09-01T03:19:49Z</dcterms:modified>
  <cp:category/>
</cp:coreProperties>
</file>